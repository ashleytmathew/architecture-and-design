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34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824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3200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STOP PRESS headline aloud, in character, as the room settles — like breaking news just came over the wire. Don't explain the exercise; just start reporting.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this as the opening article — full Rita Skeeter drama. This is scene-setting only; nothing here should be treated as a puzzle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CUE: Hand out Exhibit 1 — The Anonymous Verse — to every team now. Do not explain that it's a Caesar cipher or hint at the shift. Let them discover it needs decoding and figure out how.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Wait ~5 minutes here. Teams should be pasting the verse into their AI chat tool and working out what kind of cipher it is. If a team asks for a hint, tell them nothing yet — this is meant to take real back-and-forth with the AI, not a single lucky guess.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handout for this edition — it's scene-setting only. Give teams a moment to note the four names before moving on; they'll want to feed these into their AI chat as context.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CUE: Hand out Exhibit 2 — Filch's Confiscation &amp; Incident Log — to every team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Wait ~4 minutes. Teams should be cross-referencing the log against the suspects and asking their AI what the unclaimed parchment scrap might mean.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CUE: Hand out Exhibit 3 — Patrol Roster &amp; Sign-Out Sheet. This is the timeline clue — don't point out the contradiction, let a team notice the roster and the sign-out sheet don't agree.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Wait ~4 minutes. Teams should be checking the roster against the sign-out sheet and asking their AI whether the timeline holds up for each suspect.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CUE: Hand out Exhibit 4 — Hospital Wing &amp; Potions Withdrawal Ledgers. Some sharp teams may start naming a culprit after this one — that's expected and fine, don't confirm or deny.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Wait ~4 minutes. By now most teams should have a leading suspect but may not yet be fully certain — that's intentional.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CUE: Hand out Exhibit 5 — The Intercepted Letter. This is the last piece of evidence. Everything a team needs to name the culprit with full confidence — means, opportunity, motive, and matching physical evidence — is now in the room.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 working window, ~5 minutes. When time is up, go around the room and have each team state a name and their strongest piece of evidence before you reveal the closing edition. Don't confirm or deny until every team has answered.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this as the closing edition — the full reveal, in character. Once finished, drop out of character and debrief conversationally: which piece of evidence actually convinced each team, and at what point their AI conversation turned from reading to reasoning. No slide needed for this part.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AAAD6370-AA9E-9D69-B9D4-407DA3189F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152"/>
            <a:ext cx="12192000" cy="6854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hape 0"/>
          <p:cNvSpPr/>
          <p:nvPr/>
        </p:nvSpPr>
        <p:spPr>
          <a:xfrm>
            <a:off x="10149840" y="457200"/>
            <a:ext cx="914400" cy="914400"/>
          </a:xfrm>
          <a:prstGeom prst="ellipse">
            <a:avLst/>
          </a:prstGeom>
          <a:solidFill>
            <a:srgbClr val="F2EAC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14400" y="457200"/>
            <a:ext cx="45720" cy="4572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103120" y="914400"/>
            <a:ext cx="36576" cy="3657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91840" y="365760"/>
            <a:ext cx="45720" cy="4572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0" y="1188720"/>
            <a:ext cx="36576" cy="3657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577840" y="548640"/>
            <a:ext cx="45720" cy="4572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766560" y="1371600"/>
            <a:ext cx="36576" cy="3657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955280" y="320040"/>
            <a:ext cx="45720" cy="4572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052560" y="1005840"/>
            <a:ext cx="36576" cy="3657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0" y="1737360"/>
            <a:ext cx="36576" cy="3657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029200" y="2103120"/>
            <a:ext cx="36576" cy="3657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315200" y="1920240"/>
            <a:ext cx="36576" cy="3657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463040" y="2194560"/>
            <a:ext cx="36576" cy="3657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4480560" y="457200"/>
            <a:ext cx="3200400" cy="457200"/>
          </a:xfrm>
          <a:prstGeom prst="roundRect">
            <a:avLst>
              <a:gd name="adj" fmla="val 50000"/>
            </a:avLst>
          </a:prstGeom>
          <a:solidFill>
            <a:srgbClr val="6B1F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 txBox="1"/>
          <p:nvPr/>
        </p:nvSpPr>
        <p:spPr>
          <a:xfrm>
            <a:off x="4480560" y="4572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PRESS</a:t>
            </a:r>
            <a:endParaRPr lang="en-US" sz="1400" dirty="0"/>
          </a:p>
        </p:txBody>
      </p:sp>
      <p:sp>
        <p:nvSpPr>
          <p:cNvPr id="81" name="Text 79"/>
          <p:cNvSpPr txBox="1"/>
          <p:nvPr/>
        </p:nvSpPr>
        <p:spPr>
          <a:xfrm>
            <a:off x="640080" y="128016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DAILY PROPHET</a:t>
            </a:r>
            <a:endParaRPr lang="en-US" sz="5800" dirty="0"/>
          </a:p>
        </p:txBody>
      </p:sp>
      <p:sp>
        <p:nvSpPr>
          <p:cNvPr id="82" name="Text 80"/>
          <p:cNvSpPr txBox="1"/>
          <p:nvPr/>
        </p:nvSpPr>
        <p:spPr>
          <a:xfrm>
            <a:off x="640080" y="242316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CF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Wizarding World That Won’t Stop Talking</a:t>
            </a:r>
            <a:endParaRPr lang="en-US" sz="1500" dirty="0"/>
          </a:p>
        </p:txBody>
      </p:sp>
      <p:sp>
        <p:nvSpPr>
          <p:cNvPr id="83" name="Shape 81"/>
          <p:cNvSpPr/>
          <p:nvPr/>
        </p:nvSpPr>
        <p:spPr>
          <a:xfrm>
            <a:off x="4251960" y="3017520"/>
            <a:ext cx="3657600" cy="0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 txBox="1"/>
          <p:nvPr/>
        </p:nvSpPr>
        <p:spPr>
          <a:xfrm>
            <a:off x="822960" y="32461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FELIX FELICIS VANISHES FROM HOGWARTS</a:t>
            </a:r>
            <a:endParaRPr lang="en-US" sz="3200" dirty="0"/>
          </a:p>
        </p:txBody>
      </p:sp>
      <p:sp>
        <p:nvSpPr>
          <p:cNvPr id="85" name="Text 83"/>
          <p:cNvSpPr txBox="1"/>
          <p:nvPr/>
        </p:nvSpPr>
        <p:spPr>
          <a:xfrm>
            <a:off x="822960" y="4892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11:47 PM — FIRST NEWS IN</a:t>
            </a:r>
            <a:endParaRPr lang="en-US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HD PC desktop wallpaper showcasing Hogwarts Castle at night from the Harry Potter movies, with illuminated windows under a cloudy, starry sky.">
            <a:extLst>
              <a:ext uri="{FF2B5EF4-FFF2-40B4-BE49-F238E27FC236}">
                <a16:creationId xmlns:a16="http://schemas.microsoft.com/office/drawing/2014/main" id="{2CE50573-6115-ECEC-5679-49FE3D0566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240" y="-2778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hape 0"/>
          <p:cNvSpPr/>
          <p:nvPr/>
        </p:nvSpPr>
        <p:spPr>
          <a:xfrm>
            <a:off x="548640" y="329184"/>
            <a:ext cx="365760" cy="36576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65683" y="299923"/>
            <a:ext cx="365760" cy="365760"/>
          </a:xfrm>
          <a:prstGeom prst="ellipse">
            <a:avLst/>
          </a:prstGeom>
          <a:solidFill>
            <a:srgbClr val="FAF7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1078992" y="274320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DAILY PROPHET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7223760" y="38404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kern="0" spc="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EDITION — 11:52 PM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960120"/>
            <a:ext cx="11064240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  <p:txBody>
          <a:bodyPr>
            <a:scene3d>
              <a:camera prst="orthographicFront"/>
              <a:lightRig rig="threePt" dir="t"/>
            </a:scene3d>
            <a:sp3d extrusionH="57150">
              <a:bevelT w="38100" h="38100" prst="convex"/>
            </a:sp3d>
          </a:bodyPr>
          <a:lstStyle/>
          <a:p>
            <a:endParaRPr lang="en-US">
              <a:ln>
                <a:solidFill>
                  <a:schemeClr val="tx2"/>
                </a:solidFill>
              </a:ln>
              <a:solidFill>
                <a:schemeClr val="bg1"/>
              </a:solidFill>
              <a:effectLst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548640" y="11430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 prst="convex"/>
            </a:sp3d>
          </a:bodyPr>
          <a:lstStyle/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ln>
                  <a:solidFill>
                    <a:schemeClr val="bg1"/>
                  </a:solidFill>
                </a:ln>
                <a:solidFill>
                  <a:schemeClr val="accent4"/>
                </a:solidFill>
                <a:effectLst/>
                <a:latin typeface="Cambria" pitchFamily="34" charset="0"/>
                <a:ea typeface="Cambria" pitchFamily="34" charset="-122"/>
                <a:cs typeface="Cambria" pitchFamily="34" charset="-120"/>
              </a:rPr>
              <a:t>Snape’s Stores Breached on Eve of Final</a:t>
            </a:r>
            <a:endParaRPr lang="en-US" sz="4000" b="1" dirty="0">
              <a:ln>
                <a:solidFill>
                  <a:schemeClr val="bg1"/>
                </a:solidFill>
              </a:ln>
              <a:solidFill>
                <a:schemeClr val="accent4"/>
              </a:solidFill>
              <a:effectLst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548640" y="2121408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 prst="convex"/>
            </a:sp3d>
          </a:bodyPr>
          <a:lstStyle/>
          <a:p>
            <a:pPr marL="0" indent="0">
              <a:buNone/>
            </a:pPr>
            <a:r>
              <a:rPr lang="en-US" sz="1500" b="1" i="1" dirty="0">
                <a:solidFill>
                  <a:schemeClr val="bg1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By Rita Skeeter, Senior Correspondent</a:t>
            </a:r>
            <a:endParaRPr lang="en-US" sz="1500" b="1" dirty="0">
              <a:solidFill>
                <a:schemeClr val="bg1"/>
              </a:solidFill>
              <a:effectLst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3576919" y="4007224"/>
            <a:ext cx="8498540" cy="2795912"/>
          </a:xfrm>
          <a:prstGeom prst="rect">
            <a:avLst/>
          </a:prstGeom>
          <a:solidFill>
            <a:schemeClr val="tx2">
              <a:alpha val="56000"/>
            </a:schemeClr>
          </a:solidFill>
          <a:ln/>
        </p:spPr>
        <p:txBody>
          <a:bodyPr wrap="square" lIns="0" tIns="0" rIns="0" bIns="0" rtlCol="0" anchor="t"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marL="0" indent="0">
              <a:lnSpc>
                <a:spcPct val="128000"/>
              </a:lnSpc>
              <a:spcAft>
                <a:spcPts val="1800"/>
              </a:spcAft>
              <a:buNone/>
            </a:pPr>
            <a:r>
              <a:rPr lang="en-US" sz="24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vial of Felix Felicis has vanished from Snape’s private stores — sometime after eleven o’clock, hours before the Quidditch final.</a:t>
            </a:r>
            <a:endParaRPr lang="en-US" sz="2400" b="1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  <a:p>
            <a:pPr marL="0" indent="0">
              <a:lnSpc>
                <a:spcPct val="128000"/>
              </a:lnSpc>
              <a:spcAft>
                <a:spcPts val="1800"/>
              </a:spcAft>
              <a:buNone/>
            </a:pPr>
            <a:r>
              <a:rPr lang="en-US" sz="24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cabinet was opened with a simple charm. Not forced. Someone who knew the room.</a:t>
            </a:r>
            <a:endParaRPr lang="en-US" sz="2400" b="1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  <a:p>
            <a:pPr marL="0" indent="0">
              <a:lnSpc>
                <a:spcPct val="128000"/>
              </a:lnSpc>
              <a:spcAft>
                <a:spcPts val="1800"/>
              </a:spcAft>
              <a:buNone/>
            </a:pPr>
            <a:r>
              <a:rPr lang="en-US" sz="24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arrests yet. This reporter is just getting started.</a:t>
            </a:r>
            <a:endParaRPr lang="en-US" sz="2400" b="1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548640" y="652881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1  —  The Vanishing of the Felix Felicis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2" descr="4K Ultra HD PC desktop wallpaper from the video game Hogwarts Legacy: dim potion shop interior with wall-to-ceiling shelves of bottles, a counter, and a robed figure by a window.">
            <a:extLst>
              <a:ext uri="{FF2B5EF4-FFF2-40B4-BE49-F238E27FC236}">
                <a16:creationId xmlns:a16="http://schemas.microsoft.com/office/drawing/2014/main" id="{AA027BAA-0C48-0C98-6CBD-4D2C7F6B34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240" y="0"/>
            <a:ext cx="12192000" cy="6858000"/>
          </a:xfrm>
          <a:prstGeom prst="rect">
            <a:avLst/>
          </a:prstGeom>
          <a:solidFill>
            <a:schemeClr val="tx1"/>
          </a:solidFill>
        </p:spPr>
      </p:pic>
      <p:sp>
        <p:nvSpPr>
          <p:cNvPr id="2" name="Shape 0"/>
          <p:cNvSpPr/>
          <p:nvPr/>
        </p:nvSpPr>
        <p:spPr>
          <a:xfrm>
            <a:off x="548640" y="329184"/>
            <a:ext cx="365760" cy="36576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65683" y="299923"/>
            <a:ext cx="365760" cy="365760"/>
          </a:xfrm>
          <a:prstGeom prst="ellipse">
            <a:avLst/>
          </a:prstGeom>
          <a:solidFill>
            <a:srgbClr val="FAF7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1078992" y="274320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DAILY PROPHET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7223760" y="38404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kern="0" spc="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PRESS — 12:05 AM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960120"/>
            <a:ext cx="11064240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548640" y="11430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8000"/>
              </a:lnSpc>
            </a:pPr>
            <a:r>
              <a:rPr lang="en-US" sz="4000" b="1" dirty="0">
                <a:ln>
                  <a:solidFill>
                    <a:schemeClr val="tx2"/>
                  </a:solidFill>
                </a:ln>
                <a:solidFill>
                  <a:schemeClr val="accent4"/>
                </a:solidFill>
                <a:effectLst/>
                <a:latin typeface="Cambria" pitchFamily="34" charset="0"/>
              </a:rPr>
              <a:t>A Strange Delivery</a:t>
            </a:r>
          </a:p>
        </p:txBody>
      </p:sp>
      <p:sp>
        <p:nvSpPr>
          <p:cNvPr id="8" name="Shape 6"/>
          <p:cNvSpPr/>
          <p:nvPr/>
        </p:nvSpPr>
        <p:spPr>
          <a:xfrm>
            <a:off x="548640" y="2258568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48640" y="225856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1234440" y="2286000"/>
            <a:ext cx="8686800" cy="512064"/>
          </a:xfrm>
          <a:prstGeom prst="roundRect">
            <a:avLst>
              <a:gd name="adj" fmla="val 10714"/>
            </a:avLst>
          </a:prstGeom>
          <a:solidFill>
            <a:srgbClr val="6B1F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1463040" y="2286000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ENCLOSED WITH THIS EDITION — EXHIBIT 1: THE ANONYMOUS VERSE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525700" y="4548852"/>
            <a:ext cx="7087179" cy="1760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spcAft>
                <a:spcPts val="1800"/>
              </a:spcAft>
              <a:buNone/>
            </a:pPr>
            <a:r>
              <a:rPr lang="en-US" sz="22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owl rapped at the newsroom window tonight. No note, only a verse, in a hand nobody here recognises.</a:t>
            </a:r>
            <a:endParaRPr lang="en-US" sz="2200" dirty="0">
              <a:solidFill>
                <a:schemeClr val="accent4"/>
              </a:solidFill>
            </a:endParaRPr>
          </a:p>
          <a:p>
            <a:pPr marL="0" indent="0">
              <a:lnSpc>
                <a:spcPct val="128000"/>
              </a:lnSpc>
              <a:spcAft>
                <a:spcPts val="1800"/>
              </a:spcAft>
              <a:buNone/>
            </a:pPr>
            <a:r>
              <a:rPr lang="en-US" sz="22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own cryptographers are stumped. Perhaps our readers will do better.</a:t>
            </a:r>
            <a:endParaRPr lang="en-US" sz="2200" dirty="0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F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502920"/>
            <a:ext cx="1051560" cy="1051560"/>
          </a:xfrm>
          <a:prstGeom prst="ellipse">
            <a:avLst/>
          </a:prstGeom>
          <a:solidFill>
            <a:srgbClr val="F2EAC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14400" y="457200"/>
            <a:ext cx="45720" cy="4572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103120" y="914400"/>
            <a:ext cx="36576" cy="3657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91840" y="365760"/>
            <a:ext cx="45720" cy="4572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0" y="1188720"/>
            <a:ext cx="36576" cy="3657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577840" y="548640"/>
            <a:ext cx="45720" cy="4572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766560" y="1371600"/>
            <a:ext cx="36576" cy="3657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955280" y="320040"/>
            <a:ext cx="45720" cy="4572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052560" y="1005840"/>
            <a:ext cx="36576" cy="3657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0" y="1737360"/>
            <a:ext cx="36576" cy="3657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029200" y="2103120"/>
            <a:ext cx="36576" cy="3657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315200" y="1920240"/>
            <a:ext cx="36576" cy="3657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463040" y="2194560"/>
            <a:ext cx="36576" cy="3657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37160" y="6016752"/>
            <a:ext cx="457200" cy="905256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37160" y="5888736"/>
            <a:ext cx="91440" cy="14630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92608" y="5888736"/>
            <a:ext cx="91440" cy="14630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48056" y="5888736"/>
            <a:ext cx="91440" cy="14630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85800" y="6209873"/>
            <a:ext cx="274320" cy="712135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21792" y="5935553"/>
            <a:ext cx="402336" cy="292608"/>
          </a:xfrm>
          <a:prstGeom prst="triangle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051560" y="5594299"/>
            <a:ext cx="566928" cy="1327709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87552" y="5319979"/>
            <a:ext cx="694944" cy="292608"/>
          </a:xfrm>
          <a:prstGeom prst="triangle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737360" y="6137453"/>
            <a:ext cx="365760" cy="784555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737360" y="6009437"/>
            <a:ext cx="73152" cy="14630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861718" y="6009437"/>
            <a:ext cx="73152" cy="14630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986077" y="6009437"/>
            <a:ext cx="73152" cy="14630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194560" y="5413248"/>
            <a:ext cx="658368" cy="1508760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130552" y="5138928"/>
            <a:ext cx="786384" cy="292608"/>
          </a:xfrm>
          <a:prstGeom prst="triangle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962656" y="6089172"/>
            <a:ext cx="329184" cy="832836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898648" y="5814852"/>
            <a:ext cx="457200" cy="292608"/>
          </a:xfrm>
          <a:prstGeom prst="triangle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383280" y="5920191"/>
            <a:ext cx="475488" cy="1001817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383280" y="5792175"/>
            <a:ext cx="95098" cy="14630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3544946" y="5792175"/>
            <a:ext cx="95098" cy="14630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706612" y="5792175"/>
            <a:ext cx="95098" cy="14630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3950208" y="6282294"/>
            <a:ext cx="274320" cy="63971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3886200" y="6007974"/>
            <a:ext cx="402336" cy="292608"/>
          </a:xfrm>
          <a:prstGeom prst="triangle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315968" y="5751210"/>
            <a:ext cx="548640" cy="1170798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315968" y="5623194"/>
            <a:ext cx="109728" cy="14630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502506" y="5623194"/>
            <a:ext cx="109728" cy="14630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689043" y="5623194"/>
            <a:ext cx="109728" cy="14630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974336" y="6185733"/>
            <a:ext cx="310896" cy="736275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4910328" y="5911413"/>
            <a:ext cx="438912" cy="292608"/>
          </a:xfrm>
          <a:prstGeom prst="triangle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5376672" y="5992612"/>
            <a:ext cx="493776" cy="929396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5376672" y="5864596"/>
            <a:ext cx="98755" cy="14630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5544556" y="5864596"/>
            <a:ext cx="98755" cy="14630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5712440" y="5864596"/>
            <a:ext cx="98755" cy="14630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5980176" y="6258154"/>
            <a:ext cx="310896" cy="66385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5916168" y="5983834"/>
            <a:ext cx="438912" cy="292608"/>
          </a:xfrm>
          <a:prstGeom prst="triangle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6382512" y="5509809"/>
            <a:ext cx="640080" cy="1412199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6318504" y="5235489"/>
            <a:ext cx="768096" cy="292608"/>
          </a:xfrm>
          <a:prstGeom prst="triangle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7132320" y="6089172"/>
            <a:ext cx="310896" cy="832836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7068312" y="5814852"/>
            <a:ext cx="438912" cy="292608"/>
          </a:xfrm>
          <a:prstGeom prst="triangle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7534656" y="5871911"/>
            <a:ext cx="457200" cy="1050097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7534656" y="5743895"/>
            <a:ext cx="91440" cy="14630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7690104" y="5743895"/>
            <a:ext cx="91440" cy="14630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7845552" y="5743895"/>
            <a:ext cx="91440" cy="14630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8101584" y="6209873"/>
            <a:ext cx="274320" cy="712135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8037576" y="5935553"/>
            <a:ext cx="402336" cy="292608"/>
          </a:xfrm>
          <a:prstGeom prst="triangle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8485632" y="5678790"/>
            <a:ext cx="585216" cy="1243218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8485632" y="5550774"/>
            <a:ext cx="117043" cy="14630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8684605" y="5550774"/>
            <a:ext cx="117043" cy="14630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8883579" y="5550774"/>
            <a:ext cx="117043" cy="14630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9180576" y="6137453"/>
            <a:ext cx="310896" cy="784555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9116568" y="5863133"/>
            <a:ext cx="438912" cy="292608"/>
          </a:xfrm>
          <a:prstGeom prst="triangle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9582912" y="5944332"/>
            <a:ext cx="493776" cy="977676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9582912" y="5816316"/>
            <a:ext cx="98755" cy="14630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9750796" y="5816316"/>
            <a:ext cx="98755" cy="14630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9918680" y="5816316"/>
            <a:ext cx="98755" cy="14630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10186416" y="6258154"/>
            <a:ext cx="310896" cy="66385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10122408" y="5983834"/>
            <a:ext cx="438912" cy="292608"/>
          </a:xfrm>
          <a:prstGeom prst="triangle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10588752" y="6040892"/>
            <a:ext cx="438912" cy="881116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10588752" y="5912876"/>
            <a:ext cx="87782" cy="14630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10737982" y="5912876"/>
            <a:ext cx="87782" cy="14630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10887212" y="5912876"/>
            <a:ext cx="87782" cy="14630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11100816" y="5823631"/>
            <a:ext cx="566928" cy="1098377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11036808" y="5549311"/>
            <a:ext cx="694944" cy="292608"/>
          </a:xfrm>
          <a:prstGeom prst="triangle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11777472" y="6161593"/>
            <a:ext cx="292608" cy="760415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11713464" y="5887273"/>
            <a:ext cx="420624" cy="292608"/>
          </a:xfrm>
          <a:prstGeom prst="triangle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4937760" y="1051560"/>
            <a:ext cx="2286000" cy="2286000"/>
          </a:xfrm>
          <a:prstGeom prst="ellipse">
            <a:avLst/>
          </a:prstGeom>
          <a:ln w="3175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 txBox="1"/>
          <p:nvPr/>
        </p:nvSpPr>
        <p:spPr>
          <a:xfrm>
            <a:off x="4937760" y="105156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5:00</a:t>
            </a:r>
            <a:endParaRPr lang="en-US" sz="4600" dirty="0"/>
          </a:p>
        </p:txBody>
      </p:sp>
      <p:sp>
        <p:nvSpPr>
          <p:cNvPr id="81" name="Text 79"/>
          <p:cNvSpPr txBox="1"/>
          <p:nvPr/>
        </p:nvSpPr>
        <p:spPr>
          <a:xfrm>
            <a:off x="1508760" y="36118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EDITION ROLLS IN</a:t>
            </a:r>
            <a:endParaRPr lang="en-US" sz="1700" dirty="0"/>
          </a:p>
        </p:txBody>
      </p:sp>
      <p:sp>
        <p:nvSpPr>
          <p:cNvPr id="82" name="Text 80"/>
          <p:cNvSpPr txBox="1"/>
          <p:nvPr/>
        </p:nvSpPr>
        <p:spPr>
          <a:xfrm>
            <a:off x="1737360" y="41148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CF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presses wait for no one.</a:t>
            </a:r>
            <a:endParaRPr lang="en-US" sz="1500" dirty="0"/>
          </a:p>
        </p:txBody>
      </p:sp>
      <p:sp>
        <p:nvSpPr>
          <p:cNvPr id="83" name="Text 81"/>
          <p:cNvSpPr txBox="1"/>
          <p:nvPr/>
        </p:nvSpPr>
        <p:spPr>
          <a:xfrm>
            <a:off x="548640" y="652881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8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3  —  The Vanishing of the Felix Felicis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9184"/>
            <a:ext cx="365760" cy="36576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65683" y="299923"/>
            <a:ext cx="365760" cy="365760"/>
          </a:xfrm>
          <a:prstGeom prst="ellipse">
            <a:avLst/>
          </a:prstGeom>
          <a:solidFill>
            <a:srgbClr val="FAF7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1078992" y="274320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DAILY PROPHET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48640" y="960120"/>
            <a:ext cx="11064240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548640" y="11430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Names on Every Tongue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01168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Rita Skeeter, Senior Correspondent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450592"/>
            <a:ext cx="6060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breakfast, four names were already being traded like Chocolate Frog cards: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246120"/>
            <a:ext cx="6060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6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Rosalind Hex  </a:t>
            </a:r>
            <a:r>
              <a:rPr lang="en-US" sz="16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furious at Snape, absent from dinner.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904488"/>
            <a:ext cx="6060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6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Cassian Vane  </a:t>
            </a:r>
            <a:r>
              <a:rPr lang="en-US" sz="16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patrolling that very corridor that night.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562856"/>
            <a:ext cx="6060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6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Oswin Bramblewick  </a:t>
            </a:r>
            <a:r>
              <a:rPr lang="en-US" sz="16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caught out of bed, not far from the scene.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221224"/>
            <a:ext cx="6060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6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Marigold Thistlewood  </a:t>
            </a:r>
            <a:r>
              <a:rPr lang="en-US" sz="16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plays for the Cup today — says she doesn’t care who wins.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52881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4  —  The Vanishing of the Felix Felicis</a:t>
            </a:r>
            <a:endParaRPr lang="en-US" sz="1000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679B8B02-586E-81FE-498F-002FDDAF7A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5013" y="0"/>
            <a:ext cx="510698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 3"/>
          <p:cNvSpPr txBox="1"/>
          <p:nvPr/>
        </p:nvSpPr>
        <p:spPr>
          <a:xfrm>
            <a:off x="7223760" y="38404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kern="0" spc="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EDITION — 12:20 AM</a:t>
            </a:r>
            <a:endParaRPr lang="en-US" sz="13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6" name="Picture 6" descr="Argus Filch's Secret Diaries: Unlocking Hogwarts' Unseen Truths | Hogwarts  Cafe">
            <a:extLst>
              <a:ext uri="{FF2B5EF4-FFF2-40B4-BE49-F238E27FC236}">
                <a16:creationId xmlns:a16="http://schemas.microsoft.com/office/drawing/2014/main" id="{E0475D22-AEAB-BE80-BA4B-B35BF82552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hape 0"/>
          <p:cNvSpPr/>
          <p:nvPr/>
        </p:nvSpPr>
        <p:spPr>
          <a:xfrm>
            <a:off x="548640" y="329184"/>
            <a:ext cx="365760" cy="36576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65683" y="299923"/>
            <a:ext cx="365760" cy="365760"/>
          </a:xfrm>
          <a:prstGeom prst="ellipse">
            <a:avLst/>
          </a:prstGeom>
          <a:solidFill>
            <a:srgbClr val="FAF7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1078992" y="274320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DAILY PROPHET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7223760" y="38404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kern="0" spc="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EDITION — 12:45 AM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960120"/>
            <a:ext cx="11064240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548640" y="11430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Filch Found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3497057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48640" y="3497057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1234440" y="3524489"/>
            <a:ext cx="8686800" cy="512064"/>
          </a:xfrm>
          <a:prstGeom prst="roundRect">
            <a:avLst>
              <a:gd name="adj" fmla="val 10714"/>
            </a:avLst>
          </a:prstGeom>
          <a:solidFill>
            <a:srgbClr val="6B1F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1463040" y="3524489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ENCLOSED WITH THIS EDITION — EXHIBIT 2: FILCH’S CONFISCATION LOG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369002"/>
            <a:ext cx="11064240" cy="1940357"/>
          </a:xfrm>
          <a:prstGeom prst="rect">
            <a:avLst/>
          </a:prstGeom>
          <a:solidFill>
            <a:schemeClr val="tx2">
              <a:alpha val="55670"/>
            </a:schemeClr>
          </a:solidFill>
          <a:ln/>
        </p:spPr>
        <p:txBody>
          <a:bodyPr wrap="square" lIns="0" tIns="0" rIns="0" bIns="0" rtlCol="0" anchor="t"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marL="0" indent="0">
              <a:lnSpc>
                <a:spcPct val="128000"/>
              </a:lnSpc>
              <a:spcAft>
                <a:spcPts val="1800"/>
              </a:spcAft>
              <a:buNone/>
            </a:pPr>
            <a:r>
              <a:rPr lang="en-US" sz="2200" b="1" dirty="0">
                <a:ln w="6600">
                  <a:noFill/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Our caretaker logs every curiosity confiscated in this castle. The night of the theft was no exception.</a:t>
            </a:r>
            <a:endParaRPr lang="en-US" sz="2200" b="1" dirty="0">
              <a:ln w="6600">
                <a:noFill/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  <a:p>
            <a:pPr marL="0" indent="0">
              <a:lnSpc>
                <a:spcPct val="128000"/>
              </a:lnSpc>
              <a:spcAft>
                <a:spcPts val="1800"/>
              </a:spcAft>
              <a:buNone/>
            </a:pPr>
            <a:r>
              <a:rPr lang="en-US" sz="2200" b="1" dirty="0">
                <a:ln w="6600">
                  <a:noFill/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One entry stands out: a torn scrap of parchment, found on the dungeon floor. Nobody has claimed it.</a:t>
            </a:r>
            <a:endParaRPr lang="en-US" sz="2200" b="1" dirty="0">
              <a:ln w="6600">
                <a:noFill/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548640" y="652881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5  —  The Vanishing of the Felix Felicis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502920"/>
            <a:ext cx="1051560" cy="1051560"/>
          </a:xfrm>
          <a:prstGeom prst="ellipse">
            <a:avLst/>
          </a:prstGeom>
          <a:solidFill>
            <a:srgbClr val="F2EAC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14400" y="457200"/>
            <a:ext cx="45720" cy="4572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103120" y="914400"/>
            <a:ext cx="36576" cy="3657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91840" y="365760"/>
            <a:ext cx="45720" cy="4572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0" y="1188720"/>
            <a:ext cx="36576" cy="3657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577840" y="548640"/>
            <a:ext cx="45720" cy="4572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766560" y="1371600"/>
            <a:ext cx="36576" cy="3657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955280" y="320040"/>
            <a:ext cx="45720" cy="4572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052560" y="1005840"/>
            <a:ext cx="36576" cy="3657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0" y="1737360"/>
            <a:ext cx="36576" cy="3657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029200" y="2103120"/>
            <a:ext cx="36576" cy="3657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315200" y="1920240"/>
            <a:ext cx="36576" cy="3657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463040" y="2194560"/>
            <a:ext cx="36576" cy="3657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37160" y="6016752"/>
            <a:ext cx="457200" cy="905256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37160" y="5888736"/>
            <a:ext cx="91440" cy="14630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92608" y="5888736"/>
            <a:ext cx="91440" cy="14630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48056" y="5888736"/>
            <a:ext cx="91440" cy="14630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85800" y="6209873"/>
            <a:ext cx="274320" cy="712135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21792" y="5935553"/>
            <a:ext cx="402336" cy="292608"/>
          </a:xfrm>
          <a:prstGeom prst="triangle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051560" y="5594299"/>
            <a:ext cx="566928" cy="1327709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87552" y="5319979"/>
            <a:ext cx="694944" cy="292608"/>
          </a:xfrm>
          <a:prstGeom prst="triangle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737360" y="6137453"/>
            <a:ext cx="365760" cy="784555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737360" y="6009437"/>
            <a:ext cx="73152" cy="14630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861718" y="6009437"/>
            <a:ext cx="73152" cy="14630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986077" y="6009437"/>
            <a:ext cx="73152" cy="14630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194560" y="5413248"/>
            <a:ext cx="658368" cy="1508760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130552" y="5138928"/>
            <a:ext cx="786384" cy="292608"/>
          </a:xfrm>
          <a:prstGeom prst="triangle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962656" y="6089172"/>
            <a:ext cx="329184" cy="832836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898648" y="5814852"/>
            <a:ext cx="457200" cy="292608"/>
          </a:xfrm>
          <a:prstGeom prst="triangle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383280" y="5920191"/>
            <a:ext cx="475488" cy="1001817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383280" y="5792175"/>
            <a:ext cx="95098" cy="14630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3544946" y="5792175"/>
            <a:ext cx="95098" cy="14630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706612" y="5792175"/>
            <a:ext cx="95098" cy="14630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3950208" y="6282294"/>
            <a:ext cx="274320" cy="63971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3886200" y="6007974"/>
            <a:ext cx="402336" cy="292608"/>
          </a:xfrm>
          <a:prstGeom prst="triangle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315968" y="5751210"/>
            <a:ext cx="548640" cy="1170798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315968" y="5623194"/>
            <a:ext cx="109728" cy="14630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502506" y="5623194"/>
            <a:ext cx="109728" cy="14630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689043" y="5623194"/>
            <a:ext cx="109728" cy="14630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974336" y="6185733"/>
            <a:ext cx="310896" cy="736275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4910328" y="5911413"/>
            <a:ext cx="438912" cy="292608"/>
          </a:xfrm>
          <a:prstGeom prst="triangle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5376672" y="5992612"/>
            <a:ext cx="493776" cy="929396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5376672" y="5864596"/>
            <a:ext cx="98755" cy="14630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5544556" y="5864596"/>
            <a:ext cx="98755" cy="14630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5712440" y="5864596"/>
            <a:ext cx="98755" cy="14630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5980176" y="6258154"/>
            <a:ext cx="310896" cy="66385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5916168" y="5983834"/>
            <a:ext cx="438912" cy="292608"/>
          </a:xfrm>
          <a:prstGeom prst="triangle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6382512" y="5509809"/>
            <a:ext cx="640080" cy="1412199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6318504" y="5235489"/>
            <a:ext cx="768096" cy="292608"/>
          </a:xfrm>
          <a:prstGeom prst="triangle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7132320" y="6089172"/>
            <a:ext cx="310896" cy="832836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7068312" y="5814852"/>
            <a:ext cx="438912" cy="292608"/>
          </a:xfrm>
          <a:prstGeom prst="triangle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7534656" y="5871911"/>
            <a:ext cx="457200" cy="1050097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7534656" y="5743895"/>
            <a:ext cx="91440" cy="14630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7690104" y="5743895"/>
            <a:ext cx="91440" cy="14630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7845552" y="5743895"/>
            <a:ext cx="91440" cy="14630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8101584" y="6209873"/>
            <a:ext cx="274320" cy="712135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8037576" y="5935553"/>
            <a:ext cx="402336" cy="292608"/>
          </a:xfrm>
          <a:prstGeom prst="triangle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8485632" y="5678790"/>
            <a:ext cx="585216" cy="1243218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8485632" y="5550774"/>
            <a:ext cx="117043" cy="14630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8684605" y="5550774"/>
            <a:ext cx="117043" cy="14630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8883579" y="5550774"/>
            <a:ext cx="117043" cy="14630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9180576" y="6137453"/>
            <a:ext cx="310896" cy="784555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9116568" y="5863133"/>
            <a:ext cx="438912" cy="292608"/>
          </a:xfrm>
          <a:prstGeom prst="triangle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9582912" y="5944332"/>
            <a:ext cx="493776" cy="977676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9582912" y="5816316"/>
            <a:ext cx="98755" cy="14630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9750796" y="5816316"/>
            <a:ext cx="98755" cy="14630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9918680" y="5816316"/>
            <a:ext cx="98755" cy="14630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10186416" y="6258154"/>
            <a:ext cx="310896" cy="66385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10122408" y="5983834"/>
            <a:ext cx="438912" cy="292608"/>
          </a:xfrm>
          <a:prstGeom prst="triangle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10588752" y="6040892"/>
            <a:ext cx="438912" cy="881116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10588752" y="5912876"/>
            <a:ext cx="87782" cy="14630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10737982" y="5912876"/>
            <a:ext cx="87782" cy="14630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10887212" y="5912876"/>
            <a:ext cx="87782" cy="14630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11100816" y="5823631"/>
            <a:ext cx="566928" cy="1098377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11036808" y="5549311"/>
            <a:ext cx="694944" cy="292608"/>
          </a:xfrm>
          <a:prstGeom prst="triangle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11777472" y="6161593"/>
            <a:ext cx="292608" cy="760415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11713464" y="5887273"/>
            <a:ext cx="420624" cy="292608"/>
          </a:xfrm>
          <a:prstGeom prst="triangle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4937760" y="1051560"/>
            <a:ext cx="2286000" cy="2286000"/>
          </a:xfrm>
          <a:prstGeom prst="ellipse">
            <a:avLst/>
          </a:prstGeom>
          <a:ln w="3175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 txBox="1"/>
          <p:nvPr/>
        </p:nvSpPr>
        <p:spPr>
          <a:xfrm>
            <a:off x="4937760" y="105156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4:00</a:t>
            </a:r>
            <a:endParaRPr lang="en-US" sz="4600" dirty="0"/>
          </a:p>
        </p:txBody>
      </p:sp>
      <p:sp>
        <p:nvSpPr>
          <p:cNvPr id="81" name="Text 79"/>
          <p:cNvSpPr txBox="1"/>
          <p:nvPr/>
        </p:nvSpPr>
        <p:spPr>
          <a:xfrm>
            <a:off x="1508760" y="36118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EDITION ROLLS IN</a:t>
            </a:r>
            <a:endParaRPr lang="en-US" sz="1700" dirty="0"/>
          </a:p>
        </p:txBody>
      </p:sp>
      <p:sp>
        <p:nvSpPr>
          <p:cNvPr id="82" name="Text 80"/>
          <p:cNvSpPr txBox="1"/>
          <p:nvPr/>
        </p:nvSpPr>
        <p:spPr>
          <a:xfrm>
            <a:off x="548640" y="652881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8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6  —  The Vanishing of the Felix Felicis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HD PC desktop wallpaper featuring a dark, atmospheric corridor scene from the video game Hogwarts Legacy with a lone figure walking toward a glowing exit.">
            <a:extLst>
              <a:ext uri="{FF2B5EF4-FFF2-40B4-BE49-F238E27FC236}">
                <a16:creationId xmlns:a16="http://schemas.microsoft.com/office/drawing/2014/main" id="{6B692184-1D59-CC15-269A-768AB87EE9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hape 0"/>
          <p:cNvSpPr/>
          <p:nvPr/>
        </p:nvSpPr>
        <p:spPr>
          <a:xfrm>
            <a:off x="548640" y="329184"/>
            <a:ext cx="365760" cy="36576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65683" y="299923"/>
            <a:ext cx="365760" cy="365760"/>
          </a:xfrm>
          <a:prstGeom prst="ellipse">
            <a:avLst/>
          </a:prstGeom>
          <a:solidFill>
            <a:srgbClr val="FAF7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1078992" y="274320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DAILY PROPHET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7223760" y="38404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kern="0" spc="100" dirty="0">
                <a:solidFill>
                  <a:srgbClr val="6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FOURTH EDITION — 1:10 AM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960120"/>
            <a:ext cx="11064240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548640" y="11430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Walked the Dungeon Halls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2258568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48640" y="225856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1234440" y="2286000"/>
            <a:ext cx="8686800" cy="512064"/>
          </a:xfrm>
          <a:prstGeom prst="roundRect">
            <a:avLst>
              <a:gd name="adj" fmla="val 10714"/>
            </a:avLst>
          </a:prstGeom>
          <a:solidFill>
            <a:srgbClr val="6B1F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1463040" y="2286000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ENCLOSED WITH THIS EDITION — EXHIBIT 3: PATROL ROSTER &amp; SIGN-OUT SHEET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099816"/>
            <a:ext cx="4520901" cy="3209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spcAft>
                <a:spcPts val="1800"/>
              </a:spcAft>
              <a:buNone/>
            </a:pPr>
            <a:r>
              <a:rPr lang="en-US" sz="2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corridor is meant to be walked by a prefect after dark.</a:t>
            </a:r>
            <a:endParaRPr lang="en-US" sz="2200" dirty="0">
              <a:solidFill>
                <a:schemeClr val="bg1"/>
              </a:solidFill>
            </a:endParaRPr>
          </a:p>
          <a:p>
            <a:pPr marL="0" indent="0">
              <a:lnSpc>
                <a:spcPct val="128000"/>
              </a:lnSpc>
              <a:spcAft>
                <a:spcPts val="1800"/>
              </a:spcAft>
              <a:buNone/>
            </a:pPr>
            <a:r>
              <a:rPr lang="en-US" sz="2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official roster and the gate log don’t quite tell the same story.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548640" y="652881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7  —  The Vanishing of the Felix Felicis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502920"/>
            <a:ext cx="1051560" cy="1051560"/>
          </a:xfrm>
          <a:prstGeom prst="ellipse">
            <a:avLst/>
          </a:prstGeom>
          <a:solidFill>
            <a:srgbClr val="F2EAC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14400" y="457200"/>
            <a:ext cx="45720" cy="4572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103120" y="914400"/>
            <a:ext cx="36576" cy="3657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91840" y="365760"/>
            <a:ext cx="45720" cy="4572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0" y="1188720"/>
            <a:ext cx="36576" cy="3657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577840" y="548640"/>
            <a:ext cx="45720" cy="4572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766560" y="1371600"/>
            <a:ext cx="36576" cy="3657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955280" y="320040"/>
            <a:ext cx="45720" cy="4572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052560" y="1005840"/>
            <a:ext cx="36576" cy="3657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0" y="1737360"/>
            <a:ext cx="36576" cy="3657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029200" y="2103120"/>
            <a:ext cx="36576" cy="3657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315200" y="1920240"/>
            <a:ext cx="36576" cy="3657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463040" y="2194560"/>
            <a:ext cx="36576" cy="3657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37160" y="6016752"/>
            <a:ext cx="457200" cy="905256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37160" y="5888736"/>
            <a:ext cx="91440" cy="14630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92608" y="5888736"/>
            <a:ext cx="91440" cy="14630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48056" y="5888736"/>
            <a:ext cx="91440" cy="14630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85800" y="6209873"/>
            <a:ext cx="274320" cy="712135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21792" y="5935553"/>
            <a:ext cx="402336" cy="292608"/>
          </a:xfrm>
          <a:prstGeom prst="triangle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051560" y="5594299"/>
            <a:ext cx="566928" cy="1327709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87552" y="5319979"/>
            <a:ext cx="694944" cy="292608"/>
          </a:xfrm>
          <a:prstGeom prst="triangle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737360" y="6137453"/>
            <a:ext cx="365760" cy="784555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737360" y="6009437"/>
            <a:ext cx="73152" cy="14630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861718" y="6009437"/>
            <a:ext cx="73152" cy="14630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986077" y="6009437"/>
            <a:ext cx="73152" cy="14630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194560" y="5413248"/>
            <a:ext cx="658368" cy="1508760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130552" y="5138928"/>
            <a:ext cx="786384" cy="292608"/>
          </a:xfrm>
          <a:prstGeom prst="triangle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962656" y="6089172"/>
            <a:ext cx="329184" cy="832836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898648" y="5814852"/>
            <a:ext cx="457200" cy="292608"/>
          </a:xfrm>
          <a:prstGeom prst="triangle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383280" y="5920191"/>
            <a:ext cx="475488" cy="1001817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383280" y="5792175"/>
            <a:ext cx="95098" cy="14630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3544946" y="5792175"/>
            <a:ext cx="95098" cy="14630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706612" y="5792175"/>
            <a:ext cx="95098" cy="14630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3950208" y="6282294"/>
            <a:ext cx="274320" cy="63971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3886200" y="6007974"/>
            <a:ext cx="402336" cy="292608"/>
          </a:xfrm>
          <a:prstGeom prst="triangle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315968" y="5751210"/>
            <a:ext cx="548640" cy="1170798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315968" y="5623194"/>
            <a:ext cx="109728" cy="14630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502506" y="5623194"/>
            <a:ext cx="109728" cy="14630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689043" y="5623194"/>
            <a:ext cx="109728" cy="14630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974336" y="6185733"/>
            <a:ext cx="310896" cy="736275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4910328" y="5911413"/>
            <a:ext cx="438912" cy="292608"/>
          </a:xfrm>
          <a:prstGeom prst="triangle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5376672" y="5992612"/>
            <a:ext cx="493776" cy="929396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5376672" y="5864596"/>
            <a:ext cx="98755" cy="14630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5544556" y="5864596"/>
            <a:ext cx="98755" cy="14630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5712440" y="5864596"/>
            <a:ext cx="98755" cy="14630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5980176" y="6258154"/>
            <a:ext cx="310896" cy="66385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5916168" y="5983834"/>
            <a:ext cx="438912" cy="292608"/>
          </a:xfrm>
          <a:prstGeom prst="triangle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6382512" y="5509809"/>
            <a:ext cx="640080" cy="1412199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6318504" y="5235489"/>
            <a:ext cx="768096" cy="292608"/>
          </a:xfrm>
          <a:prstGeom prst="triangle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7132320" y="6089172"/>
            <a:ext cx="310896" cy="832836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7068312" y="5814852"/>
            <a:ext cx="438912" cy="292608"/>
          </a:xfrm>
          <a:prstGeom prst="triangle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7534656" y="5871911"/>
            <a:ext cx="457200" cy="1050097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7534656" y="5743895"/>
            <a:ext cx="91440" cy="14630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7690104" y="5743895"/>
            <a:ext cx="91440" cy="14630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7845552" y="5743895"/>
            <a:ext cx="91440" cy="14630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8101584" y="6209873"/>
            <a:ext cx="274320" cy="712135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8037576" y="5935553"/>
            <a:ext cx="402336" cy="292608"/>
          </a:xfrm>
          <a:prstGeom prst="triangle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8485632" y="5678790"/>
            <a:ext cx="585216" cy="1243218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8485632" y="5550774"/>
            <a:ext cx="117043" cy="14630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8684605" y="5550774"/>
            <a:ext cx="117043" cy="14630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8883579" y="5550774"/>
            <a:ext cx="117043" cy="14630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9180576" y="6137453"/>
            <a:ext cx="310896" cy="784555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9116568" y="5863133"/>
            <a:ext cx="438912" cy="292608"/>
          </a:xfrm>
          <a:prstGeom prst="triangle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9582912" y="5944332"/>
            <a:ext cx="493776" cy="977676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9582912" y="5816316"/>
            <a:ext cx="98755" cy="14630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9750796" y="5816316"/>
            <a:ext cx="98755" cy="14630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9918680" y="5816316"/>
            <a:ext cx="98755" cy="14630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10186416" y="6258154"/>
            <a:ext cx="310896" cy="66385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10122408" y="5983834"/>
            <a:ext cx="438912" cy="292608"/>
          </a:xfrm>
          <a:prstGeom prst="triangle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10588752" y="6040892"/>
            <a:ext cx="438912" cy="881116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10588752" y="5912876"/>
            <a:ext cx="87782" cy="14630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10737982" y="5912876"/>
            <a:ext cx="87782" cy="14630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10887212" y="5912876"/>
            <a:ext cx="87782" cy="14630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11100816" y="5823631"/>
            <a:ext cx="566928" cy="1098377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11036808" y="5549311"/>
            <a:ext cx="694944" cy="292608"/>
          </a:xfrm>
          <a:prstGeom prst="triangle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11777472" y="6161593"/>
            <a:ext cx="292608" cy="760415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11713464" y="5887273"/>
            <a:ext cx="420624" cy="292608"/>
          </a:xfrm>
          <a:prstGeom prst="triangle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4937760" y="1051560"/>
            <a:ext cx="2286000" cy="2286000"/>
          </a:xfrm>
          <a:prstGeom prst="ellipse">
            <a:avLst/>
          </a:prstGeom>
          <a:ln w="3175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 txBox="1"/>
          <p:nvPr/>
        </p:nvSpPr>
        <p:spPr>
          <a:xfrm>
            <a:off x="4937760" y="105156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4:00</a:t>
            </a:r>
            <a:endParaRPr lang="en-US" sz="4600" dirty="0"/>
          </a:p>
        </p:txBody>
      </p:sp>
      <p:sp>
        <p:nvSpPr>
          <p:cNvPr id="81" name="Text 79"/>
          <p:cNvSpPr txBox="1"/>
          <p:nvPr/>
        </p:nvSpPr>
        <p:spPr>
          <a:xfrm>
            <a:off x="1508760" y="36118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EDITION ROLLS IN</a:t>
            </a:r>
            <a:endParaRPr lang="en-US" sz="1700" dirty="0"/>
          </a:p>
        </p:txBody>
      </p:sp>
      <p:sp>
        <p:nvSpPr>
          <p:cNvPr id="82" name="Text 80"/>
          <p:cNvSpPr txBox="1"/>
          <p:nvPr/>
        </p:nvSpPr>
        <p:spPr>
          <a:xfrm>
            <a:off x="548640" y="652881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8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8  —  The Vanishing of the Felix Felicis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4" name="Picture 6" descr="Potions Harry Potter Wallpapers - Top Free Potions Harry Potter Backgrounds  - WallpaperAccess">
            <a:extLst>
              <a:ext uri="{FF2B5EF4-FFF2-40B4-BE49-F238E27FC236}">
                <a16:creationId xmlns:a16="http://schemas.microsoft.com/office/drawing/2014/main" id="{17BB5F6E-AD0D-293A-FCCE-C69019300E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hape 0"/>
          <p:cNvSpPr/>
          <p:nvPr/>
        </p:nvSpPr>
        <p:spPr>
          <a:xfrm>
            <a:off x="548640" y="329184"/>
            <a:ext cx="365760" cy="36576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65683" y="299923"/>
            <a:ext cx="365760" cy="365760"/>
          </a:xfrm>
          <a:prstGeom prst="ellipse">
            <a:avLst/>
          </a:prstGeom>
          <a:solidFill>
            <a:srgbClr val="FAF7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1078992" y="274320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DAILY PROPHET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7223760" y="38404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kern="0" spc="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FIFTH EDITION — 1:35 AM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960120"/>
            <a:ext cx="11064240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548640" y="11430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Healer’s Book, the Potions Shelf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1962730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48640" y="196273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1234440" y="1990162"/>
            <a:ext cx="8686800" cy="512064"/>
          </a:xfrm>
          <a:prstGeom prst="roundRect">
            <a:avLst>
              <a:gd name="adj" fmla="val 10714"/>
            </a:avLst>
          </a:prstGeom>
          <a:solidFill>
            <a:srgbClr val="6B1F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1463040" y="1990162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ENCLOSED WITH THIS EDITION — EXHIBIT 4: HOSPITAL &amp; POTIONS LEDGERS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215604" y="4905623"/>
            <a:ext cx="5663493" cy="1610924"/>
          </a:xfrm>
          <a:prstGeom prst="rect">
            <a:avLst/>
          </a:prstGeom>
          <a:solidFill>
            <a:schemeClr val="accent2">
              <a:lumMod val="50000"/>
              <a:alpha val="34204"/>
            </a:schemeClr>
          </a:solidFill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spcAft>
                <a:spcPts val="1800"/>
              </a:spcAft>
              <a:buNone/>
            </a:pPr>
            <a:r>
              <a:rPr lang="en-US" sz="2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ledgers reached this desk tonight, the Hospital Wing’s, and the potions store’s.</a:t>
            </a:r>
            <a:endParaRPr lang="en-US" sz="2200" dirty="0">
              <a:solidFill>
                <a:schemeClr val="bg1"/>
              </a:solidFill>
            </a:endParaRPr>
          </a:p>
          <a:p>
            <a:pPr marL="0" indent="0">
              <a:lnSpc>
                <a:spcPct val="128000"/>
              </a:lnSpc>
              <a:spcAft>
                <a:spcPts val="1800"/>
              </a:spcAft>
              <a:buNone/>
            </a:pPr>
            <a:r>
              <a:rPr lang="en-US" sz="2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name is cleared. Another raises questions.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548640" y="652881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9  —  The Vanishing of the Felix Felicis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502920"/>
            <a:ext cx="1051560" cy="1051560"/>
          </a:xfrm>
          <a:prstGeom prst="ellipse">
            <a:avLst/>
          </a:prstGeom>
          <a:solidFill>
            <a:srgbClr val="F2EAC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14400" y="457200"/>
            <a:ext cx="45720" cy="4572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103120" y="914400"/>
            <a:ext cx="36576" cy="3657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91840" y="365760"/>
            <a:ext cx="45720" cy="4572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0" y="1188720"/>
            <a:ext cx="36576" cy="3657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577840" y="548640"/>
            <a:ext cx="45720" cy="4572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766560" y="1371600"/>
            <a:ext cx="36576" cy="3657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955280" y="320040"/>
            <a:ext cx="45720" cy="4572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052560" y="1005840"/>
            <a:ext cx="36576" cy="3657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0" y="1737360"/>
            <a:ext cx="36576" cy="3657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029200" y="2103120"/>
            <a:ext cx="36576" cy="3657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315200" y="1920240"/>
            <a:ext cx="36576" cy="3657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463040" y="2194560"/>
            <a:ext cx="36576" cy="3657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37160" y="6016752"/>
            <a:ext cx="457200" cy="905256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37160" y="5888736"/>
            <a:ext cx="91440" cy="14630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92608" y="5888736"/>
            <a:ext cx="91440" cy="14630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48056" y="5888736"/>
            <a:ext cx="91440" cy="14630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85800" y="6209873"/>
            <a:ext cx="274320" cy="712135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21792" y="5935553"/>
            <a:ext cx="402336" cy="292608"/>
          </a:xfrm>
          <a:prstGeom prst="triangle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051560" y="5594299"/>
            <a:ext cx="566928" cy="1327709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87552" y="5319979"/>
            <a:ext cx="694944" cy="292608"/>
          </a:xfrm>
          <a:prstGeom prst="triangle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737360" y="6137453"/>
            <a:ext cx="365760" cy="784555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737360" y="6009437"/>
            <a:ext cx="73152" cy="14630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861718" y="6009437"/>
            <a:ext cx="73152" cy="14630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986077" y="6009437"/>
            <a:ext cx="73152" cy="14630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194560" y="5413248"/>
            <a:ext cx="658368" cy="1508760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130552" y="5138928"/>
            <a:ext cx="786384" cy="292608"/>
          </a:xfrm>
          <a:prstGeom prst="triangle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962656" y="6089172"/>
            <a:ext cx="329184" cy="832836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898648" y="5814852"/>
            <a:ext cx="457200" cy="292608"/>
          </a:xfrm>
          <a:prstGeom prst="triangle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383280" y="5920191"/>
            <a:ext cx="475488" cy="1001817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383280" y="5792175"/>
            <a:ext cx="95098" cy="14630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3544946" y="5792175"/>
            <a:ext cx="95098" cy="14630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706612" y="5792175"/>
            <a:ext cx="95098" cy="14630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3950208" y="6282294"/>
            <a:ext cx="274320" cy="63971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3886200" y="6007974"/>
            <a:ext cx="402336" cy="292608"/>
          </a:xfrm>
          <a:prstGeom prst="triangle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315968" y="5751210"/>
            <a:ext cx="548640" cy="1170798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315968" y="5623194"/>
            <a:ext cx="109728" cy="14630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502506" y="5623194"/>
            <a:ext cx="109728" cy="14630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689043" y="5623194"/>
            <a:ext cx="109728" cy="14630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974336" y="6185733"/>
            <a:ext cx="310896" cy="736275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4910328" y="5911413"/>
            <a:ext cx="438912" cy="292608"/>
          </a:xfrm>
          <a:prstGeom prst="triangle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5376672" y="5992612"/>
            <a:ext cx="493776" cy="929396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5376672" y="5864596"/>
            <a:ext cx="98755" cy="14630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5544556" y="5864596"/>
            <a:ext cx="98755" cy="14630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5712440" y="5864596"/>
            <a:ext cx="98755" cy="14630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5980176" y="6258154"/>
            <a:ext cx="310896" cy="66385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5916168" y="5983834"/>
            <a:ext cx="438912" cy="292608"/>
          </a:xfrm>
          <a:prstGeom prst="triangle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6382512" y="5509809"/>
            <a:ext cx="640080" cy="1412199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6318504" y="5235489"/>
            <a:ext cx="768096" cy="292608"/>
          </a:xfrm>
          <a:prstGeom prst="triangle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7132320" y="6089172"/>
            <a:ext cx="310896" cy="832836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7068312" y="5814852"/>
            <a:ext cx="438912" cy="292608"/>
          </a:xfrm>
          <a:prstGeom prst="triangle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7534656" y="5871911"/>
            <a:ext cx="457200" cy="1050097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7534656" y="5743895"/>
            <a:ext cx="91440" cy="14630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7690104" y="5743895"/>
            <a:ext cx="91440" cy="14630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7845552" y="5743895"/>
            <a:ext cx="91440" cy="14630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8101584" y="6209873"/>
            <a:ext cx="274320" cy="712135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8037576" y="5935553"/>
            <a:ext cx="402336" cy="292608"/>
          </a:xfrm>
          <a:prstGeom prst="triangle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8485632" y="5678790"/>
            <a:ext cx="585216" cy="1243218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8485632" y="5550774"/>
            <a:ext cx="117043" cy="14630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8684605" y="5550774"/>
            <a:ext cx="117043" cy="14630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8883579" y="5550774"/>
            <a:ext cx="117043" cy="14630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9180576" y="6137453"/>
            <a:ext cx="310896" cy="784555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9116568" y="5863133"/>
            <a:ext cx="438912" cy="292608"/>
          </a:xfrm>
          <a:prstGeom prst="triangle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9582912" y="5944332"/>
            <a:ext cx="493776" cy="977676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9582912" y="5816316"/>
            <a:ext cx="98755" cy="14630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9750796" y="5816316"/>
            <a:ext cx="98755" cy="14630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9918680" y="5816316"/>
            <a:ext cx="98755" cy="14630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10186416" y="6258154"/>
            <a:ext cx="310896" cy="66385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10122408" y="5983834"/>
            <a:ext cx="438912" cy="292608"/>
          </a:xfrm>
          <a:prstGeom prst="triangle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10588752" y="6040892"/>
            <a:ext cx="438912" cy="881116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10588752" y="5912876"/>
            <a:ext cx="87782" cy="14630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10737982" y="5912876"/>
            <a:ext cx="87782" cy="14630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10887212" y="5912876"/>
            <a:ext cx="87782" cy="14630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11100816" y="5823631"/>
            <a:ext cx="566928" cy="1098377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11036808" y="5549311"/>
            <a:ext cx="694944" cy="292608"/>
          </a:xfrm>
          <a:prstGeom prst="triangle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11777472" y="6161593"/>
            <a:ext cx="292608" cy="760415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11713464" y="5887273"/>
            <a:ext cx="420624" cy="292608"/>
          </a:xfrm>
          <a:prstGeom prst="triangle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4937760" y="1051560"/>
            <a:ext cx="2286000" cy="2286000"/>
          </a:xfrm>
          <a:prstGeom prst="ellipse">
            <a:avLst/>
          </a:prstGeom>
          <a:ln w="3175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 txBox="1"/>
          <p:nvPr/>
        </p:nvSpPr>
        <p:spPr>
          <a:xfrm>
            <a:off x="4937760" y="105156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4:00</a:t>
            </a:r>
            <a:endParaRPr lang="en-US" sz="4600" dirty="0"/>
          </a:p>
        </p:txBody>
      </p:sp>
      <p:sp>
        <p:nvSpPr>
          <p:cNvPr id="81" name="Text 79"/>
          <p:cNvSpPr txBox="1"/>
          <p:nvPr/>
        </p:nvSpPr>
        <p:spPr>
          <a:xfrm>
            <a:off x="1508760" y="36118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EDITION ROLLS IN</a:t>
            </a:r>
            <a:endParaRPr lang="en-US" sz="1700" dirty="0"/>
          </a:p>
        </p:txBody>
      </p:sp>
      <p:sp>
        <p:nvSpPr>
          <p:cNvPr id="82" name="Text 80"/>
          <p:cNvSpPr txBox="1"/>
          <p:nvPr/>
        </p:nvSpPr>
        <p:spPr>
          <a:xfrm>
            <a:off x="548640" y="652881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8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10  —  The Vanishing of the Felix Felicis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FF683476-97E9-0B0D-10BA-891A8356D9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35052"/>
            <a:ext cx="12192000" cy="6906228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548640" y="329184"/>
            <a:ext cx="365760" cy="36576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65683" y="299923"/>
            <a:ext cx="365760" cy="365760"/>
          </a:xfrm>
          <a:prstGeom prst="ellipse">
            <a:avLst/>
          </a:prstGeom>
          <a:solidFill>
            <a:srgbClr val="FAF7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1078992" y="274320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DAILY PROPHET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7223760" y="38404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kern="0" spc="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EDITION — 2:00 AM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960120"/>
            <a:ext cx="11064240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548640" y="11430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Letter Meant to Burn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2258568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48640" y="225856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1234440" y="2286000"/>
            <a:ext cx="8686800" cy="512064"/>
          </a:xfrm>
          <a:prstGeom prst="roundRect">
            <a:avLst>
              <a:gd name="adj" fmla="val 10714"/>
            </a:avLst>
          </a:prstGeom>
          <a:solidFill>
            <a:srgbClr val="6B1F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1463040" y="2286000"/>
            <a:ext cx="65058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ENCLOSED WITH THIS EDITION — EXHIBIT 5: THE INTERCEPTED LETTER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099816"/>
            <a:ext cx="7420292" cy="2167128"/>
          </a:xfrm>
          <a:prstGeom prst="rect">
            <a:avLst/>
          </a:prstGeom>
          <a:solidFill>
            <a:schemeClr val="accent2">
              <a:lumMod val="50000"/>
              <a:alpha val="52466"/>
            </a:schemeClr>
          </a:solidFill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spcAft>
                <a:spcPts val="1800"/>
              </a:spcAft>
              <a:buNone/>
            </a:pPr>
            <a:r>
              <a:rPr lang="en-US" sz="2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letter has reached this desk, recovered from a returned library book. Its top right corner is torn away.</a:t>
            </a:r>
            <a:endParaRPr lang="en-US" sz="2200" dirty="0">
              <a:solidFill>
                <a:schemeClr val="bg1"/>
              </a:solidFill>
            </a:endParaRPr>
          </a:p>
          <a:p>
            <a:pPr marL="0" indent="0">
              <a:lnSpc>
                <a:spcPct val="128000"/>
              </a:lnSpc>
              <a:spcAft>
                <a:spcPts val="1800"/>
              </a:spcAft>
              <a:buNone/>
            </a:pPr>
            <a:r>
              <a:rPr lang="en-US" sz="2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reporter need hardly remind readers of the unclaimed scrap Filch found that very night.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548640" y="652881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11  —  The Vanishing of the Felix Felicis</a:t>
            </a:r>
            <a:endParaRPr lang="en-US" sz="1000" dirty="0"/>
          </a:p>
        </p:txBody>
      </p:sp>
      <p:pic>
        <p:nvPicPr>
          <p:cNvPr id="8194" name="Picture 2" descr="Story pin image">
            <a:extLst>
              <a:ext uri="{FF2B5EF4-FFF2-40B4-BE49-F238E27FC236}">
                <a16:creationId xmlns:a16="http://schemas.microsoft.com/office/drawing/2014/main" id="{2E9B9C8D-C651-8983-0E9D-AF424DF094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60229" y="3099816"/>
            <a:ext cx="2372897" cy="3360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F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502920"/>
            <a:ext cx="1051560" cy="1051560"/>
          </a:xfrm>
          <a:prstGeom prst="ellipse">
            <a:avLst/>
          </a:prstGeom>
          <a:solidFill>
            <a:srgbClr val="F2EAC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14400" y="457200"/>
            <a:ext cx="45720" cy="4572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103120" y="914400"/>
            <a:ext cx="36576" cy="3657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91840" y="365760"/>
            <a:ext cx="45720" cy="4572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0" y="1188720"/>
            <a:ext cx="36576" cy="3657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577840" y="548640"/>
            <a:ext cx="45720" cy="4572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766560" y="1371600"/>
            <a:ext cx="36576" cy="3657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955280" y="320040"/>
            <a:ext cx="45720" cy="4572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052560" y="1005840"/>
            <a:ext cx="36576" cy="3657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0" y="1737360"/>
            <a:ext cx="36576" cy="3657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029200" y="2103120"/>
            <a:ext cx="36576" cy="3657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315200" y="1920240"/>
            <a:ext cx="36576" cy="3657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463040" y="2194560"/>
            <a:ext cx="36576" cy="3657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37160" y="6016752"/>
            <a:ext cx="457200" cy="905256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37160" y="5888736"/>
            <a:ext cx="91440" cy="14630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92608" y="5888736"/>
            <a:ext cx="91440" cy="14630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48056" y="5888736"/>
            <a:ext cx="91440" cy="14630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85800" y="6209873"/>
            <a:ext cx="274320" cy="712135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21792" y="5935553"/>
            <a:ext cx="402336" cy="292608"/>
          </a:xfrm>
          <a:prstGeom prst="triangle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051560" y="5594299"/>
            <a:ext cx="566928" cy="1327709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87552" y="5319979"/>
            <a:ext cx="694944" cy="292608"/>
          </a:xfrm>
          <a:prstGeom prst="triangle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737360" y="6137453"/>
            <a:ext cx="365760" cy="784555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737360" y="6009437"/>
            <a:ext cx="73152" cy="14630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861718" y="6009437"/>
            <a:ext cx="73152" cy="14630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986077" y="6009437"/>
            <a:ext cx="73152" cy="14630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194560" y="5413248"/>
            <a:ext cx="658368" cy="1508760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130552" y="5138928"/>
            <a:ext cx="786384" cy="292608"/>
          </a:xfrm>
          <a:prstGeom prst="triangle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962656" y="6089172"/>
            <a:ext cx="329184" cy="832836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898648" y="5814852"/>
            <a:ext cx="457200" cy="292608"/>
          </a:xfrm>
          <a:prstGeom prst="triangle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383280" y="5920191"/>
            <a:ext cx="475488" cy="1001817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383280" y="5792175"/>
            <a:ext cx="95098" cy="14630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3544946" y="5792175"/>
            <a:ext cx="95098" cy="14630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706612" y="5792175"/>
            <a:ext cx="95098" cy="14630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3950208" y="6282294"/>
            <a:ext cx="274320" cy="63971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3886200" y="6007974"/>
            <a:ext cx="402336" cy="292608"/>
          </a:xfrm>
          <a:prstGeom prst="triangle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315968" y="5751210"/>
            <a:ext cx="548640" cy="1170798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315968" y="5623194"/>
            <a:ext cx="109728" cy="14630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502506" y="5623194"/>
            <a:ext cx="109728" cy="14630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689043" y="5623194"/>
            <a:ext cx="109728" cy="14630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974336" y="6185733"/>
            <a:ext cx="310896" cy="736275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4910328" y="5911413"/>
            <a:ext cx="438912" cy="292608"/>
          </a:xfrm>
          <a:prstGeom prst="triangle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5376672" y="5992612"/>
            <a:ext cx="493776" cy="929396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5376672" y="5864596"/>
            <a:ext cx="98755" cy="14630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5544556" y="5864596"/>
            <a:ext cx="98755" cy="14630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5712440" y="5864596"/>
            <a:ext cx="98755" cy="14630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5980176" y="6258154"/>
            <a:ext cx="310896" cy="66385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5916168" y="5983834"/>
            <a:ext cx="438912" cy="292608"/>
          </a:xfrm>
          <a:prstGeom prst="triangle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6382512" y="5509809"/>
            <a:ext cx="640080" cy="1412199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6318504" y="5235489"/>
            <a:ext cx="768096" cy="292608"/>
          </a:xfrm>
          <a:prstGeom prst="triangle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7132320" y="6089172"/>
            <a:ext cx="310896" cy="832836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7068312" y="5814852"/>
            <a:ext cx="438912" cy="292608"/>
          </a:xfrm>
          <a:prstGeom prst="triangle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7534656" y="5871911"/>
            <a:ext cx="457200" cy="1050097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7534656" y="5743895"/>
            <a:ext cx="91440" cy="14630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7690104" y="5743895"/>
            <a:ext cx="91440" cy="14630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7845552" y="5743895"/>
            <a:ext cx="91440" cy="14630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8101584" y="6209873"/>
            <a:ext cx="274320" cy="712135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8037576" y="5935553"/>
            <a:ext cx="402336" cy="292608"/>
          </a:xfrm>
          <a:prstGeom prst="triangle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8485632" y="5678790"/>
            <a:ext cx="585216" cy="1243218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8485632" y="5550774"/>
            <a:ext cx="117043" cy="14630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8684605" y="5550774"/>
            <a:ext cx="117043" cy="14630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8883579" y="5550774"/>
            <a:ext cx="117043" cy="14630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9180576" y="6137453"/>
            <a:ext cx="310896" cy="784555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9116568" y="5863133"/>
            <a:ext cx="438912" cy="292608"/>
          </a:xfrm>
          <a:prstGeom prst="triangle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9582912" y="5944332"/>
            <a:ext cx="493776" cy="977676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9582912" y="5816316"/>
            <a:ext cx="98755" cy="14630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9750796" y="5816316"/>
            <a:ext cx="98755" cy="14630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9918680" y="5816316"/>
            <a:ext cx="98755" cy="14630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10186416" y="6258154"/>
            <a:ext cx="310896" cy="66385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10122408" y="5983834"/>
            <a:ext cx="438912" cy="292608"/>
          </a:xfrm>
          <a:prstGeom prst="triangle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10588752" y="6040892"/>
            <a:ext cx="438912" cy="881116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10588752" y="5912876"/>
            <a:ext cx="87782" cy="14630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10737982" y="5912876"/>
            <a:ext cx="87782" cy="14630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10887212" y="5912876"/>
            <a:ext cx="87782" cy="146304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11100816" y="5823631"/>
            <a:ext cx="566928" cy="1098377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11036808" y="5549311"/>
            <a:ext cx="694944" cy="292608"/>
          </a:xfrm>
          <a:prstGeom prst="triangle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11777472" y="6161593"/>
            <a:ext cx="292608" cy="760415"/>
          </a:xfrm>
          <a:prstGeom prst="rect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11713464" y="5887273"/>
            <a:ext cx="420624" cy="292608"/>
          </a:xfrm>
          <a:prstGeom prst="triangle">
            <a:avLst/>
          </a:prstGeom>
          <a:solidFill>
            <a:srgbClr val="1411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4937760" y="1051560"/>
            <a:ext cx="2286000" cy="2286000"/>
          </a:xfrm>
          <a:prstGeom prst="ellipse">
            <a:avLst/>
          </a:prstGeom>
          <a:ln w="3175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 txBox="1"/>
          <p:nvPr/>
        </p:nvSpPr>
        <p:spPr>
          <a:xfrm>
            <a:off x="4937760" y="105156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5:00</a:t>
            </a:r>
            <a:endParaRPr lang="en-US" sz="4600" dirty="0"/>
          </a:p>
        </p:txBody>
      </p:sp>
      <p:sp>
        <p:nvSpPr>
          <p:cNvPr id="81" name="Text 79"/>
          <p:cNvSpPr txBox="1"/>
          <p:nvPr/>
        </p:nvSpPr>
        <p:spPr>
          <a:xfrm>
            <a:off x="1508760" y="36118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EDITION ROLLS IN</a:t>
            </a:r>
            <a:endParaRPr lang="en-US" sz="1700" dirty="0"/>
          </a:p>
        </p:txBody>
      </p:sp>
      <p:sp>
        <p:nvSpPr>
          <p:cNvPr id="82" name="Text 80"/>
          <p:cNvSpPr txBox="1"/>
          <p:nvPr/>
        </p:nvSpPr>
        <p:spPr>
          <a:xfrm>
            <a:off x="1737360" y="41148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CF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your culprit — and the evidence that proves it.</a:t>
            </a:r>
            <a:endParaRPr lang="en-US" sz="1500" dirty="0"/>
          </a:p>
        </p:txBody>
      </p:sp>
      <p:sp>
        <p:nvSpPr>
          <p:cNvPr id="83" name="Text 81"/>
          <p:cNvSpPr txBox="1"/>
          <p:nvPr/>
        </p:nvSpPr>
        <p:spPr>
          <a:xfrm>
            <a:off x="548640" y="652881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8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12  —  The Vanishing of the Felix Felicis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>
            <a:extLst>
              <a:ext uri="{FF2B5EF4-FFF2-40B4-BE49-F238E27FC236}">
                <a16:creationId xmlns:a16="http://schemas.microsoft.com/office/drawing/2014/main" id="{E9BE4B4D-0153-FE42-8D2D-67C6B3A880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152"/>
            <a:ext cx="12192000" cy="6854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hape 0"/>
          <p:cNvSpPr/>
          <p:nvPr/>
        </p:nvSpPr>
        <p:spPr>
          <a:xfrm>
            <a:off x="548640" y="329184"/>
            <a:ext cx="365760" cy="36576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65683" y="299923"/>
            <a:ext cx="365760" cy="365760"/>
          </a:xfrm>
          <a:prstGeom prst="ellipse">
            <a:avLst/>
          </a:prstGeom>
          <a:solidFill>
            <a:srgbClr val="FAF7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1078992" y="274320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DAILY PROPHET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7223760" y="38404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kern="0" spc="100" dirty="0">
                <a:solidFill>
                  <a:srgbClr val="6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FINAL — 5:58 AM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960120"/>
            <a:ext cx="11064240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548640" y="11430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Thistlewood Taken In for Questioning</a:t>
            </a:r>
            <a:endParaRPr lang="en-US" sz="4000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548640" y="2121408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Rita Skeeter, Senior Correspondent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548640" y="2864226"/>
            <a:ext cx="11225707" cy="3575350"/>
          </a:xfrm>
          <a:prstGeom prst="rect">
            <a:avLst/>
          </a:prstGeom>
          <a:solidFill>
            <a:schemeClr val="tx2">
              <a:alpha val="70000"/>
            </a:schemeClr>
          </a:solidFill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spcAft>
                <a:spcPts val="1800"/>
              </a:spcAft>
              <a:buNone/>
            </a:pPr>
            <a:r>
              <a:rPr lang="en-US" sz="2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Marigold Thistlewood was taken in before dawn. An empty vial was found in her trunk.</a:t>
            </a:r>
            <a:endParaRPr lang="en-US" sz="2200" dirty="0">
              <a:solidFill>
                <a:schemeClr val="bg1"/>
              </a:solidFill>
            </a:endParaRPr>
          </a:p>
          <a:p>
            <a:pPr marL="0" indent="0">
              <a:lnSpc>
                <a:spcPct val="128000"/>
              </a:lnSpc>
              <a:spcAft>
                <a:spcPts val="1800"/>
              </a:spcAft>
              <a:buNone/>
            </a:pPr>
            <a:r>
              <a:rPr lang="en-US" sz="2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Ingredients withdrawn under a reason that never held up. A corridor left unwatched from 10:47 that night. A letter, half in code, confessing a need for luck that had nothing to do with a House Cup. And a torn corner that fit exactly.</a:t>
            </a:r>
            <a:endParaRPr lang="en-US" sz="2200" dirty="0">
              <a:solidFill>
                <a:schemeClr val="bg1"/>
              </a:solidFill>
            </a:endParaRPr>
          </a:p>
          <a:p>
            <a:pPr marL="0" indent="0">
              <a:lnSpc>
                <a:spcPct val="128000"/>
              </a:lnSpc>
              <a:spcAft>
                <a:spcPts val="1800"/>
              </a:spcAft>
              <a:buNone/>
            </a:pPr>
            <a:r>
              <a:rPr lang="en-US" sz="2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presses, at last, can rest.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548640" y="652881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13  —  The Vanishing of the Felix Felicis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1257</Words>
  <Application>Microsoft Macintosh PowerPoint</Application>
  <PresentationFormat>Widescreen</PresentationFormat>
  <Paragraphs>115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Ashley Mathew</cp:lastModifiedBy>
  <cp:revision>36</cp:revision>
  <dcterms:created xsi:type="dcterms:W3CDTF">2026-08-31T21:15:06Z</dcterms:created>
  <dcterms:modified xsi:type="dcterms:W3CDTF">2026-08-31T23:07:16Z</dcterms:modified>
</cp:coreProperties>
</file>