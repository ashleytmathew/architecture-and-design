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3"/>
    <p:restoredTop sz="94610"/>
  </p:normalViewPr>
  <p:slideViewPr>
    <p:cSldViewPr snapToGrid="0" snapToObjects="1">
      <p:cViewPr>
        <p:scale>
          <a:sx n="77" d="100"/>
          <a:sy n="77" d="100"/>
        </p:scale>
        <p:origin x="632"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025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minutes. Two decisions to leave with: endorse the scope position, and approve the three proposed solutions.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ask. Everything after this slide is evidence for these two decisions. If we defer, storage cost compounds monthly and the cleanup grows harder with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what we keep investing in. The right column is what we stop building. Every gap and every solution after this slide is an application of that one test. Deleting a blob marks the expiry of an AI transaction, not the loss of a document.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Sixty seconds on this slide. Left of the line is everything we built and maintain — three of the five gaps sit there. Right of the line is what Microsoft provides: Azure AI Foundry, Azure Blob Storage and Microsoft 365. The two gaps on that side are not platform limitations — they are settings we never configured. Detail is on the slide if anyone wants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findings, but only three problems: we maintain things twice, nothing ever expires, and one hop exists that need not. Gap 5 resolution is still TBD — Azure AI Search is provisioned by Search Units, so cost scales with index size.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Helpdesk tickets this removes: 'Why did Ashley lose access to his team docs?', 'I do not see my projects or teams listed', 'My project shows documents that are not part of it', 'I removed a team member and got a DB error', 'I added Bill to the team but he cannot see it'. Estimated 100+ hours a year of helpdesk and 100+ hours a year of testing effort.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 SharePoint document is copied into Blob before it can be indexed, so the same file exists in two stores and picks up a second retention obligation. Indexing SharePoint directly removes the copy, the hop and the reconciliation between the two stores.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interval matches Azure's minimum retention for that tier, so the policy incurs no early-deletion charges. The 330-day total is the single retention number to explain, govern and audit.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for the live calculator. Variables: ingestion volume, average file size, growth rate, retention assumption per tier. Figures to be filled in before the session.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two columns as the current-state slide, so compare them box for box. Read the legend first: green is an improvement a solution delivered, struck grey is code and data we no longer own. Runtime is nearly unchanged except for ingestion worker 2, which reads SharePoint directly — that is what kills the migration hop and the duplicate copy in Blob. The second column is the important one: it was custom functions and data we keep, and it is now orchestration screens only. The screens the user sees all survive, but the codebases and databases behind team spaces and shared documents are struck out. SharePoint interface is deliberately untouched: it is configuration only, it stores nothing, and it was already in its ideal state. Gap 5, AI Search vector storage, is the one item still open.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Sequencing, not scoring — all three are approved together, this is the order we start them in. Priority 1 is the only one with a closing window: every week users keep building teams and projects in the parallel system, the migration to MS Teams gets more expensive and more disruptive, and at some point it stops being viable at all. Priority 2 is the largest return for the effort but it is reversible — the migrate path can be reworked into an index path later with nothing lost. Priority 3 pays out over years rather than months, so it can follow.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once, then point at the five flagged areas. Everything after this slide addresses one of them.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06F50-79EB-5E37-F246-737D17351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91832C-A2F6-7E0B-DCB5-0D6193FAEA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284FC5-2AD9-048D-0EDE-60BE178EEF0A}"/>
              </a:ext>
            </a:extLst>
          </p:cNvPr>
          <p:cNvSpPr>
            <a:spLocks noGrp="1"/>
          </p:cNvSpPr>
          <p:nvPr>
            <p:ph type="body" idx="1"/>
          </p:nvPr>
        </p:nvSpPr>
        <p:spPr/>
        <p:txBody>
          <a:bodyPr/>
          <a:lstStyle/>
          <a:p>
            <a:r>
              <a:rPr lang="en-US" dirty="0"/>
              <a:t>Walk the diagram once, then point at the five flagged areas. Everything after this slide addresses one of them.</a:t>
            </a:r>
          </a:p>
        </p:txBody>
      </p:sp>
      <p:sp>
        <p:nvSpPr>
          <p:cNvPr id="4" name="Slide Number Placeholder 3">
            <a:extLst>
              <a:ext uri="{FF2B5EF4-FFF2-40B4-BE49-F238E27FC236}">
                <a16:creationId xmlns:a16="http://schemas.microsoft.com/office/drawing/2014/main" id="{3EDECF26-54FE-CC2F-CB2D-D3F47157EB6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371618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svg"/><Relationship Id="rId26" Type="http://schemas.openxmlformats.org/officeDocument/2006/relationships/image" Target="../media/image24.sv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notesSlide" Target="../notesSlides/notesSlide12.xml"/><Relationship Id="rId16" Type="http://schemas.openxmlformats.org/officeDocument/2006/relationships/image" Target="../media/image14.svg"/><Relationship Id="rId20" Type="http://schemas.openxmlformats.org/officeDocument/2006/relationships/image" Target="../media/image18.svg"/><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22.sv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sv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0.svg"/><Relationship Id="rId27"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8.svg"/><Relationship Id="rId26" Type="http://schemas.openxmlformats.org/officeDocument/2006/relationships/image" Target="../media/image26.svg"/><Relationship Id="rId3" Type="http://schemas.openxmlformats.org/officeDocument/2006/relationships/image" Target="../media/image1.png"/><Relationship Id="rId21" Type="http://schemas.openxmlformats.org/officeDocument/2006/relationships/image" Target="../media/image21.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7.png"/><Relationship Id="rId25" Type="http://schemas.openxmlformats.org/officeDocument/2006/relationships/image" Target="../media/image25.png"/><Relationship Id="rId2" Type="http://schemas.openxmlformats.org/officeDocument/2006/relationships/notesSlide" Target="../notesSlides/notesSlide13.xml"/><Relationship Id="rId16" Type="http://schemas.openxmlformats.org/officeDocument/2006/relationships/image" Target="../media/image14.svg"/><Relationship Id="rId20" Type="http://schemas.openxmlformats.org/officeDocument/2006/relationships/image" Target="../media/image20.svg"/><Relationship Id="rId29"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png"/><Relationship Id="rId24" Type="http://schemas.openxmlformats.org/officeDocument/2006/relationships/image" Target="../media/image24.sv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3.png"/><Relationship Id="rId28" Type="http://schemas.openxmlformats.org/officeDocument/2006/relationships/image" Target="../media/image28.svg"/><Relationship Id="rId10" Type="http://schemas.openxmlformats.org/officeDocument/2006/relationships/image" Target="../media/image8.svg"/><Relationship Id="rId19" Type="http://schemas.openxmlformats.org/officeDocument/2006/relationships/image" Target="../media/image19.pn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 Id="rId22" Type="http://schemas.openxmlformats.org/officeDocument/2006/relationships/image" Target="../media/image22.svg"/><Relationship Id="rId27" Type="http://schemas.openxmlformats.org/officeDocument/2006/relationships/image" Target="../media/image27.png"/><Relationship Id="rId30"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D3D"/>
        </a:solidFill>
        <a:effectLst/>
      </p:bgPr>
    </p:bg>
    <p:spTree>
      <p:nvGrpSpPr>
        <p:cNvPr id="1" name=""/>
        <p:cNvGrpSpPr/>
        <p:nvPr/>
      </p:nvGrpSpPr>
      <p:grpSpPr>
        <a:xfrm>
          <a:off x="0" y="0"/>
          <a:ext cx="0" cy="0"/>
          <a:chOff x="0" y="0"/>
          <a:chExt cx="0" cy="0"/>
        </a:xfrm>
      </p:grpSpPr>
      <p:sp>
        <p:nvSpPr>
          <p:cNvPr id="2" name="Text 0"/>
          <p:cNvSpPr/>
          <p:nvPr/>
        </p:nvSpPr>
        <p:spPr>
          <a:xfrm>
            <a:off x="952453" y="914344"/>
            <a:ext cx="18021359" cy="421975"/>
          </a:xfrm>
          <a:prstGeom prst="rect">
            <a:avLst/>
          </a:prstGeom>
          <a:noFill/>
          <a:ln/>
        </p:spPr>
        <p:txBody>
          <a:bodyPr wrap="square" lIns="25400" tIns="25400" rIns="25400" bIns="25400" rtlCol="0" anchor="t">
            <a:normAutofit/>
          </a:bodyPr>
          <a:lstStyle/>
          <a:p>
            <a:pPr marL="0" indent="0" algn="l">
              <a:lnSpc>
                <a:spcPct val="133777"/>
              </a:lnSpc>
              <a:buNone/>
            </a:pPr>
            <a:r>
              <a:rPr lang="en-US" sz="1950" kern="0" spc="351" dirty="0">
                <a:solidFill>
                  <a:srgbClr val="B5D9FD"/>
                </a:solidFill>
                <a:latin typeface="Arial" pitchFamily="34" charset="0"/>
                <a:ea typeface="Arial" pitchFamily="34" charset="-122"/>
                <a:cs typeface="Arial" pitchFamily="34" charset="-120"/>
              </a:rPr>
              <a:t>AI CHAT APP · AUGUST 2026</a:t>
            </a:r>
            <a:endParaRPr lang="en-US" sz="1950" dirty="0"/>
          </a:p>
        </p:txBody>
      </p:sp>
      <p:sp>
        <p:nvSpPr>
          <p:cNvPr id="3" name="Text 1"/>
          <p:cNvSpPr/>
          <p:nvPr/>
        </p:nvSpPr>
        <p:spPr>
          <a:xfrm>
            <a:off x="952453" y="1564913"/>
            <a:ext cx="15716214" cy="970785"/>
          </a:xfrm>
          <a:prstGeom prst="rect">
            <a:avLst/>
          </a:prstGeom>
          <a:noFill/>
          <a:ln/>
        </p:spPr>
        <p:txBody>
          <a:bodyPr wrap="square" lIns="25400" tIns="25400" rIns="25400" bIns="25400" rtlCol="0" anchor="t">
            <a:normAutofit lnSpcReduction="10000"/>
          </a:bodyPr>
          <a:lstStyle/>
          <a:p>
            <a:pPr marL="0" indent="0" algn="l">
              <a:lnSpc>
                <a:spcPct val="88650"/>
              </a:lnSpc>
              <a:buNone/>
            </a:pPr>
            <a:r>
              <a:rPr lang="en-US" sz="7200" dirty="0">
                <a:solidFill>
                  <a:srgbClr val="F2F2F3"/>
                </a:solidFill>
                <a:latin typeface="Arial" pitchFamily="34" charset="0"/>
                <a:ea typeface="Arial" pitchFamily="34" charset="-122"/>
                <a:cs typeface="Arial" pitchFamily="34" charset="-120"/>
              </a:rPr>
              <a:t>Architecture Review Series — Part 1</a:t>
            </a:r>
            <a:endParaRPr lang="en-US" sz="7200" dirty="0"/>
          </a:p>
        </p:txBody>
      </p:sp>
      <p:sp>
        <p:nvSpPr>
          <p:cNvPr id="4" name="Shape 2"/>
          <p:cNvSpPr/>
          <p:nvPr/>
        </p:nvSpPr>
        <p:spPr>
          <a:xfrm>
            <a:off x="952453" y="2954770"/>
            <a:ext cx="1904973" cy="38041"/>
          </a:xfrm>
          <a:prstGeom prst="rect">
            <a:avLst/>
          </a:prstGeom>
          <a:solidFill>
            <a:srgbClr val="5980A6"/>
          </a:solidFill>
          <a:ln/>
        </p:spPr>
        <p:txBody>
          <a:bodyPr/>
          <a:lstStyle/>
          <a:p>
            <a:endParaRPr lang="en-US"/>
          </a:p>
        </p:txBody>
      </p:sp>
      <p:sp>
        <p:nvSpPr>
          <p:cNvPr id="5" name="Text 3"/>
          <p:cNvSpPr/>
          <p:nvPr/>
        </p:nvSpPr>
        <p:spPr>
          <a:xfrm>
            <a:off x="952453" y="3373765"/>
            <a:ext cx="11576683" cy="944700"/>
          </a:xfrm>
          <a:prstGeom prst="rect">
            <a:avLst/>
          </a:prstGeom>
          <a:noFill/>
          <a:ln/>
        </p:spPr>
        <p:txBody>
          <a:bodyPr wrap="square" lIns="25400" tIns="25400" rIns="25400" bIns="25400" rtlCol="0" anchor="t">
            <a:normAutofit lnSpcReduction="10000"/>
          </a:bodyPr>
          <a:lstStyle/>
          <a:p>
            <a:pPr marL="0" indent="0" algn="l">
              <a:lnSpc>
                <a:spcPct val="122690"/>
              </a:lnSpc>
              <a:buNone/>
            </a:pPr>
            <a:r>
              <a:rPr lang="en-US" sz="2550" dirty="0">
                <a:solidFill>
                  <a:srgbClr val="D6EBFF"/>
                </a:solidFill>
                <a:latin typeface="Arial" pitchFamily="34" charset="0"/>
                <a:ea typeface="Arial" pitchFamily="34" charset="-122"/>
                <a:cs typeface="Arial" pitchFamily="34" charset="-120"/>
              </a:rPr>
              <a:t>Three solutions that remove custom code and retention obligations. Reducing ownership while retaining capability.</a:t>
            </a:r>
            <a:endParaRPr lang="en-US" sz="2550" dirty="0"/>
          </a:p>
        </p:txBody>
      </p:sp>
      <p:sp>
        <p:nvSpPr>
          <p:cNvPr id="6" name="Text 4"/>
          <p:cNvSpPr/>
          <p:nvPr/>
        </p:nvSpPr>
        <p:spPr>
          <a:xfrm>
            <a:off x="952453" y="7951597"/>
            <a:ext cx="1089382" cy="1028730"/>
          </a:xfrm>
          <a:prstGeom prst="rect">
            <a:avLst/>
          </a:prstGeom>
          <a:noFill/>
          <a:ln/>
        </p:spPr>
        <p:txBody>
          <a:bodyPr wrap="square" lIns="25400" tIns="25400" rIns="25400" bIns="25400" rtlCol="0" anchor="t">
            <a:normAutofit lnSpcReduction="10000"/>
          </a:bodyPr>
          <a:lstStyle/>
          <a:p>
            <a:pPr marL="0" indent="0" algn="l">
              <a:lnSpc>
                <a:spcPct val="87300"/>
              </a:lnSpc>
              <a:buNone/>
            </a:pPr>
            <a:r>
              <a:rPr lang="en-US" sz="7800" dirty="0">
                <a:solidFill>
                  <a:srgbClr val="F2F2F3"/>
                </a:solidFill>
                <a:latin typeface="Arial" pitchFamily="34" charset="0"/>
                <a:ea typeface="Arial" pitchFamily="34" charset="-122"/>
                <a:cs typeface="Arial" pitchFamily="34" charset="-120"/>
              </a:rPr>
              <a:t>5</a:t>
            </a:r>
            <a:endParaRPr lang="en-US" sz="7800" dirty="0"/>
          </a:p>
        </p:txBody>
      </p:sp>
      <p:sp>
        <p:nvSpPr>
          <p:cNvPr id="7" name="Text 5"/>
          <p:cNvSpPr/>
          <p:nvPr/>
        </p:nvSpPr>
        <p:spPr>
          <a:xfrm>
            <a:off x="952453" y="9018376"/>
            <a:ext cx="1089382" cy="392357"/>
          </a:xfrm>
          <a:prstGeom prst="rect">
            <a:avLst/>
          </a:prstGeom>
          <a:noFill/>
          <a:ln/>
        </p:spPr>
        <p:txBody>
          <a:bodyPr wrap="square" lIns="25400" tIns="25400" rIns="25400" bIns="25400" rtlCol="0" anchor="t">
            <a:normAutofit fontScale="62500" lnSpcReduction="20000"/>
          </a:bodyPr>
          <a:lstStyle/>
          <a:p>
            <a:pPr marL="0" indent="0" algn="l">
              <a:lnSpc>
                <a:spcPct val="133608"/>
              </a:lnSpc>
              <a:buNone/>
            </a:pPr>
            <a:r>
              <a:rPr lang="en-US" sz="1800" kern="0" spc="288" dirty="0">
                <a:solidFill>
                  <a:srgbClr val="B5D9FD"/>
                </a:solidFill>
                <a:latin typeface="Arial" pitchFamily="34" charset="0"/>
                <a:ea typeface="Arial" pitchFamily="34" charset="-122"/>
                <a:cs typeface="Arial" pitchFamily="34" charset="-120"/>
              </a:rPr>
              <a:t>FINDINGS</a:t>
            </a:r>
            <a:endParaRPr lang="en-US" sz="1800" dirty="0"/>
          </a:p>
        </p:txBody>
      </p:sp>
      <p:sp>
        <p:nvSpPr>
          <p:cNvPr id="8" name="Text 6"/>
          <p:cNvSpPr/>
          <p:nvPr/>
        </p:nvSpPr>
        <p:spPr>
          <a:xfrm>
            <a:off x="2879979" y="7951597"/>
            <a:ext cx="1261926" cy="1028730"/>
          </a:xfrm>
          <a:prstGeom prst="rect">
            <a:avLst/>
          </a:prstGeom>
          <a:noFill/>
          <a:ln/>
        </p:spPr>
        <p:txBody>
          <a:bodyPr wrap="square" lIns="25400" tIns="25400" rIns="25400" bIns="25400" rtlCol="0" anchor="t">
            <a:normAutofit lnSpcReduction="10000"/>
          </a:bodyPr>
          <a:lstStyle/>
          <a:p>
            <a:pPr marL="0" indent="0" algn="l">
              <a:lnSpc>
                <a:spcPct val="87300"/>
              </a:lnSpc>
              <a:buNone/>
            </a:pPr>
            <a:r>
              <a:rPr lang="en-US" sz="7800" dirty="0">
                <a:solidFill>
                  <a:srgbClr val="F2F2F3"/>
                </a:solidFill>
                <a:latin typeface="Arial" pitchFamily="34" charset="0"/>
                <a:ea typeface="Arial" pitchFamily="34" charset="-122"/>
                <a:cs typeface="Arial" pitchFamily="34" charset="-120"/>
              </a:rPr>
              <a:t>3</a:t>
            </a:r>
            <a:endParaRPr lang="en-US" sz="7800" dirty="0"/>
          </a:p>
        </p:txBody>
      </p:sp>
      <p:sp>
        <p:nvSpPr>
          <p:cNvPr id="9" name="Text 7"/>
          <p:cNvSpPr/>
          <p:nvPr/>
        </p:nvSpPr>
        <p:spPr>
          <a:xfrm>
            <a:off x="2879979" y="9018376"/>
            <a:ext cx="1261926" cy="392357"/>
          </a:xfrm>
          <a:prstGeom prst="rect">
            <a:avLst/>
          </a:prstGeom>
          <a:noFill/>
          <a:ln/>
        </p:spPr>
        <p:txBody>
          <a:bodyPr wrap="square" lIns="25400" tIns="25400" rIns="25400" bIns="25400" rtlCol="0" anchor="t">
            <a:normAutofit fontScale="62500" lnSpcReduction="20000"/>
          </a:bodyPr>
          <a:lstStyle/>
          <a:p>
            <a:pPr marL="0" indent="0" algn="l">
              <a:lnSpc>
                <a:spcPct val="133608"/>
              </a:lnSpc>
              <a:buNone/>
            </a:pPr>
            <a:r>
              <a:rPr lang="en-US" sz="1800" kern="0" spc="288" dirty="0">
                <a:solidFill>
                  <a:srgbClr val="B5D9FD"/>
                </a:solidFill>
                <a:latin typeface="Arial" pitchFamily="34" charset="0"/>
                <a:ea typeface="Arial" pitchFamily="34" charset="-122"/>
                <a:cs typeface="Arial" pitchFamily="34" charset="-120"/>
              </a:rPr>
              <a:t>SOLUTIONS</a:t>
            </a:r>
            <a:endParaRPr lang="en-US" sz="1800" dirty="0"/>
          </a:p>
        </p:txBody>
      </p:sp>
      <p:sp>
        <p:nvSpPr>
          <p:cNvPr id="10" name="Text 8"/>
          <p:cNvSpPr/>
          <p:nvPr/>
        </p:nvSpPr>
        <p:spPr>
          <a:xfrm>
            <a:off x="4980048" y="7951597"/>
            <a:ext cx="1215529" cy="1028730"/>
          </a:xfrm>
          <a:prstGeom prst="rect">
            <a:avLst/>
          </a:prstGeom>
          <a:noFill/>
          <a:ln/>
        </p:spPr>
        <p:txBody>
          <a:bodyPr wrap="square" lIns="25400" tIns="25400" rIns="25400" bIns="25400" rtlCol="0" anchor="t">
            <a:normAutofit lnSpcReduction="10000"/>
          </a:bodyPr>
          <a:lstStyle/>
          <a:p>
            <a:pPr marL="0" indent="0" algn="l">
              <a:lnSpc>
                <a:spcPct val="87300"/>
              </a:lnSpc>
              <a:buNone/>
            </a:pPr>
            <a:r>
              <a:rPr lang="en-US" sz="7800" dirty="0">
                <a:solidFill>
                  <a:srgbClr val="F2F2F3"/>
                </a:solidFill>
                <a:latin typeface="Arial" pitchFamily="34" charset="0"/>
                <a:ea typeface="Arial" pitchFamily="34" charset="-122"/>
                <a:cs typeface="Arial" pitchFamily="34" charset="-120"/>
              </a:rPr>
              <a:t>2</a:t>
            </a:r>
            <a:endParaRPr lang="en-US" sz="7800" dirty="0"/>
          </a:p>
        </p:txBody>
      </p:sp>
      <p:sp>
        <p:nvSpPr>
          <p:cNvPr id="11" name="Text 9"/>
          <p:cNvSpPr/>
          <p:nvPr/>
        </p:nvSpPr>
        <p:spPr>
          <a:xfrm>
            <a:off x="4980048" y="9018376"/>
            <a:ext cx="1215529" cy="392357"/>
          </a:xfrm>
          <a:prstGeom prst="rect">
            <a:avLst/>
          </a:prstGeom>
          <a:noFill/>
          <a:ln/>
        </p:spPr>
        <p:txBody>
          <a:bodyPr wrap="square" lIns="25400" tIns="25400" rIns="25400" bIns="25400" rtlCol="0" anchor="t">
            <a:normAutofit fontScale="62500" lnSpcReduction="20000"/>
          </a:bodyPr>
          <a:lstStyle/>
          <a:p>
            <a:pPr marL="0" indent="0" algn="l">
              <a:lnSpc>
                <a:spcPct val="133608"/>
              </a:lnSpc>
              <a:buNone/>
            </a:pPr>
            <a:r>
              <a:rPr lang="en-US" sz="1800" kern="0" spc="288" dirty="0">
                <a:solidFill>
                  <a:srgbClr val="B5D9FD"/>
                </a:solidFill>
                <a:latin typeface="Arial" pitchFamily="34" charset="0"/>
                <a:ea typeface="Arial" pitchFamily="34" charset="-122"/>
                <a:cs typeface="Arial" pitchFamily="34" charset="-120"/>
              </a:rPr>
              <a:t>DECISIONS</a:t>
            </a:r>
            <a:endParaRPr lang="en-US" sz="1800" dirty="0"/>
          </a:p>
        </p:txBody>
      </p:sp>
      <p:sp>
        <p:nvSpPr>
          <p:cNvPr id="12" name="Text 10"/>
          <p:cNvSpPr/>
          <p:nvPr/>
        </p:nvSpPr>
        <p:spPr>
          <a:xfrm>
            <a:off x="13752847" y="8664119"/>
            <a:ext cx="3582659" cy="746614"/>
          </a:xfrm>
          <a:prstGeom prst="rect">
            <a:avLst/>
          </a:prstGeom>
          <a:noFill/>
          <a:ln/>
        </p:spPr>
        <p:txBody>
          <a:bodyPr wrap="square" lIns="25400" tIns="25400" rIns="25400" bIns="25400" rtlCol="0" anchor="t">
            <a:normAutofit fontScale="92500"/>
          </a:bodyPr>
          <a:lstStyle/>
          <a:p>
            <a:pPr marL="0" indent="0" algn="r">
              <a:lnSpc>
                <a:spcPct val="133608"/>
              </a:lnSpc>
              <a:buNone/>
            </a:pPr>
            <a:r>
              <a:rPr lang="en-US" sz="1800" dirty="0">
                <a:solidFill>
                  <a:srgbClr val="B5D9FD"/>
                </a:solidFill>
                <a:latin typeface="Arial" pitchFamily="34" charset="0"/>
                <a:ea typeface="Arial" pitchFamily="34" charset="-122"/>
                <a:cs typeface="Arial" pitchFamily="34" charset="-120"/>
              </a:rPr>
              <a:t>Ashley Mathew · AI Chat Application Azure AI Foundry Platform</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685758" y="609540"/>
            <a:ext cx="18608087"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88" dirty="0">
                <a:solidFill>
                  <a:srgbClr val="416180"/>
                </a:solidFill>
                <a:latin typeface="Arial" pitchFamily="34" charset="0"/>
                <a:ea typeface="Arial" pitchFamily="34" charset="-122"/>
                <a:cs typeface="Arial" pitchFamily="34" charset="-120"/>
              </a:rPr>
              <a:t>WHAT WE NEED TO ALIGN ON</a:t>
            </a:r>
            <a:endParaRPr lang="en-US" sz="1800" dirty="0"/>
          </a:p>
        </p:txBody>
      </p:sp>
      <p:sp>
        <p:nvSpPr>
          <p:cNvPr id="3" name="Text 1"/>
          <p:cNvSpPr/>
          <p:nvPr/>
        </p:nvSpPr>
        <p:spPr>
          <a:xfrm>
            <a:off x="685758" y="1039947"/>
            <a:ext cx="18608087" cy="705245"/>
          </a:xfrm>
          <a:prstGeom prst="rect">
            <a:avLst/>
          </a:prstGeom>
          <a:noFill/>
          <a:ln/>
        </p:spPr>
        <p:txBody>
          <a:bodyPr wrap="square" lIns="25400" tIns="25400" rIns="25400" bIns="25400" rtlCol="0" anchor="t">
            <a:normAutofit lnSpcReduction="10000"/>
          </a:bodyPr>
          <a:lstStyle/>
          <a:p>
            <a:pPr marL="0" indent="0" algn="l">
              <a:lnSpc>
                <a:spcPct val="89215"/>
              </a:lnSpc>
              <a:buNone/>
            </a:pPr>
            <a:r>
              <a:rPr lang="en-US" sz="5100" dirty="0">
                <a:solidFill>
                  <a:srgbClr val="1D2D3D"/>
                </a:solidFill>
                <a:latin typeface="Arial" pitchFamily="34" charset="0"/>
                <a:ea typeface="Arial" pitchFamily="34" charset="-122"/>
                <a:cs typeface="Arial" pitchFamily="34" charset="-120"/>
              </a:rPr>
              <a:t>Two decisions</a:t>
            </a:r>
            <a:endParaRPr lang="en-US" sz="5100" dirty="0"/>
          </a:p>
        </p:txBody>
      </p:sp>
      <p:sp>
        <p:nvSpPr>
          <p:cNvPr id="4" name="Shape 2"/>
          <p:cNvSpPr/>
          <p:nvPr/>
        </p:nvSpPr>
        <p:spPr>
          <a:xfrm>
            <a:off x="685758" y="2164264"/>
            <a:ext cx="8267745" cy="2731618"/>
          </a:xfrm>
          <a:prstGeom prst="rect">
            <a:avLst/>
          </a:prstGeom>
          <a:ln w="8695">
            <a:solidFill>
              <a:srgbClr val="1F1F1F">
                <a:alpha val="16000"/>
              </a:srgbClr>
            </a:solidFill>
            <a:prstDash val="solid"/>
          </a:ln>
        </p:spPr>
        <p:txBody>
          <a:bodyPr/>
          <a:lstStyle/>
          <a:p>
            <a:endParaRPr lang="en-US"/>
          </a:p>
        </p:txBody>
      </p:sp>
      <p:sp>
        <p:nvSpPr>
          <p:cNvPr id="5" name="Text 3"/>
          <p:cNvSpPr/>
          <p:nvPr/>
        </p:nvSpPr>
        <p:spPr>
          <a:xfrm>
            <a:off x="1113516" y="2553912"/>
            <a:ext cx="8153452"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88" dirty="0">
                <a:solidFill>
                  <a:srgbClr val="416180"/>
                </a:solidFill>
                <a:latin typeface="Arial" pitchFamily="34" charset="0"/>
                <a:ea typeface="Arial" pitchFamily="34" charset="-122"/>
                <a:cs typeface="Arial" pitchFamily="34" charset="-120"/>
              </a:rPr>
              <a:t>DECISION 1</a:t>
            </a:r>
            <a:endParaRPr lang="en-US" sz="1800" dirty="0"/>
          </a:p>
        </p:txBody>
      </p:sp>
      <p:sp>
        <p:nvSpPr>
          <p:cNvPr id="6" name="Text 4"/>
          <p:cNvSpPr/>
          <p:nvPr/>
        </p:nvSpPr>
        <p:spPr>
          <a:xfrm>
            <a:off x="1113516" y="3003408"/>
            <a:ext cx="8153452" cy="558107"/>
          </a:xfrm>
          <a:prstGeom prst="rect">
            <a:avLst/>
          </a:prstGeom>
          <a:noFill/>
          <a:ln/>
        </p:spPr>
        <p:txBody>
          <a:bodyPr wrap="square" lIns="25400" tIns="25400" rIns="25400" bIns="25400" rtlCol="0" anchor="t">
            <a:normAutofit lnSpcReduction="10000"/>
          </a:bodyPr>
          <a:lstStyle/>
          <a:p>
            <a:pPr marL="0" indent="0" algn="l">
              <a:lnSpc>
                <a:spcPct val="91315"/>
              </a:lnSpc>
              <a:buNone/>
            </a:pPr>
            <a:r>
              <a:rPr lang="en-US" sz="3900" dirty="0">
                <a:solidFill>
                  <a:srgbClr val="1D2D3D"/>
                </a:solidFill>
                <a:latin typeface="Arial" pitchFamily="34" charset="0"/>
                <a:ea typeface="Arial" pitchFamily="34" charset="-122"/>
                <a:cs typeface="Arial" pitchFamily="34" charset="-120"/>
              </a:rPr>
              <a:t>Scope position</a:t>
            </a:r>
            <a:endParaRPr lang="en-US" sz="3900" dirty="0"/>
          </a:p>
        </p:txBody>
      </p:sp>
      <p:sp>
        <p:nvSpPr>
          <p:cNvPr id="7" name="Text 5"/>
          <p:cNvSpPr/>
          <p:nvPr/>
        </p:nvSpPr>
        <p:spPr>
          <a:xfrm>
            <a:off x="1113516" y="3694804"/>
            <a:ext cx="7634596" cy="811420"/>
          </a:xfrm>
          <a:prstGeom prst="rect">
            <a:avLst/>
          </a:prstGeom>
          <a:noFill/>
          <a:ln/>
        </p:spPr>
        <p:txBody>
          <a:bodyPr wrap="square" lIns="25400" tIns="25400" rIns="25400" bIns="25400" rtlCol="0" anchor="t">
            <a:normAutofit lnSpcReduction="10000"/>
          </a:bodyPr>
          <a:lstStyle/>
          <a:p>
            <a:pPr marL="0" indent="0" algn="l">
              <a:lnSpc>
                <a:spcPct val="121850"/>
              </a:lnSpc>
              <a:buNone/>
            </a:pPr>
            <a:r>
              <a:rPr lang="en-US" sz="2175" dirty="0">
                <a:solidFill>
                  <a:srgbClr val="5D5D60"/>
                </a:solidFill>
                <a:latin typeface="Arial" pitchFamily="34" charset="0"/>
                <a:ea typeface="Arial" pitchFamily="34" charset="-122"/>
                <a:cs typeface="Arial" pitchFamily="34" charset="-120"/>
              </a:rPr>
              <a:t>What is this application meant to do — and what should it stop doing?</a:t>
            </a:r>
            <a:endParaRPr lang="en-US" sz="2175" dirty="0"/>
          </a:p>
        </p:txBody>
      </p:sp>
      <p:sp>
        <p:nvSpPr>
          <p:cNvPr id="8" name="Shape 6"/>
          <p:cNvSpPr/>
          <p:nvPr/>
        </p:nvSpPr>
        <p:spPr>
          <a:xfrm>
            <a:off x="9334456" y="2164264"/>
            <a:ext cx="8267745" cy="2731618"/>
          </a:xfrm>
          <a:prstGeom prst="rect">
            <a:avLst/>
          </a:prstGeom>
          <a:ln w="8695">
            <a:solidFill>
              <a:srgbClr val="1F1F1F">
                <a:alpha val="16000"/>
              </a:srgbClr>
            </a:solidFill>
            <a:prstDash val="solid"/>
          </a:ln>
        </p:spPr>
        <p:txBody>
          <a:bodyPr/>
          <a:lstStyle/>
          <a:p>
            <a:endParaRPr lang="en-US"/>
          </a:p>
        </p:txBody>
      </p:sp>
      <p:sp>
        <p:nvSpPr>
          <p:cNvPr id="9" name="Text 7"/>
          <p:cNvSpPr/>
          <p:nvPr/>
        </p:nvSpPr>
        <p:spPr>
          <a:xfrm>
            <a:off x="9762215" y="2553912"/>
            <a:ext cx="8153452"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88" dirty="0">
                <a:solidFill>
                  <a:srgbClr val="416180"/>
                </a:solidFill>
                <a:latin typeface="Arial" pitchFamily="34" charset="0"/>
                <a:ea typeface="Arial" pitchFamily="34" charset="-122"/>
                <a:cs typeface="Arial" pitchFamily="34" charset="-120"/>
              </a:rPr>
              <a:t>DECISION 2</a:t>
            </a:r>
            <a:endParaRPr lang="en-US" sz="1800" dirty="0"/>
          </a:p>
        </p:txBody>
      </p:sp>
      <p:sp>
        <p:nvSpPr>
          <p:cNvPr id="10" name="Text 8"/>
          <p:cNvSpPr/>
          <p:nvPr/>
        </p:nvSpPr>
        <p:spPr>
          <a:xfrm>
            <a:off x="9762215" y="3003408"/>
            <a:ext cx="8153452" cy="558107"/>
          </a:xfrm>
          <a:prstGeom prst="rect">
            <a:avLst/>
          </a:prstGeom>
          <a:noFill/>
          <a:ln/>
        </p:spPr>
        <p:txBody>
          <a:bodyPr wrap="square" lIns="25400" tIns="25400" rIns="25400" bIns="25400" rtlCol="0" anchor="t">
            <a:normAutofit lnSpcReduction="10000"/>
          </a:bodyPr>
          <a:lstStyle/>
          <a:p>
            <a:pPr marL="0" indent="0" algn="l">
              <a:lnSpc>
                <a:spcPct val="91315"/>
              </a:lnSpc>
              <a:buNone/>
            </a:pPr>
            <a:r>
              <a:rPr lang="en-US" sz="3900" dirty="0">
                <a:solidFill>
                  <a:srgbClr val="1D2D3D"/>
                </a:solidFill>
                <a:latin typeface="Arial" pitchFamily="34" charset="0"/>
                <a:ea typeface="Arial" pitchFamily="34" charset="-122"/>
                <a:cs typeface="Arial" pitchFamily="34" charset="-120"/>
              </a:rPr>
              <a:t>Proposed solutions</a:t>
            </a:r>
            <a:endParaRPr lang="en-US" sz="3900" dirty="0"/>
          </a:p>
        </p:txBody>
      </p:sp>
      <p:sp>
        <p:nvSpPr>
          <p:cNvPr id="11" name="Text 9"/>
          <p:cNvSpPr/>
          <p:nvPr/>
        </p:nvSpPr>
        <p:spPr>
          <a:xfrm>
            <a:off x="9762215" y="3694804"/>
            <a:ext cx="7634596" cy="811420"/>
          </a:xfrm>
          <a:prstGeom prst="rect">
            <a:avLst/>
          </a:prstGeom>
          <a:noFill/>
          <a:ln/>
        </p:spPr>
        <p:txBody>
          <a:bodyPr wrap="square" lIns="25400" tIns="25400" rIns="25400" bIns="25400" rtlCol="0" anchor="t">
            <a:normAutofit lnSpcReduction="10000"/>
          </a:bodyPr>
          <a:lstStyle/>
          <a:p>
            <a:pPr marL="0" indent="0" algn="l">
              <a:lnSpc>
                <a:spcPct val="121850"/>
              </a:lnSpc>
              <a:buNone/>
            </a:pPr>
            <a:r>
              <a:rPr lang="en-US" sz="2175" dirty="0">
                <a:solidFill>
                  <a:srgbClr val="5D5D60"/>
                </a:solidFill>
                <a:latin typeface="Arial" pitchFamily="34" charset="0"/>
                <a:ea typeface="Arial" pitchFamily="34" charset="-122"/>
                <a:cs typeface="Arial" pitchFamily="34" charset="-120"/>
              </a:rPr>
              <a:t>Fix redundancies, control storage bloat, ensure predictable performance and cost.</a:t>
            </a:r>
            <a:endParaRPr lang="en-US" sz="2175" dirty="0"/>
          </a:p>
        </p:txBody>
      </p:sp>
      <p:sp>
        <p:nvSpPr>
          <p:cNvPr id="12" name="Shape 10"/>
          <p:cNvSpPr/>
          <p:nvPr/>
        </p:nvSpPr>
        <p:spPr>
          <a:xfrm>
            <a:off x="685758" y="5429272"/>
            <a:ext cx="16916443" cy="9525"/>
          </a:xfrm>
          <a:prstGeom prst="rect">
            <a:avLst/>
          </a:prstGeom>
          <a:solidFill>
            <a:srgbClr val="749DC4"/>
          </a:solidFill>
          <a:ln/>
        </p:spPr>
        <p:txBody>
          <a:bodyPr/>
          <a:lstStyle/>
          <a:p>
            <a:endParaRPr lang="en-US"/>
          </a:p>
        </p:txBody>
      </p:sp>
      <p:sp>
        <p:nvSpPr>
          <p:cNvPr id="13" name="Text 11"/>
          <p:cNvSpPr/>
          <p:nvPr/>
        </p:nvSpPr>
        <p:spPr>
          <a:xfrm>
            <a:off x="685758" y="5819736"/>
            <a:ext cx="5811543"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88" dirty="0">
                <a:solidFill>
                  <a:srgbClr val="416180"/>
                </a:solidFill>
                <a:latin typeface="Arial" pitchFamily="34" charset="0"/>
                <a:ea typeface="Arial" pitchFamily="34" charset="-122"/>
                <a:cs typeface="Arial" pitchFamily="34" charset="-120"/>
              </a:rPr>
              <a:t>ALSO ASKED</a:t>
            </a:r>
            <a:endParaRPr lang="en-US" sz="1800" dirty="0"/>
          </a:p>
        </p:txBody>
      </p:sp>
      <p:sp>
        <p:nvSpPr>
          <p:cNvPr id="14" name="Text 12"/>
          <p:cNvSpPr/>
          <p:nvPr/>
        </p:nvSpPr>
        <p:spPr>
          <a:xfrm>
            <a:off x="685758" y="6307341"/>
            <a:ext cx="5811543" cy="423877"/>
          </a:xfrm>
          <a:prstGeom prst="rect">
            <a:avLst/>
          </a:prstGeom>
          <a:noFill/>
          <a:ln/>
        </p:spPr>
        <p:txBody>
          <a:bodyPr wrap="square" lIns="25400" tIns="25400" rIns="25400" bIns="25400" rtlCol="0" anchor="t">
            <a:normAutofit lnSpcReduction="10000"/>
          </a:bodyPr>
          <a:lstStyle/>
          <a:p>
            <a:pPr marL="0" indent="0" algn="l">
              <a:lnSpc>
                <a:spcPct val="118308"/>
              </a:lnSpc>
              <a:buNone/>
            </a:pPr>
            <a:r>
              <a:rPr lang="en-US" sz="2250" dirty="0">
                <a:solidFill>
                  <a:srgbClr val="424244"/>
                </a:solidFill>
                <a:latin typeface="Arial" pitchFamily="34" charset="0"/>
                <a:ea typeface="Arial" pitchFamily="34" charset="-122"/>
                <a:cs typeface="Arial" pitchFamily="34" charset="-120"/>
              </a:rPr>
              <a:t>Timelines &amp; prioritization</a:t>
            </a:r>
            <a:endParaRPr lang="en-US" sz="2250" dirty="0"/>
          </a:p>
        </p:txBody>
      </p:sp>
      <p:sp>
        <p:nvSpPr>
          <p:cNvPr id="15" name="Text 13"/>
          <p:cNvSpPr/>
          <p:nvPr/>
        </p:nvSpPr>
        <p:spPr>
          <a:xfrm>
            <a:off x="6502369" y="5819736"/>
            <a:ext cx="5811543"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88" dirty="0">
                <a:solidFill>
                  <a:srgbClr val="416180"/>
                </a:solidFill>
                <a:latin typeface="Arial" pitchFamily="34" charset="0"/>
                <a:ea typeface="Arial" pitchFamily="34" charset="-122"/>
                <a:cs typeface="Arial" pitchFamily="34" charset="-120"/>
              </a:rPr>
              <a:t>NOT ASKED</a:t>
            </a:r>
            <a:endParaRPr lang="en-US" sz="1800" dirty="0"/>
          </a:p>
        </p:txBody>
      </p:sp>
      <p:sp>
        <p:nvSpPr>
          <p:cNvPr id="16" name="Text 14"/>
          <p:cNvSpPr/>
          <p:nvPr/>
        </p:nvSpPr>
        <p:spPr>
          <a:xfrm>
            <a:off x="6502369" y="6307341"/>
            <a:ext cx="5811543" cy="423877"/>
          </a:xfrm>
          <a:prstGeom prst="rect">
            <a:avLst/>
          </a:prstGeom>
          <a:noFill/>
          <a:ln/>
        </p:spPr>
        <p:txBody>
          <a:bodyPr wrap="square" lIns="25400" tIns="25400" rIns="25400" bIns="25400" rtlCol="0" anchor="t">
            <a:normAutofit lnSpcReduction="10000"/>
          </a:bodyPr>
          <a:lstStyle/>
          <a:p>
            <a:pPr marL="0" indent="0" algn="l">
              <a:lnSpc>
                <a:spcPct val="118308"/>
              </a:lnSpc>
              <a:buNone/>
            </a:pPr>
            <a:r>
              <a:rPr lang="en-US" sz="2250" dirty="0">
                <a:solidFill>
                  <a:srgbClr val="424244"/>
                </a:solidFill>
                <a:latin typeface="Arial" pitchFamily="34" charset="0"/>
                <a:ea typeface="Arial" pitchFamily="34" charset="-122"/>
                <a:cs typeface="Arial" pitchFamily="34" charset="-120"/>
              </a:rPr>
              <a:t>Removing any existing features</a:t>
            </a:r>
            <a:endParaRPr lang="en-US" sz="2250" dirty="0"/>
          </a:p>
        </p:txBody>
      </p:sp>
      <p:sp>
        <p:nvSpPr>
          <p:cNvPr id="17" name="Text 15"/>
          <p:cNvSpPr/>
          <p:nvPr/>
        </p:nvSpPr>
        <p:spPr>
          <a:xfrm>
            <a:off x="12318979" y="5819736"/>
            <a:ext cx="5811543"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88" dirty="0">
                <a:solidFill>
                  <a:srgbClr val="C8651B"/>
                </a:solidFill>
                <a:latin typeface="Arial" pitchFamily="34" charset="0"/>
                <a:ea typeface="Arial" pitchFamily="34" charset="-122"/>
                <a:cs typeface="Arial" pitchFamily="34" charset="-120"/>
              </a:rPr>
              <a:t>IF DEFERRED</a:t>
            </a:r>
            <a:endParaRPr lang="en-US" sz="1800" dirty="0"/>
          </a:p>
        </p:txBody>
      </p:sp>
      <p:sp>
        <p:nvSpPr>
          <p:cNvPr id="18" name="Text 16"/>
          <p:cNvSpPr/>
          <p:nvPr/>
        </p:nvSpPr>
        <p:spPr>
          <a:xfrm>
            <a:off x="12318979" y="6307341"/>
            <a:ext cx="5441718" cy="809654"/>
          </a:xfrm>
          <a:prstGeom prst="rect">
            <a:avLst/>
          </a:prstGeom>
          <a:noFill/>
          <a:ln/>
        </p:spPr>
        <p:txBody>
          <a:bodyPr wrap="square" lIns="25400" tIns="25400" rIns="25400" bIns="25400" rtlCol="0" anchor="t">
            <a:normAutofit lnSpcReduction="10000"/>
          </a:bodyPr>
          <a:lstStyle/>
          <a:p>
            <a:pPr marL="0" indent="0" algn="l">
              <a:lnSpc>
                <a:spcPct val="118308"/>
              </a:lnSpc>
              <a:buNone/>
            </a:pPr>
            <a:r>
              <a:rPr lang="en-US" sz="2250" dirty="0">
                <a:solidFill>
                  <a:srgbClr val="424244"/>
                </a:solidFill>
                <a:latin typeface="Arial" pitchFamily="34" charset="0"/>
                <a:ea typeface="Arial" pitchFamily="34" charset="-122"/>
                <a:cs typeface="Arial" pitchFamily="34" charset="-120"/>
              </a:rPr>
              <a:t>Storage cost compounds monthly and the cleanup grows harder with time.</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685758" y="609540"/>
            <a:ext cx="18608087"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88" dirty="0">
                <a:solidFill>
                  <a:srgbClr val="416180"/>
                </a:solidFill>
                <a:latin typeface="Arial" pitchFamily="34" charset="0"/>
                <a:ea typeface="Arial" pitchFamily="34" charset="-122"/>
                <a:cs typeface="Arial" pitchFamily="34" charset="-120"/>
              </a:rPr>
              <a:t>THE SCOPE POSITION</a:t>
            </a:r>
            <a:endParaRPr lang="en-US" sz="1800" dirty="0"/>
          </a:p>
        </p:txBody>
      </p:sp>
      <p:sp>
        <p:nvSpPr>
          <p:cNvPr id="3" name="Text 1"/>
          <p:cNvSpPr/>
          <p:nvPr/>
        </p:nvSpPr>
        <p:spPr>
          <a:xfrm>
            <a:off x="685758" y="1039947"/>
            <a:ext cx="18608087" cy="705245"/>
          </a:xfrm>
          <a:prstGeom prst="rect">
            <a:avLst/>
          </a:prstGeom>
          <a:noFill/>
          <a:ln/>
        </p:spPr>
        <p:txBody>
          <a:bodyPr wrap="square" lIns="25400" tIns="25400" rIns="25400" bIns="25400" rtlCol="0" anchor="t">
            <a:normAutofit lnSpcReduction="10000"/>
          </a:bodyPr>
          <a:lstStyle/>
          <a:p>
            <a:pPr marL="0" indent="0" algn="l">
              <a:lnSpc>
                <a:spcPct val="89215"/>
              </a:lnSpc>
              <a:buNone/>
            </a:pPr>
            <a:r>
              <a:rPr lang="en-US" sz="5100" dirty="0">
                <a:solidFill>
                  <a:srgbClr val="1D2D3D"/>
                </a:solidFill>
                <a:latin typeface="Arial" pitchFamily="34" charset="0"/>
                <a:ea typeface="Arial" pitchFamily="34" charset="-122"/>
                <a:cs typeface="Arial" pitchFamily="34" charset="-120"/>
              </a:rPr>
              <a:t>What this application is, and is not</a:t>
            </a:r>
            <a:endParaRPr lang="en-US" sz="5100" dirty="0"/>
          </a:p>
        </p:txBody>
      </p:sp>
      <p:sp>
        <p:nvSpPr>
          <p:cNvPr id="4" name="Shape 2"/>
          <p:cNvSpPr/>
          <p:nvPr/>
        </p:nvSpPr>
        <p:spPr>
          <a:xfrm>
            <a:off x="685758" y="7861996"/>
            <a:ext cx="8267745" cy="9525"/>
          </a:xfrm>
          <a:prstGeom prst="rect">
            <a:avLst/>
          </a:prstGeom>
          <a:solidFill>
            <a:srgbClr val="1F1F1F">
              <a:alpha val="16000"/>
            </a:srgbClr>
          </a:solidFill>
          <a:ln/>
        </p:spPr>
        <p:txBody>
          <a:bodyPr/>
          <a:lstStyle/>
          <a:p>
            <a:endParaRPr lang="en-US"/>
          </a:p>
        </p:txBody>
      </p:sp>
      <p:sp>
        <p:nvSpPr>
          <p:cNvPr id="5" name="Shape 3"/>
          <p:cNvSpPr/>
          <p:nvPr/>
        </p:nvSpPr>
        <p:spPr>
          <a:xfrm>
            <a:off x="685758" y="2145175"/>
            <a:ext cx="8267745" cy="56518"/>
          </a:xfrm>
          <a:prstGeom prst="rect">
            <a:avLst/>
          </a:prstGeom>
          <a:solidFill>
            <a:srgbClr val="416180"/>
          </a:solidFill>
          <a:ln/>
        </p:spPr>
        <p:txBody>
          <a:bodyPr/>
          <a:lstStyle/>
          <a:p>
            <a:endParaRPr lang="en-US"/>
          </a:p>
        </p:txBody>
      </p:sp>
      <p:sp>
        <p:nvSpPr>
          <p:cNvPr id="6" name="Shape 4"/>
          <p:cNvSpPr/>
          <p:nvPr/>
        </p:nvSpPr>
        <p:spPr>
          <a:xfrm>
            <a:off x="685758" y="2145175"/>
            <a:ext cx="9525" cy="5725516"/>
          </a:xfrm>
          <a:prstGeom prst="rect">
            <a:avLst/>
          </a:prstGeom>
          <a:solidFill>
            <a:srgbClr val="1F1F1F">
              <a:alpha val="16000"/>
            </a:srgbClr>
          </a:solidFill>
          <a:ln/>
        </p:spPr>
        <p:txBody>
          <a:bodyPr/>
          <a:lstStyle/>
          <a:p>
            <a:endParaRPr lang="en-US"/>
          </a:p>
        </p:txBody>
      </p:sp>
      <p:sp>
        <p:nvSpPr>
          <p:cNvPr id="7" name="Shape 5"/>
          <p:cNvSpPr/>
          <p:nvPr/>
        </p:nvSpPr>
        <p:spPr>
          <a:xfrm>
            <a:off x="8944807" y="2145175"/>
            <a:ext cx="9525" cy="5725516"/>
          </a:xfrm>
          <a:prstGeom prst="rect">
            <a:avLst/>
          </a:prstGeom>
          <a:solidFill>
            <a:srgbClr val="1F1F1F">
              <a:alpha val="16000"/>
            </a:srgbClr>
          </a:solidFill>
          <a:ln/>
        </p:spPr>
        <p:txBody>
          <a:bodyPr/>
          <a:lstStyle/>
          <a:p>
            <a:endParaRPr lang="en-US"/>
          </a:p>
        </p:txBody>
      </p:sp>
      <p:sp>
        <p:nvSpPr>
          <p:cNvPr id="8" name="Text 6"/>
          <p:cNvSpPr/>
          <p:nvPr/>
        </p:nvSpPr>
        <p:spPr>
          <a:xfrm>
            <a:off x="1075407" y="2544538"/>
            <a:ext cx="8237292" cy="717201"/>
          </a:xfrm>
          <a:prstGeom prst="rect">
            <a:avLst/>
          </a:prstGeom>
          <a:noFill/>
          <a:ln/>
        </p:spPr>
        <p:txBody>
          <a:bodyPr wrap="square" lIns="25400" tIns="25400" rIns="25400" bIns="25400" rtlCol="0" anchor="t">
            <a:normAutofit/>
          </a:bodyPr>
          <a:lstStyle/>
          <a:p>
            <a:pPr marL="0" indent="0" algn="l">
              <a:lnSpc>
                <a:spcPct val="135835"/>
              </a:lnSpc>
              <a:buNone/>
            </a:pPr>
            <a:r>
              <a:rPr lang="en-US" sz="3450" dirty="0">
                <a:solidFill>
                  <a:srgbClr val="1D2D3D"/>
                </a:solidFill>
                <a:latin typeface="Arial" pitchFamily="34" charset="0"/>
                <a:ea typeface="Arial" pitchFamily="34" charset="-122"/>
                <a:cs typeface="Arial" pitchFamily="34" charset="-120"/>
              </a:rPr>
              <a:t>Built to be</a:t>
            </a:r>
            <a:endParaRPr lang="en-US" sz="3450" dirty="0"/>
          </a:p>
        </p:txBody>
      </p:sp>
      <p:sp>
        <p:nvSpPr>
          <p:cNvPr id="9" name="Text 7"/>
          <p:cNvSpPr/>
          <p:nvPr/>
        </p:nvSpPr>
        <p:spPr>
          <a:xfrm>
            <a:off x="1075407" y="3490333"/>
            <a:ext cx="8237292" cy="423877"/>
          </a:xfrm>
          <a:prstGeom prst="rect">
            <a:avLst/>
          </a:prstGeom>
          <a:noFill/>
          <a:ln/>
        </p:spPr>
        <p:txBody>
          <a:bodyPr wrap="square" lIns="25400" tIns="25400" rIns="25400" bIns="25400" rtlCol="0" anchor="t">
            <a:normAutofit lnSpcReduction="10000"/>
          </a:bodyPr>
          <a:lstStyle/>
          <a:p>
            <a:pPr marL="0" indent="0" algn="l">
              <a:lnSpc>
                <a:spcPct val="118308"/>
              </a:lnSpc>
              <a:buNone/>
            </a:pPr>
            <a:r>
              <a:rPr lang="en-US" sz="2250" dirty="0">
                <a:solidFill>
                  <a:srgbClr val="424244"/>
                </a:solidFill>
                <a:latin typeface="Arial" pitchFamily="34" charset="0"/>
                <a:ea typeface="Arial" pitchFamily="34" charset="-122"/>
                <a:cs typeface="Arial" pitchFamily="34" charset="-120"/>
              </a:rPr>
              <a:t>A conversational interface with AI models</a:t>
            </a:r>
            <a:endParaRPr lang="en-US" sz="2250" dirty="0"/>
          </a:p>
        </p:txBody>
      </p:sp>
      <p:sp>
        <p:nvSpPr>
          <p:cNvPr id="10" name="Text 8"/>
          <p:cNvSpPr/>
          <p:nvPr/>
        </p:nvSpPr>
        <p:spPr>
          <a:xfrm>
            <a:off x="1075407" y="4123717"/>
            <a:ext cx="7713100" cy="809654"/>
          </a:xfrm>
          <a:prstGeom prst="rect">
            <a:avLst/>
          </a:prstGeom>
          <a:noFill/>
          <a:ln/>
        </p:spPr>
        <p:txBody>
          <a:bodyPr wrap="square" lIns="25400" tIns="25400" rIns="25400" bIns="25400" rtlCol="0" anchor="t">
            <a:normAutofit lnSpcReduction="10000"/>
          </a:bodyPr>
          <a:lstStyle/>
          <a:p>
            <a:pPr marL="0" indent="0" algn="l">
              <a:lnSpc>
                <a:spcPct val="118308"/>
              </a:lnSpc>
              <a:buNone/>
            </a:pPr>
            <a:r>
              <a:rPr lang="en-US" sz="2250" dirty="0">
                <a:solidFill>
                  <a:srgbClr val="424244"/>
                </a:solidFill>
                <a:latin typeface="Arial" pitchFamily="34" charset="0"/>
                <a:ea typeface="Arial" pitchFamily="34" charset="-122"/>
                <a:cs typeface="Arial" pitchFamily="34" charset="-120"/>
              </a:rPr>
              <a:t>An orchestrator of the document-ingestion and RAG pipelines</a:t>
            </a:r>
            <a:endParaRPr lang="en-US" sz="2250" dirty="0"/>
          </a:p>
        </p:txBody>
      </p:sp>
      <p:sp>
        <p:nvSpPr>
          <p:cNvPr id="11" name="Text 9"/>
          <p:cNvSpPr/>
          <p:nvPr/>
        </p:nvSpPr>
        <p:spPr>
          <a:xfrm>
            <a:off x="1075407" y="5142877"/>
            <a:ext cx="8237292" cy="423877"/>
          </a:xfrm>
          <a:prstGeom prst="rect">
            <a:avLst/>
          </a:prstGeom>
          <a:noFill/>
          <a:ln/>
        </p:spPr>
        <p:txBody>
          <a:bodyPr wrap="square" lIns="25400" tIns="25400" rIns="25400" bIns="25400" rtlCol="0" anchor="t">
            <a:normAutofit lnSpcReduction="10000"/>
          </a:bodyPr>
          <a:lstStyle/>
          <a:p>
            <a:pPr marL="0" indent="0" algn="l">
              <a:lnSpc>
                <a:spcPct val="118308"/>
              </a:lnSpc>
              <a:buNone/>
            </a:pPr>
            <a:r>
              <a:rPr lang="en-US" sz="2250" dirty="0">
                <a:solidFill>
                  <a:srgbClr val="424244"/>
                </a:solidFill>
                <a:latin typeface="Arial" pitchFamily="34" charset="0"/>
                <a:ea typeface="Arial" pitchFamily="34" charset="-122"/>
                <a:cs typeface="Arial" pitchFamily="34" charset="-120"/>
              </a:rPr>
              <a:t>A consumer of team and document context</a:t>
            </a:r>
            <a:endParaRPr lang="en-US" sz="2250" dirty="0"/>
          </a:p>
        </p:txBody>
      </p:sp>
      <p:sp>
        <p:nvSpPr>
          <p:cNvPr id="12" name="Shape 10"/>
          <p:cNvSpPr/>
          <p:nvPr/>
        </p:nvSpPr>
        <p:spPr>
          <a:xfrm>
            <a:off x="9334456" y="7861996"/>
            <a:ext cx="8267745" cy="9525"/>
          </a:xfrm>
          <a:prstGeom prst="rect">
            <a:avLst/>
          </a:prstGeom>
          <a:solidFill>
            <a:srgbClr val="1F1F1F">
              <a:alpha val="16000"/>
            </a:srgbClr>
          </a:solidFill>
          <a:ln/>
        </p:spPr>
        <p:txBody>
          <a:bodyPr/>
          <a:lstStyle/>
          <a:p>
            <a:endParaRPr lang="en-US"/>
          </a:p>
        </p:txBody>
      </p:sp>
      <p:sp>
        <p:nvSpPr>
          <p:cNvPr id="13" name="Shape 11"/>
          <p:cNvSpPr/>
          <p:nvPr/>
        </p:nvSpPr>
        <p:spPr>
          <a:xfrm>
            <a:off x="9334456" y="2145175"/>
            <a:ext cx="8267745" cy="56518"/>
          </a:xfrm>
          <a:prstGeom prst="rect">
            <a:avLst/>
          </a:prstGeom>
          <a:solidFill>
            <a:srgbClr val="C8651B"/>
          </a:solidFill>
          <a:ln/>
        </p:spPr>
        <p:txBody>
          <a:bodyPr/>
          <a:lstStyle/>
          <a:p>
            <a:endParaRPr lang="en-US"/>
          </a:p>
        </p:txBody>
      </p:sp>
      <p:sp>
        <p:nvSpPr>
          <p:cNvPr id="14" name="Shape 12"/>
          <p:cNvSpPr/>
          <p:nvPr/>
        </p:nvSpPr>
        <p:spPr>
          <a:xfrm>
            <a:off x="9334456" y="2145175"/>
            <a:ext cx="9525" cy="5725516"/>
          </a:xfrm>
          <a:prstGeom prst="rect">
            <a:avLst/>
          </a:prstGeom>
          <a:solidFill>
            <a:srgbClr val="1F1F1F">
              <a:alpha val="16000"/>
            </a:srgbClr>
          </a:solidFill>
          <a:ln/>
        </p:spPr>
        <p:txBody>
          <a:bodyPr/>
          <a:lstStyle/>
          <a:p>
            <a:endParaRPr lang="en-US"/>
          </a:p>
        </p:txBody>
      </p:sp>
      <p:sp>
        <p:nvSpPr>
          <p:cNvPr id="15" name="Shape 13"/>
          <p:cNvSpPr/>
          <p:nvPr/>
        </p:nvSpPr>
        <p:spPr>
          <a:xfrm>
            <a:off x="17593506" y="2145175"/>
            <a:ext cx="9525" cy="5725516"/>
          </a:xfrm>
          <a:prstGeom prst="rect">
            <a:avLst/>
          </a:prstGeom>
          <a:solidFill>
            <a:srgbClr val="1F1F1F">
              <a:alpha val="16000"/>
            </a:srgbClr>
          </a:solidFill>
          <a:ln/>
        </p:spPr>
        <p:txBody>
          <a:bodyPr/>
          <a:lstStyle/>
          <a:p>
            <a:endParaRPr lang="en-US"/>
          </a:p>
        </p:txBody>
      </p:sp>
      <p:sp>
        <p:nvSpPr>
          <p:cNvPr id="16" name="Text 14"/>
          <p:cNvSpPr/>
          <p:nvPr/>
        </p:nvSpPr>
        <p:spPr>
          <a:xfrm>
            <a:off x="9724105" y="2544538"/>
            <a:ext cx="8237292" cy="717201"/>
          </a:xfrm>
          <a:prstGeom prst="rect">
            <a:avLst/>
          </a:prstGeom>
          <a:noFill/>
          <a:ln/>
        </p:spPr>
        <p:txBody>
          <a:bodyPr wrap="square" lIns="25400" tIns="25400" rIns="25400" bIns="25400" rtlCol="0" anchor="t">
            <a:normAutofit/>
          </a:bodyPr>
          <a:lstStyle/>
          <a:p>
            <a:pPr marL="0" indent="0" algn="l">
              <a:lnSpc>
                <a:spcPct val="135835"/>
              </a:lnSpc>
              <a:buNone/>
            </a:pPr>
            <a:r>
              <a:rPr lang="en-US" sz="3450" dirty="0">
                <a:solidFill>
                  <a:srgbClr val="C8651B"/>
                </a:solidFill>
                <a:latin typeface="Arial" pitchFamily="34" charset="0"/>
                <a:ea typeface="Arial" pitchFamily="34" charset="-122"/>
                <a:cs typeface="Arial" pitchFamily="34" charset="-120"/>
              </a:rPr>
              <a:t>Not built to be</a:t>
            </a:r>
            <a:endParaRPr lang="en-US" sz="3450" dirty="0"/>
          </a:p>
        </p:txBody>
      </p:sp>
      <p:sp>
        <p:nvSpPr>
          <p:cNvPr id="17" name="Text 15"/>
          <p:cNvSpPr/>
          <p:nvPr/>
        </p:nvSpPr>
        <p:spPr>
          <a:xfrm>
            <a:off x="9724105" y="3490333"/>
            <a:ext cx="8237292" cy="423877"/>
          </a:xfrm>
          <a:prstGeom prst="rect">
            <a:avLst/>
          </a:prstGeom>
          <a:noFill/>
          <a:ln/>
        </p:spPr>
        <p:txBody>
          <a:bodyPr wrap="square" lIns="25400" tIns="25400" rIns="25400" bIns="25400" rtlCol="0" anchor="t">
            <a:normAutofit lnSpcReduction="10000"/>
          </a:bodyPr>
          <a:lstStyle/>
          <a:p>
            <a:pPr marL="0" indent="0" algn="l">
              <a:lnSpc>
                <a:spcPct val="118308"/>
              </a:lnSpc>
              <a:buNone/>
            </a:pPr>
            <a:r>
              <a:rPr lang="en-US" sz="2250" dirty="0">
                <a:solidFill>
                  <a:srgbClr val="424244"/>
                </a:solidFill>
                <a:latin typeface="Arial" pitchFamily="34" charset="0"/>
                <a:ea typeface="Arial" pitchFamily="34" charset="-122"/>
                <a:cs typeface="Arial" pitchFamily="34" charset="-120"/>
              </a:rPr>
              <a:t>A team management system</a:t>
            </a:r>
            <a:endParaRPr lang="en-US" sz="2250" dirty="0"/>
          </a:p>
        </p:txBody>
      </p:sp>
      <p:sp>
        <p:nvSpPr>
          <p:cNvPr id="18" name="Text 16"/>
          <p:cNvSpPr/>
          <p:nvPr/>
        </p:nvSpPr>
        <p:spPr>
          <a:xfrm>
            <a:off x="9724105" y="4123717"/>
            <a:ext cx="8237292" cy="423877"/>
          </a:xfrm>
          <a:prstGeom prst="rect">
            <a:avLst/>
          </a:prstGeom>
          <a:noFill/>
          <a:ln/>
        </p:spPr>
        <p:txBody>
          <a:bodyPr wrap="square" lIns="25400" tIns="25400" rIns="25400" bIns="25400" rtlCol="0" anchor="t">
            <a:normAutofit lnSpcReduction="10000"/>
          </a:bodyPr>
          <a:lstStyle/>
          <a:p>
            <a:pPr marL="0" indent="0" algn="l">
              <a:lnSpc>
                <a:spcPct val="118308"/>
              </a:lnSpc>
              <a:buNone/>
            </a:pPr>
            <a:r>
              <a:rPr lang="en-US" sz="2250" dirty="0">
                <a:solidFill>
                  <a:srgbClr val="424244"/>
                </a:solidFill>
                <a:latin typeface="Arial" pitchFamily="34" charset="0"/>
                <a:ea typeface="Arial" pitchFamily="34" charset="-122"/>
                <a:cs typeface="Arial" pitchFamily="34" charset="-120"/>
              </a:rPr>
              <a:t>A shared-document management repository</a:t>
            </a:r>
            <a:endParaRPr lang="en-US" sz="2250" dirty="0"/>
          </a:p>
        </p:txBody>
      </p:sp>
      <p:sp>
        <p:nvSpPr>
          <p:cNvPr id="19" name="Text 17"/>
          <p:cNvSpPr/>
          <p:nvPr/>
        </p:nvSpPr>
        <p:spPr>
          <a:xfrm>
            <a:off x="9724105" y="4757100"/>
            <a:ext cx="8237292" cy="423877"/>
          </a:xfrm>
          <a:prstGeom prst="rect">
            <a:avLst/>
          </a:prstGeom>
          <a:noFill/>
          <a:ln/>
        </p:spPr>
        <p:txBody>
          <a:bodyPr wrap="square" lIns="25400" tIns="25400" rIns="25400" bIns="25400" rtlCol="0" anchor="t">
            <a:normAutofit lnSpcReduction="10000"/>
          </a:bodyPr>
          <a:lstStyle/>
          <a:p>
            <a:pPr marL="0" indent="0" algn="l">
              <a:lnSpc>
                <a:spcPct val="118308"/>
              </a:lnSpc>
              <a:buNone/>
            </a:pPr>
            <a:r>
              <a:rPr lang="en-US" sz="2250" dirty="0">
                <a:solidFill>
                  <a:srgbClr val="424244"/>
                </a:solidFill>
                <a:latin typeface="Arial" pitchFamily="34" charset="0"/>
                <a:ea typeface="Arial" pitchFamily="34" charset="-122"/>
                <a:cs typeface="Arial" pitchFamily="34" charset="-120"/>
              </a:rPr>
              <a:t>A system of record for any document it processes</a:t>
            </a:r>
            <a:endParaRPr lang="en-US" sz="2250" dirty="0"/>
          </a:p>
        </p:txBody>
      </p:sp>
      <p:sp>
        <p:nvSpPr>
          <p:cNvPr id="20" name="Shape 18"/>
          <p:cNvSpPr/>
          <p:nvPr/>
        </p:nvSpPr>
        <p:spPr>
          <a:xfrm>
            <a:off x="685758" y="8289754"/>
            <a:ext cx="16916443" cy="1387683"/>
          </a:xfrm>
          <a:prstGeom prst="rect">
            <a:avLst/>
          </a:prstGeom>
          <a:solidFill>
            <a:srgbClr val="1D2D3D"/>
          </a:solidFill>
          <a:ln/>
        </p:spPr>
        <p:txBody>
          <a:bodyPr/>
          <a:lstStyle/>
          <a:p>
            <a:endParaRPr lang="en-US"/>
          </a:p>
        </p:txBody>
      </p:sp>
      <p:sp>
        <p:nvSpPr>
          <p:cNvPr id="21" name="Text 19"/>
          <p:cNvSpPr/>
          <p:nvPr/>
        </p:nvSpPr>
        <p:spPr>
          <a:xfrm>
            <a:off x="1066712" y="8347245"/>
            <a:ext cx="1523089" cy="381556"/>
          </a:xfrm>
          <a:prstGeom prst="rect">
            <a:avLst/>
          </a:prstGeom>
          <a:noFill/>
          <a:ln/>
        </p:spPr>
        <p:txBody>
          <a:bodyPr wrap="square" lIns="25400" tIns="25400" rIns="25400" bIns="25400" rtlCol="0" anchor="t">
            <a:normAutofit fontScale="85000" lnSpcReduction="20000"/>
          </a:bodyPr>
          <a:lstStyle/>
          <a:p>
            <a:pPr marL="0" indent="0" algn="l">
              <a:lnSpc>
                <a:spcPct val="135835"/>
              </a:lnSpc>
              <a:buNone/>
            </a:pPr>
            <a:r>
              <a:rPr lang="en-US" sz="2250" kern="0" spc="135" dirty="0">
                <a:solidFill>
                  <a:srgbClr val="F2F2F3"/>
                </a:solidFill>
                <a:latin typeface="Arial" pitchFamily="34" charset="0"/>
                <a:ea typeface="Arial" pitchFamily="34" charset="-122"/>
                <a:cs typeface="Arial" pitchFamily="34" charset="-120"/>
              </a:rPr>
              <a:t>THE TEST</a:t>
            </a:r>
            <a:endParaRPr lang="en-US" sz="2250" dirty="0"/>
          </a:p>
        </p:txBody>
      </p:sp>
      <p:sp>
        <p:nvSpPr>
          <p:cNvPr id="22" name="Text 20"/>
          <p:cNvSpPr/>
          <p:nvPr/>
        </p:nvSpPr>
        <p:spPr>
          <a:xfrm>
            <a:off x="1066712" y="8748548"/>
            <a:ext cx="16454945" cy="754902"/>
          </a:xfrm>
          <a:prstGeom prst="rect">
            <a:avLst/>
          </a:prstGeom>
          <a:noFill/>
          <a:ln/>
        </p:spPr>
        <p:txBody>
          <a:bodyPr wrap="square" lIns="25400" tIns="25400" rIns="25400" bIns="25400" rtlCol="0" anchor="t">
            <a:normAutofit lnSpcReduction="10000"/>
          </a:bodyPr>
          <a:lstStyle/>
          <a:p>
            <a:pPr marL="0" indent="0" algn="l">
              <a:lnSpc>
                <a:spcPct val="120962"/>
              </a:lnSpc>
              <a:buNone/>
            </a:pPr>
            <a:r>
              <a:rPr lang="en-US" sz="2100" dirty="0">
                <a:solidFill>
                  <a:srgbClr val="D6EBFF"/>
                </a:solidFill>
                <a:latin typeface="Arial" pitchFamily="34" charset="0"/>
                <a:ea typeface="Arial" pitchFamily="34" charset="-122"/>
                <a:cs typeface="Arial" pitchFamily="34" charset="-120"/>
              </a:rPr>
              <a:t>Anything another platform already does well, we consume rather than rebuild. What stays in the application has to be something only this application can do — everything else is ownership we chose, and can choose to give back.</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609540" y="380954"/>
            <a:ext cx="6380787"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88" dirty="0">
                <a:solidFill>
                  <a:srgbClr val="416180"/>
                </a:solidFill>
                <a:latin typeface="Arial" pitchFamily="34" charset="0"/>
                <a:ea typeface="Arial" pitchFamily="34" charset="-122"/>
                <a:cs typeface="Arial" pitchFamily="34" charset="-120"/>
              </a:rPr>
              <a:t>CURRENT STATE ARCHITECTURE</a:t>
            </a:r>
            <a:endParaRPr lang="en-US" sz="1800" dirty="0"/>
          </a:p>
        </p:txBody>
      </p:sp>
      <p:sp>
        <p:nvSpPr>
          <p:cNvPr id="3" name="Text 1"/>
          <p:cNvSpPr/>
          <p:nvPr/>
        </p:nvSpPr>
        <p:spPr>
          <a:xfrm>
            <a:off x="609540" y="773252"/>
            <a:ext cx="6380787" cy="607085"/>
          </a:xfrm>
          <a:prstGeom prst="rect">
            <a:avLst/>
          </a:prstGeom>
          <a:noFill/>
          <a:ln/>
        </p:spPr>
        <p:txBody>
          <a:bodyPr wrap="none" lIns="25400" tIns="25400" rIns="25400" bIns="25400" rtlCol="0" anchor="t">
            <a:normAutofit lnSpcReduction="10000"/>
          </a:bodyPr>
          <a:lstStyle/>
          <a:p>
            <a:pPr marL="0" indent="0" algn="l">
              <a:lnSpc>
                <a:spcPct val="89646"/>
              </a:lnSpc>
              <a:buNone/>
            </a:pPr>
            <a:r>
              <a:rPr lang="en-US" sz="4350" dirty="0">
                <a:solidFill>
                  <a:srgbClr val="1D2D3D"/>
                </a:solidFill>
                <a:latin typeface="Arial" pitchFamily="34" charset="0"/>
                <a:ea typeface="Arial" pitchFamily="34" charset="-122"/>
                <a:cs typeface="Arial" pitchFamily="34" charset="-120"/>
              </a:rPr>
              <a:t>What we own, and what we use</a:t>
            </a:r>
            <a:endParaRPr lang="en-US" sz="4350" dirty="0"/>
          </a:p>
        </p:txBody>
      </p:sp>
      <p:sp>
        <p:nvSpPr>
          <p:cNvPr id="5" name="Text 3"/>
          <p:cNvSpPr/>
          <p:nvPr/>
        </p:nvSpPr>
        <p:spPr>
          <a:xfrm>
            <a:off x="11559464" y="911830"/>
            <a:ext cx="6118956" cy="392357"/>
          </a:xfrm>
          <a:prstGeom prst="rect">
            <a:avLst/>
          </a:prstGeom>
          <a:noFill/>
          <a:ln/>
        </p:spPr>
        <p:txBody>
          <a:bodyPr wrap="square" lIns="25400" tIns="25400" rIns="25400" bIns="25400" rtlCol="0" anchor="t">
            <a:normAutofit/>
          </a:bodyPr>
          <a:lstStyle/>
          <a:p>
            <a:pPr marL="0" indent="0" algn="r">
              <a:lnSpc>
                <a:spcPct val="133608"/>
              </a:lnSpc>
              <a:buNone/>
            </a:pPr>
            <a:r>
              <a:rPr lang="en-US" sz="1800" dirty="0">
                <a:solidFill>
                  <a:srgbClr val="5D5D60"/>
                </a:solidFill>
                <a:latin typeface="Arial" pitchFamily="34" charset="0"/>
                <a:ea typeface="Arial" pitchFamily="34" charset="-122"/>
                <a:cs typeface="Arial" pitchFamily="34" charset="-120"/>
              </a:rPr>
              <a:t>No gap here is a limitation of the platform itself</a:t>
            </a:r>
            <a:endParaRPr lang="en-US" sz="1800" dirty="0"/>
          </a:p>
        </p:txBody>
      </p:sp>
      <p:sp>
        <p:nvSpPr>
          <p:cNvPr id="6" name="Text 4"/>
          <p:cNvSpPr/>
          <p:nvPr/>
        </p:nvSpPr>
        <p:spPr>
          <a:xfrm>
            <a:off x="609540" y="1513626"/>
            <a:ext cx="2116393"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416180"/>
                </a:solidFill>
                <a:latin typeface="Arial" pitchFamily="34" charset="0"/>
                <a:ea typeface="Arial" pitchFamily="34" charset="-122"/>
                <a:cs typeface="Arial" pitchFamily="34" charset="-120"/>
              </a:rPr>
              <a:t>ACCESS</a:t>
            </a:r>
            <a:endParaRPr lang="en-US" sz="1800" dirty="0"/>
          </a:p>
        </p:txBody>
      </p:sp>
      <p:sp>
        <p:nvSpPr>
          <p:cNvPr id="7" name="Shape 5"/>
          <p:cNvSpPr/>
          <p:nvPr/>
        </p:nvSpPr>
        <p:spPr>
          <a:xfrm>
            <a:off x="609540" y="2039272"/>
            <a:ext cx="1923994" cy="1098299"/>
          </a:xfrm>
          <a:prstGeom prst="rect">
            <a:avLst/>
          </a:prstGeom>
          <a:ln w="8695">
            <a:solidFill>
              <a:srgbClr val="1F1F1F">
                <a:alpha val="16000"/>
              </a:srgbClr>
            </a:solidFill>
            <a:prstDash val="solid"/>
          </a:ln>
        </p:spPr>
        <p:txBody>
          <a:bodyPr/>
          <a:lstStyle/>
          <a:p>
            <a:endParaRPr lang="en-US"/>
          </a:p>
        </p:txBody>
      </p:sp>
      <p:sp>
        <p:nvSpPr>
          <p:cNvPr id="8" name="Text 6"/>
          <p:cNvSpPr/>
          <p:nvPr/>
        </p:nvSpPr>
        <p:spPr>
          <a:xfrm>
            <a:off x="770603" y="2219355"/>
            <a:ext cx="1762054" cy="421975"/>
          </a:xfrm>
          <a:prstGeom prst="rect">
            <a:avLst/>
          </a:prstGeom>
          <a:noFill/>
          <a:ln/>
        </p:spPr>
        <p:txBody>
          <a:bodyPr wrap="square" lIns="25400" tIns="25400" rIns="25400" bIns="25400" rtlCol="0" anchor="t">
            <a:normAutofit/>
          </a:bodyPr>
          <a:lstStyle/>
          <a:p>
            <a:pPr marL="0" indent="0" algn="l">
              <a:lnSpc>
                <a:spcPct val="133777"/>
              </a:lnSpc>
              <a:buNone/>
            </a:pPr>
            <a:r>
              <a:rPr lang="en-US" sz="1950" dirty="0">
                <a:solidFill>
                  <a:srgbClr val="1D1F20"/>
                </a:solidFill>
                <a:latin typeface="Arial" pitchFamily="34" charset="0"/>
                <a:ea typeface="Arial" pitchFamily="34" charset="-122"/>
                <a:cs typeface="Arial" pitchFamily="34" charset="-120"/>
              </a:rPr>
              <a:t>User</a:t>
            </a:r>
            <a:endParaRPr lang="en-US" sz="1950" dirty="0"/>
          </a:p>
        </p:txBody>
      </p:sp>
      <p:sp>
        <p:nvSpPr>
          <p:cNvPr id="9" name="Text 7"/>
          <p:cNvSpPr/>
          <p:nvPr/>
        </p:nvSpPr>
        <p:spPr>
          <a:xfrm>
            <a:off x="770603" y="2603230"/>
            <a:ext cx="1762054"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Browser client</a:t>
            </a:r>
            <a:endParaRPr lang="en-US" sz="1800" dirty="0"/>
          </a:p>
        </p:txBody>
      </p:sp>
      <p:sp>
        <p:nvSpPr>
          <p:cNvPr id="10" name="Text 8"/>
          <p:cNvSpPr/>
          <p:nvPr/>
        </p:nvSpPr>
        <p:spPr>
          <a:xfrm>
            <a:off x="513340" y="3308959"/>
            <a:ext cx="2116393" cy="285774"/>
          </a:xfrm>
          <a:prstGeom prst="rect">
            <a:avLst/>
          </a:prstGeom>
          <a:noFill/>
          <a:ln/>
        </p:spPr>
        <p:txBody>
          <a:bodyPr wrap="square" lIns="25400" tIns="25400" rIns="25400" bIns="25400" rtlCol="0" anchor="t">
            <a:normAutofit lnSpcReduction="10000"/>
          </a:bodyPr>
          <a:lstStyle/>
          <a:p>
            <a:pPr marL="0" indent="0" algn="ctr">
              <a:lnSpc>
                <a:spcPct val="86308"/>
              </a:lnSpc>
              <a:buNone/>
            </a:pPr>
            <a:r>
              <a:rPr lang="en-US" sz="1950" dirty="0">
                <a:solidFill>
                  <a:srgbClr val="597EA3"/>
                </a:solidFill>
                <a:latin typeface="Arial" pitchFamily="34" charset="0"/>
                <a:ea typeface="Arial" pitchFamily="34" charset="-122"/>
                <a:cs typeface="Arial" pitchFamily="34" charset="-120"/>
              </a:rPr>
              <a:t>▼</a:t>
            </a:r>
            <a:endParaRPr lang="en-US" sz="1950" dirty="0"/>
          </a:p>
        </p:txBody>
      </p:sp>
      <p:sp>
        <p:nvSpPr>
          <p:cNvPr id="11" name="Shape 9"/>
          <p:cNvSpPr/>
          <p:nvPr/>
        </p:nvSpPr>
        <p:spPr>
          <a:xfrm>
            <a:off x="609540" y="3728022"/>
            <a:ext cx="1923994" cy="2468796"/>
          </a:xfrm>
          <a:prstGeom prst="rect">
            <a:avLst/>
          </a:prstGeom>
          <a:ln w="8695">
            <a:solidFill>
              <a:srgbClr val="1F1F1F">
                <a:alpha val="16000"/>
              </a:srgbClr>
            </a:solidFill>
            <a:prstDash val="solid"/>
          </a:ln>
        </p:spPr>
        <p:txBody>
          <a:bodyPr/>
          <a:lstStyle/>
          <a:p>
            <a:endParaRPr lang="en-US"/>
          </a:p>
        </p:txBody>
      </p:sp>
      <p:sp>
        <p:nvSpPr>
          <p:cNvPr id="12" name="Text 10"/>
          <p:cNvSpPr/>
          <p:nvPr/>
        </p:nvSpPr>
        <p:spPr>
          <a:xfrm>
            <a:off x="770603" y="3908106"/>
            <a:ext cx="1678067" cy="805850"/>
          </a:xfrm>
          <a:prstGeom prst="rect">
            <a:avLst/>
          </a:prstGeom>
          <a:noFill/>
          <a:ln/>
        </p:spPr>
        <p:txBody>
          <a:bodyPr wrap="square" lIns="25400" tIns="25400" rIns="25400" bIns="25400" rtlCol="0" anchor="t">
            <a:normAutofit lnSpcReduction="10000"/>
          </a:bodyPr>
          <a:lstStyle/>
          <a:p>
            <a:pPr marL="0" indent="0" algn="l">
              <a:lnSpc>
                <a:spcPct val="133777"/>
              </a:lnSpc>
              <a:buNone/>
            </a:pPr>
            <a:r>
              <a:rPr lang="en-US" sz="1950" dirty="0">
                <a:solidFill>
                  <a:srgbClr val="1D1F20"/>
                </a:solidFill>
                <a:latin typeface="Arial" pitchFamily="34" charset="0"/>
                <a:ea typeface="Arial" pitchFamily="34" charset="-122"/>
                <a:cs typeface="Arial" pitchFamily="34" charset="-120"/>
              </a:rPr>
              <a:t>WebSEAL junction</a:t>
            </a:r>
            <a:endParaRPr lang="en-US" sz="1950" dirty="0"/>
          </a:p>
        </p:txBody>
      </p:sp>
      <p:sp>
        <p:nvSpPr>
          <p:cNvPr id="13" name="Text 11"/>
          <p:cNvSpPr/>
          <p:nvPr/>
        </p:nvSpPr>
        <p:spPr>
          <a:xfrm>
            <a:off x="770603" y="4675855"/>
            <a:ext cx="1762054"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Enterprise SSO</a:t>
            </a:r>
            <a:endParaRPr lang="en-US" sz="1800" dirty="0"/>
          </a:p>
        </p:txBody>
      </p:sp>
      <p:sp>
        <p:nvSpPr>
          <p:cNvPr id="14" name="Text 12"/>
          <p:cNvSpPr/>
          <p:nvPr/>
        </p:nvSpPr>
        <p:spPr>
          <a:xfrm>
            <a:off x="770603" y="5125351"/>
            <a:ext cx="1678067" cy="929483"/>
          </a:xfrm>
          <a:prstGeom prst="rect">
            <a:avLst/>
          </a:prstGeom>
          <a:noFill/>
          <a:ln/>
        </p:spPr>
        <p:txBody>
          <a:bodyPr wrap="square" lIns="25400" tIns="25400" rIns="25400" bIns="25400" rtlCol="0" anchor="t">
            <a:normAutofit lnSpcReduction="10000"/>
          </a:bodyPr>
          <a:lstStyle/>
          <a:p>
            <a:pPr marL="0" indent="0" algn="l">
              <a:lnSpc>
                <a:spcPct val="112059"/>
              </a:lnSpc>
              <a:buNone/>
            </a:pPr>
            <a:r>
              <a:rPr lang="en-US" sz="1800" dirty="0">
                <a:solidFill>
                  <a:srgbClr val="C8651B"/>
                </a:solidFill>
                <a:latin typeface="Arial" pitchFamily="34" charset="0"/>
                <a:ea typeface="Arial" pitchFamily="34" charset="-122"/>
                <a:cs typeface="Arial" pitchFamily="34" charset="-120"/>
              </a:rPr>
              <a:t>Open: Entra ID or WebSEAL token?</a:t>
            </a:r>
            <a:endParaRPr lang="en-US" sz="1800" dirty="0"/>
          </a:p>
        </p:txBody>
      </p:sp>
      <p:sp>
        <p:nvSpPr>
          <p:cNvPr id="15" name="Shape 13"/>
          <p:cNvSpPr/>
          <p:nvPr/>
        </p:nvSpPr>
        <p:spPr>
          <a:xfrm>
            <a:off x="2704922" y="1513626"/>
            <a:ext cx="7304967" cy="7904793"/>
          </a:xfrm>
          <a:prstGeom prst="rect">
            <a:avLst/>
          </a:prstGeom>
          <a:solidFill>
            <a:srgbClr val="1D2D3D"/>
          </a:solidFill>
          <a:ln/>
        </p:spPr>
        <p:txBody>
          <a:bodyPr/>
          <a:lstStyle/>
          <a:p>
            <a:endParaRPr lang="en-US"/>
          </a:p>
        </p:txBody>
      </p:sp>
      <p:sp>
        <p:nvSpPr>
          <p:cNvPr id="16" name="Text 14"/>
          <p:cNvSpPr/>
          <p:nvPr/>
        </p:nvSpPr>
        <p:spPr>
          <a:xfrm>
            <a:off x="2971617" y="1761232"/>
            <a:ext cx="3929259" cy="392357"/>
          </a:xfrm>
          <a:prstGeom prst="rect">
            <a:avLst/>
          </a:prstGeom>
          <a:noFill/>
          <a:ln/>
        </p:spPr>
        <p:txBody>
          <a:bodyPr wrap="square" lIns="25400" tIns="25400" rIns="25400" bIns="25400" rtlCol="0" anchor="t">
            <a:normAutofit fontScale="85000" lnSpcReduction="10000"/>
          </a:bodyPr>
          <a:lstStyle/>
          <a:p>
            <a:pPr marL="0" indent="0" algn="l">
              <a:lnSpc>
                <a:spcPct val="133608"/>
              </a:lnSpc>
              <a:buNone/>
            </a:pPr>
            <a:r>
              <a:rPr lang="en-US" sz="1800" kern="0" spc="252" dirty="0">
                <a:solidFill>
                  <a:srgbClr val="B5D9FD"/>
                </a:solidFill>
                <a:latin typeface="Arial" pitchFamily="34" charset="0"/>
                <a:ea typeface="Arial" pitchFamily="34" charset="-122"/>
                <a:cs typeface="Arial" pitchFamily="34" charset="-120"/>
              </a:rPr>
              <a:t>WE BUILT IT · WE MAINTAIN IT</a:t>
            </a:r>
            <a:endParaRPr lang="en-US" sz="1800" dirty="0"/>
          </a:p>
        </p:txBody>
      </p:sp>
      <p:sp>
        <p:nvSpPr>
          <p:cNvPr id="17" name="Text 15"/>
          <p:cNvSpPr/>
          <p:nvPr/>
        </p:nvSpPr>
        <p:spPr>
          <a:xfrm>
            <a:off x="2971617" y="2153530"/>
            <a:ext cx="3929259" cy="518096"/>
          </a:xfrm>
          <a:prstGeom prst="rect">
            <a:avLst/>
          </a:prstGeom>
          <a:noFill/>
          <a:ln/>
        </p:spPr>
        <p:txBody>
          <a:bodyPr wrap="square" lIns="25400" tIns="25400" rIns="25400" bIns="25400" rtlCol="0" anchor="t">
            <a:normAutofit fontScale="77500" lnSpcReduction="20000"/>
          </a:bodyPr>
          <a:lstStyle/>
          <a:p>
            <a:pPr marL="0" indent="0" algn="l">
              <a:lnSpc>
                <a:spcPct val="92017"/>
              </a:lnSpc>
              <a:buNone/>
            </a:pPr>
            <a:r>
              <a:rPr lang="en-US" sz="3600" dirty="0">
                <a:solidFill>
                  <a:srgbClr val="F2F2F3"/>
                </a:solidFill>
                <a:latin typeface="Arial" pitchFamily="34" charset="0"/>
                <a:ea typeface="Arial" pitchFamily="34" charset="-122"/>
                <a:cs typeface="Arial" pitchFamily="34" charset="-120"/>
              </a:rPr>
              <a:t>The AI Chat Application</a:t>
            </a:r>
            <a:endParaRPr lang="en-US" sz="3600" dirty="0"/>
          </a:p>
        </p:txBody>
      </p:sp>
      <p:sp>
        <p:nvSpPr>
          <p:cNvPr id="18" name="Text 16"/>
          <p:cNvSpPr/>
          <p:nvPr/>
        </p:nvSpPr>
        <p:spPr>
          <a:xfrm>
            <a:off x="9093389" y="1761232"/>
            <a:ext cx="649805" cy="632355"/>
          </a:xfrm>
          <a:prstGeom prst="rect">
            <a:avLst/>
          </a:prstGeom>
          <a:noFill/>
          <a:ln/>
        </p:spPr>
        <p:txBody>
          <a:bodyPr wrap="square" lIns="25400" tIns="25400" rIns="25400" bIns="25400" rtlCol="0" anchor="t">
            <a:normAutofit fontScale="77500" lnSpcReduction="20000"/>
          </a:bodyPr>
          <a:lstStyle/>
          <a:p>
            <a:pPr marL="0" indent="0" algn="r">
              <a:lnSpc>
                <a:spcPct val="112059"/>
              </a:lnSpc>
              <a:buNone/>
            </a:pPr>
            <a:r>
              <a:rPr lang="en-US" sz="1800" kern="0" spc="180" dirty="0">
                <a:solidFill>
                  <a:srgbClr val="E8A06A"/>
                </a:solidFill>
                <a:latin typeface="Arial" pitchFamily="34" charset="0"/>
                <a:ea typeface="Arial" pitchFamily="34" charset="-122"/>
                <a:cs typeface="Arial" pitchFamily="34" charset="-120"/>
              </a:rPr>
              <a:t>3 of 5 GAPS</a:t>
            </a:r>
            <a:endParaRPr lang="en-US" sz="1800" dirty="0"/>
          </a:p>
        </p:txBody>
      </p:sp>
      <p:sp>
        <p:nvSpPr>
          <p:cNvPr id="19" name="Shape 17"/>
          <p:cNvSpPr/>
          <p:nvPr/>
        </p:nvSpPr>
        <p:spPr>
          <a:xfrm>
            <a:off x="2971617" y="2824004"/>
            <a:ext cx="6771577" cy="9525"/>
          </a:xfrm>
          <a:prstGeom prst="rect">
            <a:avLst/>
          </a:prstGeom>
          <a:solidFill>
            <a:srgbClr val="416180"/>
          </a:solidFill>
          <a:ln/>
        </p:spPr>
        <p:txBody>
          <a:bodyPr/>
          <a:lstStyle/>
          <a:p>
            <a:endParaRPr lang="en-US"/>
          </a:p>
        </p:txBody>
      </p:sp>
      <p:sp>
        <p:nvSpPr>
          <p:cNvPr id="20" name="Text 18"/>
          <p:cNvSpPr/>
          <p:nvPr/>
        </p:nvSpPr>
        <p:spPr>
          <a:xfrm>
            <a:off x="2971617" y="3043012"/>
            <a:ext cx="3609144"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16" dirty="0">
                <a:solidFill>
                  <a:srgbClr val="B5D9FD"/>
                </a:solidFill>
                <a:latin typeface="Arial" pitchFamily="34" charset="0"/>
                <a:ea typeface="Arial" pitchFamily="34" charset="-122"/>
                <a:cs typeface="Arial" pitchFamily="34" charset="-120"/>
              </a:rPr>
              <a:t>RUNTIME</a:t>
            </a:r>
            <a:endParaRPr lang="en-US" sz="1800" dirty="0"/>
          </a:p>
        </p:txBody>
      </p:sp>
      <p:sp>
        <p:nvSpPr>
          <p:cNvPr id="21" name="Shape 19"/>
          <p:cNvSpPr/>
          <p:nvPr/>
        </p:nvSpPr>
        <p:spPr>
          <a:xfrm>
            <a:off x="2971617" y="3549637"/>
            <a:ext cx="3281040" cy="653083"/>
          </a:xfrm>
          <a:prstGeom prst="rect">
            <a:avLst/>
          </a:prstGeom>
          <a:ln w="8695">
            <a:solidFill>
              <a:srgbClr val="416180"/>
            </a:solidFill>
            <a:prstDash val="solid"/>
          </a:ln>
        </p:spPr>
        <p:txBody>
          <a:bodyPr/>
          <a:lstStyle/>
          <a:p>
            <a:endParaRPr lang="en-US"/>
          </a:p>
        </p:txBody>
      </p:sp>
      <p:sp>
        <p:nvSpPr>
          <p:cNvPr id="22" name="Text 20"/>
          <p:cNvSpPr/>
          <p:nvPr/>
        </p:nvSpPr>
        <p:spPr>
          <a:xfrm>
            <a:off x="3132680" y="3691679"/>
            <a:ext cx="3254805"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F2F2F3"/>
                </a:solidFill>
                <a:latin typeface="Arial" pitchFamily="34" charset="0"/>
                <a:ea typeface="Arial" pitchFamily="34" charset="-122"/>
                <a:cs typeface="Arial" pitchFamily="34" charset="-120"/>
              </a:rPr>
              <a:t>AI Chat frontend</a:t>
            </a:r>
            <a:endParaRPr lang="en-US" sz="1875" dirty="0"/>
          </a:p>
        </p:txBody>
      </p:sp>
      <p:sp>
        <p:nvSpPr>
          <p:cNvPr id="23" name="Shape 21"/>
          <p:cNvSpPr/>
          <p:nvPr/>
        </p:nvSpPr>
        <p:spPr>
          <a:xfrm>
            <a:off x="2971617" y="4355088"/>
            <a:ext cx="3281040" cy="1007340"/>
          </a:xfrm>
          <a:prstGeom prst="rect">
            <a:avLst/>
          </a:prstGeom>
          <a:ln w="8695">
            <a:solidFill>
              <a:srgbClr val="416180"/>
            </a:solidFill>
            <a:prstDash val="solid"/>
          </a:ln>
        </p:spPr>
        <p:txBody>
          <a:bodyPr/>
          <a:lstStyle/>
          <a:p>
            <a:endParaRPr lang="en-US"/>
          </a:p>
        </p:txBody>
      </p:sp>
      <p:sp>
        <p:nvSpPr>
          <p:cNvPr id="24" name="Text 22"/>
          <p:cNvSpPr/>
          <p:nvPr/>
        </p:nvSpPr>
        <p:spPr>
          <a:xfrm>
            <a:off x="3132680" y="4497130"/>
            <a:ext cx="3254805"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F2F2F3"/>
                </a:solidFill>
                <a:latin typeface="Arial" pitchFamily="34" charset="0"/>
                <a:ea typeface="Arial" pitchFamily="34" charset="-122"/>
                <a:cs typeface="Arial" pitchFamily="34" charset="-120"/>
              </a:rPr>
              <a:t>Backend router</a:t>
            </a:r>
            <a:endParaRPr lang="en-US" sz="1875" dirty="0"/>
          </a:p>
        </p:txBody>
      </p:sp>
      <p:sp>
        <p:nvSpPr>
          <p:cNvPr id="25" name="Text 23"/>
          <p:cNvSpPr/>
          <p:nvPr/>
        </p:nvSpPr>
        <p:spPr>
          <a:xfrm>
            <a:off x="3132680" y="4866129"/>
            <a:ext cx="3254805"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B5D9FD"/>
                </a:solidFill>
                <a:latin typeface="Arial" pitchFamily="34" charset="0"/>
                <a:ea typeface="Arial" pitchFamily="34" charset="-122"/>
                <a:cs typeface="Arial" pitchFamily="34" charset="-120"/>
              </a:rPr>
              <a:t>AWS EC2 · Python · FastAPI</a:t>
            </a:r>
            <a:endParaRPr lang="en-US" sz="1800" dirty="0"/>
          </a:p>
        </p:txBody>
      </p:sp>
      <p:sp>
        <p:nvSpPr>
          <p:cNvPr id="26" name="Shape 24"/>
          <p:cNvSpPr/>
          <p:nvPr/>
        </p:nvSpPr>
        <p:spPr>
          <a:xfrm>
            <a:off x="2971617" y="5514796"/>
            <a:ext cx="3281040" cy="1361598"/>
          </a:xfrm>
          <a:prstGeom prst="rect">
            <a:avLst/>
          </a:prstGeom>
          <a:ln w="8695">
            <a:solidFill>
              <a:srgbClr val="416180"/>
            </a:solidFill>
            <a:prstDash val="solid"/>
          </a:ln>
        </p:spPr>
        <p:txBody>
          <a:bodyPr/>
          <a:lstStyle/>
          <a:p>
            <a:endParaRPr lang="en-US"/>
          </a:p>
        </p:txBody>
      </p:sp>
      <p:sp>
        <p:nvSpPr>
          <p:cNvPr id="27" name="Text 25"/>
          <p:cNvSpPr/>
          <p:nvPr/>
        </p:nvSpPr>
        <p:spPr>
          <a:xfrm>
            <a:off x="3132680" y="5656838"/>
            <a:ext cx="3254805"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F2F2F3"/>
                </a:solidFill>
                <a:latin typeface="Arial" pitchFamily="34" charset="0"/>
                <a:ea typeface="Arial" pitchFamily="34" charset="-122"/>
                <a:cs typeface="Arial" pitchFamily="34" charset="-120"/>
              </a:rPr>
              <a:t>Ingestion worker</a:t>
            </a:r>
            <a:endParaRPr lang="en-US" sz="1875" dirty="0"/>
          </a:p>
        </p:txBody>
      </p:sp>
      <p:sp>
        <p:nvSpPr>
          <p:cNvPr id="28" name="Text 26"/>
          <p:cNvSpPr/>
          <p:nvPr/>
        </p:nvSpPr>
        <p:spPr>
          <a:xfrm>
            <a:off x="3132680" y="6025837"/>
            <a:ext cx="3047681" cy="746614"/>
          </a:xfrm>
          <a:prstGeom prst="rect">
            <a:avLst/>
          </a:prstGeom>
          <a:noFill/>
          <a:ln/>
        </p:spPr>
        <p:txBody>
          <a:bodyPr wrap="square" lIns="25400" tIns="25400" rIns="25400" bIns="25400" rtlCol="0" anchor="t">
            <a:normAutofit lnSpcReduction="10000"/>
          </a:bodyPr>
          <a:lstStyle/>
          <a:p>
            <a:pPr marL="0" indent="0" algn="l">
              <a:lnSpc>
                <a:spcPct val="133608"/>
              </a:lnSpc>
              <a:buNone/>
            </a:pPr>
            <a:r>
              <a:rPr lang="en-US" sz="1800" dirty="0">
                <a:solidFill>
                  <a:srgbClr val="B5D9FD"/>
                </a:solidFill>
                <a:latin typeface="Arial" pitchFamily="34" charset="0"/>
                <a:ea typeface="Arial" pitchFamily="34" charset="-122"/>
                <a:cs typeface="Arial" pitchFamily="34" charset="-120"/>
              </a:rPr>
              <a:t>Azure Function · ingesting from Azure Blob</a:t>
            </a:r>
            <a:endParaRPr lang="en-US" sz="1800" dirty="0"/>
          </a:p>
        </p:txBody>
      </p:sp>
      <p:sp>
        <p:nvSpPr>
          <p:cNvPr id="29" name="Shape 27"/>
          <p:cNvSpPr/>
          <p:nvPr/>
        </p:nvSpPr>
        <p:spPr>
          <a:xfrm>
            <a:off x="2971617" y="7028762"/>
            <a:ext cx="3281040" cy="1730596"/>
          </a:xfrm>
          <a:prstGeom prst="rect">
            <a:avLst/>
          </a:prstGeom>
          <a:ln w="8695">
            <a:solidFill>
              <a:srgbClr val="416180"/>
            </a:solidFill>
            <a:prstDash val="solid"/>
          </a:ln>
        </p:spPr>
        <p:txBody>
          <a:bodyPr/>
          <a:lstStyle/>
          <a:p>
            <a:endParaRPr lang="en-US"/>
          </a:p>
        </p:txBody>
      </p:sp>
      <p:sp>
        <p:nvSpPr>
          <p:cNvPr id="30" name="Text 28"/>
          <p:cNvSpPr/>
          <p:nvPr/>
        </p:nvSpPr>
        <p:spPr>
          <a:xfrm>
            <a:off x="3132680" y="7170804"/>
            <a:ext cx="2616119" cy="776096"/>
          </a:xfrm>
          <a:prstGeom prst="rect">
            <a:avLst/>
          </a:prstGeom>
          <a:noFill/>
          <a:ln/>
        </p:spPr>
        <p:txBody>
          <a:bodyPr wrap="square" lIns="25400" tIns="25400" rIns="25400" bIns="25400" rtlCol="0" anchor="t">
            <a:normAutofit lnSpcReduction="10000"/>
          </a:bodyPr>
          <a:lstStyle/>
          <a:p>
            <a:pPr marL="0" indent="0" algn="l">
              <a:lnSpc>
                <a:spcPct val="132652"/>
              </a:lnSpc>
              <a:buNone/>
            </a:pPr>
            <a:r>
              <a:rPr lang="en-US" sz="1875" dirty="0">
                <a:solidFill>
                  <a:srgbClr val="F2F2F3"/>
                </a:solidFill>
                <a:latin typeface="Arial" pitchFamily="34" charset="0"/>
                <a:ea typeface="Arial" pitchFamily="34" charset="-122"/>
                <a:cs typeface="Arial" pitchFamily="34" charset="-120"/>
              </a:rPr>
              <a:t>SharePoint migration hop</a:t>
            </a:r>
            <a:endParaRPr lang="en-US" sz="1875" dirty="0"/>
          </a:p>
        </p:txBody>
      </p:sp>
      <p:sp>
        <p:nvSpPr>
          <p:cNvPr id="31" name="Text 29"/>
          <p:cNvSpPr/>
          <p:nvPr/>
        </p:nvSpPr>
        <p:spPr>
          <a:xfrm>
            <a:off x="3132680" y="7908800"/>
            <a:ext cx="2616119" cy="746614"/>
          </a:xfrm>
          <a:prstGeom prst="rect">
            <a:avLst/>
          </a:prstGeom>
          <a:noFill/>
          <a:ln/>
        </p:spPr>
        <p:txBody>
          <a:bodyPr wrap="square" lIns="25400" tIns="25400" rIns="25400" bIns="25400" rtlCol="0" anchor="t">
            <a:normAutofit lnSpcReduction="10000"/>
          </a:bodyPr>
          <a:lstStyle/>
          <a:p>
            <a:pPr marL="0" indent="0" algn="l">
              <a:lnSpc>
                <a:spcPct val="133608"/>
              </a:lnSpc>
              <a:buNone/>
            </a:pPr>
            <a:r>
              <a:rPr lang="en-US" sz="1800" dirty="0">
                <a:solidFill>
                  <a:srgbClr val="B5D9FD"/>
                </a:solidFill>
                <a:latin typeface="Arial" pitchFamily="34" charset="0"/>
                <a:ea typeface="Arial" pitchFamily="34" charset="-122"/>
                <a:cs typeface="Arial" pitchFamily="34" charset="-120"/>
              </a:rPr>
              <a:t>Copied to Blob before indexing</a:t>
            </a:r>
            <a:endParaRPr lang="en-US" sz="1800" dirty="0"/>
          </a:p>
        </p:txBody>
      </p:sp>
      <p:sp>
        <p:nvSpPr>
          <p:cNvPr id="32" name="Shape 30"/>
          <p:cNvSpPr/>
          <p:nvPr/>
        </p:nvSpPr>
        <p:spPr>
          <a:xfrm>
            <a:off x="5786858" y="7170804"/>
            <a:ext cx="304736" cy="304736"/>
          </a:xfrm>
          <a:prstGeom prst="rect">
            <a:avLst/>
          </a:prstGeom>
          <a:solidFill>
            <a:srgbClr val="C8651B"/>
          </a:solidFill>
          <a:ln/>
        </p:spPr>
        <p:txBody>
          <a:bodyPr/>
          <a:lstStyle/>
          <a:p>
            <a:endParaRPr lang="en-US"/>
          </a:p>
        </p:txBody>
      </p:sp>
      <p:sp>
        <p:nvSpPr>
          <p:cNvPr id="33" name="Text 31"/>
          <p:cNvSpPr/>
          <p:nvPr/>
        </p:nvSpPr>
        <p:spPr>
          <a:xfrm>
            <a:off x="5748758" y="7170804"/>
            <a:ext cx="380936" cy="342836"/>
          </a:xfrm>
          <a:prstGeom prst="rect">
            <a:avLst/>
          </a:prstGeom>
          <a:noFill/>
          <a:ln/>
        </p:spPr>
        <p:txBody>
          <a:bodyPr wrap="square" lIns="25400" tIns="25400" rIns="25400" bIns="25400" rtlCol="0" anchor="ctr">
            <a:normAutofit lnSpcReduction="10000"/>
          </a:bodyPr>
          <a:lstStyle/>
          <a:p>
            <a:pPr marL="0" indent="0" algn="ctr">
              <a:lnSpc>
                <a:spcPct val="133410"/>
              </a:lnSpc>
              <a:buNone/>
            </a:pPr>
            <a:r>
              <a:rPr lang="en-US" sz="1650" dirty="0">
                <a:solidFill>
                  <a:srgbClr val="F2F2F3"/>
                </a:solidFill>
                <a:latin typeface="Arial" pitchFamily="34" charset="0"/>
                <a:ea typeface="Arial" pitchFamily="34" charset="-122"/>
                <a:cs typeface="Arial" pitchFamily="34" charset="-120"/>
              </a:rPr>
              <a:t>3</a:t>
            </a:r>
            <a:endParaRPr lang="en-US" sz="1650" dirty="0"/>
          </a:p>
        </p:txBody>
      </p:sp>
      <p:sp>
        <p:nvSpPr>
          <p:cNvPr id="34" name="Text 32"/>
          <p:cNvSpPr/>
          <p:nvPr/>
        </p:nvSpPr>
        <p:spPr>
          <a:xfrm>
            <a:off x="6462154" y="3043012"/>
            <a:ext cx="3379471" cy="746614"/>
          </a:xfrm>
          <a:prstGeom prst="rect">
            <a:avLst/>
          </a:prstGeom>
          <a:noFill/>
          <a:ln/>
        </p:spPr>
        <p:txBody>
          <a:bodyPr wrap="square" lIns="25400" tIns="25400" rIns="25400" bIns="25400" rtlCol="0" anchor="t">
            <a:normAutofit lnSpcReduction="10000"/>
          </a:bodyPr>
          <a:lstStyle/>
          <a:p>
            <a:pPr marL="0" indent="0" algn="l">
              <a:lnSpc>
                <a:spcPct val="133608"/>
              </a:lnSpc>
              <a:buNone/>
            </a:pPr>
            <a:r>
              <a:rPr lang="en-US" sz="1800" kern="0" spc="216" dirty="0">
                <a:solidFill>
                  <a:srgbClr val="B5D9FD"/>
                </a:solidFill>
                <a:latin typeface="Arial" pitchFamily="34" charset="0"/>
                <a:ea typeface="Arial" pitchFamily="34" charset="-122"/>
                <a:cs typeface="Arial" pitchFamily="34" charset="-120"/>
              </a:rPr>
              <a:t>CUSTOM FUNCTIONS &amp; DATA WE KEEP</a:t>
            </a:r>
            <a:endParaRPr lang="en-US" sz="1800" dirty="0"/>
          </a:p>
        </p:txBody>
      </p:sp>
      <p:sp>
        <p:nvSpPr>
          <p:cNvPr id="35" name="Shape 33"/>
          <p:cNvSpPr/>
          <p:nvPr/>
        </p:nvSpPr>
        <p:spPr>
          <a:xfrm>
            <a:off x="6462154" y="3903894"/>
            <a:ext cx="3281040" cy="3021682"/>
          </a:xfrm>
          <a:prstGeom prst="rect">
            <a:avLst/>
          </a:prstGeom>
          <a:ln w="8695">
            <a:solidFill>
              <a:srgbClr val="416180"/>
            </a:solidFill>
            <a:prstDash val="solid"/>
          </a:ln>
        </p:spPr>
        <p:txBody>
          <a:bodyPr/>
          <a:lstStyle/>
          <a:p>
            <a:endParaRPr lang="en-US"/>
          </a:p>
        </p:txBody>
      </p:sp>
      <p:sp>
        <p:nvSpPr>
          <p:cNvPr id="36" name="Shape 34"/>
          <p:cNvSpPr/>
          <p:nvPr/>
        </p:nvSpPr>
        <p:spPr>
          <a:xfrm>
            <a:off x="6623217" y="4089684"/>
            <a:ext cx="266695" cy="266695"/>
          </a:xfrm>
          <a:prstGeom prst="rect">
            <a:avLst/>
          </a:prstGeom>
          <a:solidFill>
            <a:srgbClr val="C8651B"/>
          </a:solidFill>
          <a:ln/>
        </p:spPr>
        <p:txBody>
          <a:bodyPr/>
          <a:lstStyle/>
          <a:p>
            <a:endParaRPr lang="en-US"/>
          </a:p>
        </p:txBody>
      </p:sp>
      <p:sp>
        <p:nvSpPr>
          <p:cNvPr id="37" name="Text 35"/>
          <p:cNvSpPr/>
          <p:nvPr/>
        </p:nvSpPr>
        <p:spPr>
          <a:xfrm>
            <a:off x="6585117" y="4089684"/>
            <a:ext cx="342895" cy="304795"/>
          </a:xfrm>
          <a:prstGeom prst="rect">
            <a:avLst/>
          </a:prstGeom>
          <a:noFill/>
          <a:ln/>
        </p:spPr>
        <p:txBody>
          <a:bodyPr wrap="square" lIns="25400" tIns="25400" rIns="25400" bIns="25400" rtlCol="0" anchor="ctr">
            <a:normAutofit fontScale="92500" lnSpcReduction="10000"/>
          </a:bodyPr>
          <a:lstStyle/>
          <a:p>
            <a:pPr marL="0" indent="0" algn="ctr">
              <a:lnSpc>
                <a:spcPct val="135835"/>
              </a:lnSpc>
              <a:buNone/>
            </a:pPr>
            <a:r>
              <a:rPr lang="en-US" sz="1500" dirty="0">
                <a:solidFill>
                  <a:srgbClr val="F2F2F3"/>
                </a:solidFill>
                <a:latin typeface="Arial" pitchFamily="34" charset="0"/>
                <a:ea typeface="Arial" pitchFamily="34" charset="-122"/>
                <a:cs typeface="Arial" pitchFamily="34" charset="-120"/>
              </a:rPr>
              <a:t>1</a:t>
            </a:r>
            <a:endParaRPr lang="en-US" sz="1500" dirty="0"/>
          </a:p>
        </p:txBody>
      </p:sp>
      <p:sp>
        <p:nvSpPr>
          <p:cNvPr id="38" name="Text 36"/>
          <p:cNvSpPr/>
          <p:nvPr/>
        </p:nvSpPr>
        <p:spPr>
          <a:xfrm>
            <a:off x="7004171" y="4045936"/>
            <a:ext cx="1989513"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F2F2F3"/>
                </a:solidFill>
                <a:latin typeface="Arial" pitchFamily="34" charset="0"/>
                <a:ea typeface="Arial" pitchFamily="34" charset="-122"/>
                <a:cs typeface="Arial" pitchFamily="34" charset="-120"/>
              </a:rPr>
              <a:t>Team space mgmt</a:t>
            </a:r>
            <a:endParaRPr lang="en-US" sz="1800" dirty="0"/>
          </a:p>
        </p:txBody>
      </p:sp>
      <p:sp>
        <p:nvSpPr>
          <p:cNvPr id="39" name="Shape 37"/>
          <p:cNvSpPr/>
          <p:nvPr/>
        </p:nvSpPr>
        <p:spPr>
          <a:xfrm>
            <a:off x="7004171" y="4447813"/>
            <a:ext cx="1066983" cy="287821"/>
          </a:xfrm>
          <a:prstGeom prst="rect">
            <a:avLst/>
          </a:prstGeom>
          <a:ln w="8695">
            <a:solidFill>
              <a:srgbClr val="597EA3"/>
            </a:solidFill>
            <a:prstDash val="solid"/>
          </a:ln>
        </p:spPr>
        <p:txBody>
          <a:bodyPr/>
          <a:lstStyle/>
          <a:p>
            <a:endParaRPr lang="en-US"/>
          </a:p>
        </p:txBody>
      </p:sp>
      <p:sp>
        <p:nvSpPr>
          <p:cNvPr id="40" name="Text 38"/>
          <p:cNvSpPr/>
          <p:nvPr/>
        </p:nvSpPr>
        <p:spPr>
          <a:xfrm>
            <a:off x="7089066" y="4466033"/>
            <a:ext cx="1003891" cy="289481"/>
          </a:xfrm>
          <a:prstGeom prst="rect">
            <a:avLst/>
          </a:prstGeom>
          <a:noFill/>
          <a:ln/>
        </p:spPr>
        <p:txBody>
          <a:bodyPr wrap="none" lIns="25400" tIns="25400" rIns="25400" bIns="25400" rtlCol="0" anchor="ctr">
            <a:normAutofit/>
          </a:bodyPr>
          <a:lstStyle/>
          <a:p>
            <a:pPr marL="0" indent="0" algn="ctr">
              <a:lnSpc>
                <a:spcPct val="94819"/>
              </a:lnSpc>
              <a:buNone/>
            </a:pPr>
            <a:r>
              <a:rPr lang="en-US" sz="1200" kern="0" spc="108" dirty="0">
                <a:solidFill>
                  <a:srgbClr val="B5D9FD"/>
                </a:solidFill>
                <a:latin typeface="Arial" pitchFamily="34" charset="0"/>
                <a:ea typeface="Arial" pitchFamily="34" charset="-122"/>
                <a:cs typeface="Arial" pitchFamily="34" charset="-120"/>
              </a:rPr>
              <a:t>CODEBASE</a:t>
            </a:r>
            <a:endParaRPr lang="en-US" sz="1200" dirty="0"/>
          </a:p>
        </p:txBody>
      </p:sp>
      <p:sp>
        <p:nvSpPr>
          <p:cNvPr id="41" name="Shape 39"/>
          <p:cNvSpPr/>
          <p:nvPr/>
        </p:nvSpPr>
        <p:spPr>
          <a:xfrm>
            <a:off x="8147304" y="4447813"/>
            <a:ext cx="1022149" cy="287821"/>
          </a:xfrm>
          <a:prstGeom prst="rect">
            <a:avLst/>
          </a:prstGeom>
          <a:ln w="8695">
            <a:solidFill>
              <a:srgbClr val="597EA3"/>
            </a:solidFill>
            <a:prstDash val="solid"/>
          </a:ln>
        </p:spPr>
        <p:txBody>
          <a:bodyPr/>
          <a:lstStyle/>
          <a:p>
            <a:endParaRPr lang="en-US"/>
          </a:p>
        </p:txBody>
      </p:sp>
      <p:sp>
        <p:nvSpPr>
          <p:cNvPr id="42" name="Text 40"/>
          <p:cNvSpPr/>
          <p:nvPr/>
        </p:nvSpPr>
        <p:spPr>
          <a:xfrm>
            <a:off x="8232200" y="4466033"/>
            <a:ext cx="954574" cy="289481"/>
          </a:xfrm>
          <a:prstGeom prst="rect">
            <a:avLst/>
          </a:prstGeom>
          <a:noFill/>
          <a:ln/>
        </p:spPr>
        <p:txBody>
          <a:bodyPr wrap="none" lIns="25400" tIns="25400" rIns="25400" bIns="25400" rtlCol="0" anchor="ctr">
            <a:normAutofit/>
          </a:bodyPr>
          <a:lstStyle/>
          <a:p>
            <a:pPr marL="0" indent="0" algn="ctr">
              <a:lnSpc>
                <a:spcPct val="94819"/>
              </a:lnSpc>
              <a:buNone/>
            </a:pPr>
            <a:r>
              <a:rPr lang="en-US" sz="1200" kern="0" spc="108" dirty="0">
                <a:solidFill>
                  <a:srgbClr val="B5D9FD"/>
                </a:solidFill>
                <a:latin typeface="Arial" pitchFamily="34" charset="0"/>
                <a:ea typeface="Arial" pitchFamily="34" charset="-122"/>
                <a:cs typeface="Arial" pitchFamily="34" charset="-120"/>
              </a:rPr>
              <a:t>DATABASE</a:t>
            </a:r>
            <a:endParaRPr lang="en-US" sz="1200" dirty="0"/>
          </a:p>
        </p:txBody>
      </p:sp>
      <p:sp>
        <p:nvSpPr>
          <p:cNvPr id="43" name="Shape 41"/>
          <p:cNvSpPr/>
          <p:nvPr/>
        </p:nvSpPr>
        <p:spPr>
          <a:xfrm>
            <a:off x="6623217" y="4884130"/>
            <a:ext cx="266695" cy="266695"/>
          </a:xfrm>
          <a:prstGeom prst="rect">
            <a:avLst/>
          </a:prstGeom>
          <a:solidFill>
            <a:srgbClr val="C8651B"/>
          </a:solidFill>
          <a:ln/>
        </p:spPr>
        <p:txBody>
          <a:bodyPr/>
          <a:lstStyle/>
          <a:p>
            <a:endParaRPr lang="en-US"/>
          </a:p>
        </p:txBody>
      </p:sp>
      <p:sp>
        <p:nvSpPr>
          <p:cNvPr id="44" name="Text 42"/>
          <p:cNvSpPr/>
          <p:nvPr/>
        </p:nvSpPr>
        <p:spPr>
          <a:xfrm>
            <a:off x="6585117" y="4884130"/>
            <a:ext cx="342895" cy="304795"/>
          </a:xfrm>
          <a:prstGeom prst="rect">
            <a:avLst/>
          </a:prstGeom>
          <a:noFill/>
          <a:ln/>
        </p:spPr>
        <p:txBody>
          <a:bodyPr wrap="square" lIns="25400" tIns="25400" rIns="25400" bIns="25400" rtlCol="0" anchor="ctr">
            <a:normAutofit fontScale="92500" lnSpcReduction="10000"/>
          </a:bodyPr>
          <a:lstStyle/>
          <a:p>
            <a:pPr marL="0" indent="0" algn="ctr">
              <a:lnSpc>
                <a:spcPct val="135835"/>
              </a:lnSpc>
              <a:buNone/>
            </a:pPr>
            <a:r>
              <a:rPr lang="en-US" sz="1500" dirty="0">
                <a:solidFill>
                  <a:srgbClr val="F2F2F3"/>
                </a:solidFill>
                <a:latin typeface="Arial" pitchFamily="34" charset="0"/>
                <a:ea typeface="Arial" pitchFamily="34" charset="-122"/>
                <a:cs typeface="Arial" pitchFamily="34" charset="-120"/>
              </a:rPr>
              <a:t>2</a:t>
            </a:r>
            <a:endParaRPr lang="en-US" sz="1500" dirty="0"/>
          </a:p>
        </p:txBody>
      </p:sp>
      <p:sp>
        <p:nvSpPr>
          <p:cNvPr id="45" name="Text 43"/>
          <p:cNvSpPr/>
          <p:nvPr/>
        </p:nvSpPr>
        <p:spPr>
          <a:xfrm>
            <a:off x="7004171" y="4840383"/>
            <a:ext cx="2622196"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F2F2F3"/>
                </a:solidFill>
                <a:latin typeface="Arial" pitchFamily="34" charset="0"/>
                <a:ea typeface="Arial" pitchFamily="34" charset="-122"/>
                <a:cs typeface="Arial" pitchFamily="34" charset="-120"/>
              </a:rPr>
              <a:t>Shared document mgmt</a:t>
            </a:r>
            <a:endParaRPr lang="en-US" sz="1800" dirty="0"/>
          </a:p>
        </p:txBody>
      </p:sp>
      <p:sp>
        <p:nvSpPr>
          <p:cNvPr id="46" name="Shape 44"/>
          <p:cNvSpPr/>
          <p:nvPr/>
        </p:nvSpPr>
        <p:spPr>
          <a:xfrm>
            <a:off x="7004171" y="5242259"/>
            <a:ext cx="1066983" cy="287821"/>
          </a:xfrm>
          <a:prstGeom prst="rect">
            <a:avLst/>
          </a:prstGeom>
          <a:ln w="8695">
            <a:solidFill>
              <a:srgbClr val="597EA3"/>
            </a:solidFill>
            <a:prstDash val="solid"/>
          </a:ln>
        </p:spPr>
        <p:txBody>
          <a:bodyPr/>
          <a:lstStyle/>
          <a:p>
            <a:endParaRPr lang="en-US"/>
          </a:p>
        </p:txBody>
      </p:sp>
      <p:sp>
        <p:nvSpPr>
          <p:cNvPr id="47" name="Text 45"/>
          <p:cNvSpPr/>
          <p:nvPr/>
        </p:nvSpPr>
        <p:spPr>
          <a:xfrm>
            <a:off x="7089066" y="5260479"/>
            <a:ext cx="1003891" cy="289481"/>
          </a:xfrm>
          <a:prstGeom prst="rect">
            <a:avLst/>
          </a:prstGeom>
          <a:noFill/>
          <a:ln/>
        </p:spPr>
        <p:txBody>
          <a:bodyPr wrap="none" lIns="25400" tIns="25400" rIns="25400" bIns="25400" rtlCol="0" anchor="ctr">
            <a:normAutofit/>
          </a:bodyPr>
          <a:lstStyle/>
          <a:p>
            <a:pPr marL="0" indent="0" algn="ctr">
              <a:lnSpc>
                <a:spcPct val="94819"/>
              </a:lnSpc>
              <a:buNone/>
            </a:pPr>
            <a:r>
              <a:rPr lang="en-US" sz="1400" kern="0" spc="108" dirty="0">
                <a:solidFill>
                  <a:srgbClr val="B5D9FD"/>
                </a:solidFill>
                <a:latin typeface="Arial" pitchFamily="34" charset="0"/>
                <a:ea typeface="Arial" pitchFamily="34" charset="-122"/>
                <a:cs typeface="Arial" pitchFamily="34" charset="-120"/>
              </a:rPr>
              <a:t>CODEBASE</a:t>
            </a:r>
            <a:endParaRPr lang="en-US" sz="1400" dirty="0"/>
          </a:p>
        </p:txBody>
      </p:sp>
      <p:sp>
        <p:nvSpPr>
          <p:cNvPr id="48" name="Shape 46"/>
          <p:cNvSpPr/>
          <p:nvPr/>
        </p:nvSpPr>
        <p:spPr>
          <a:xfrm>
            <a:off x="8147304" y="5242259"/>
            <a:ext cx="1022149" cy="287821"/>
          </a:xfrm>
          <a:prstGeom prst="rect">
            <a:avLst/>
          </a:prstGeom>
          <a:ln w="8695">
            <a:solidFill>
              <a:srgbClr val="597EA3"/>
            </a:solidFill>
            <a:prstDash val="solid"/>
          </a:ln>
        </p:spPr>
        <p:txBody>
          <a:bodyPr/>
          <a:lstStyle/>
          <a:p>
            <a:endParaRPr lang="en-US"/>
          </a:p>
        </p:txBody>
      </p:sp>
      <p:sp>
        <p:nvSpPr>
          <p:cNvPr id="49" name="Text 47"/>
          <p:cNvSpPr/>
          <p:nvPr/>
        </p:nvSpPr>
        <p:spPr>
          <a:xfrm>
            <a:off x="8232200" y="5260479"/>
            <a:ext cx="954574" cy="289481"/>
          </a:xfrm>
          <a:prstGeom prst="rect">
            <a:avLst/>
          </a:prstGeom>
          <a:noFill/>
          <a:ln/>
        </p:spPr>
        <p:txBody>
          <a:bodyPr wrap="none" lIns="25400" tIns="25400" rIns="25400" bIns="25400" rtlCol="0" anchor="ctr">
            <a:normAutofit/>
          </a:bodyPr>
          <a:lstStyle/>
          <a:p>
            <a:pPr marL="0" indent="0" algn="ctr">
              <a:lnSpc>
                <a:spcPct val="94819"/>
              </a:lnSpc>
              <a:buNone/>
            </a:pPr>
            <a:r>
              <a:rPr lang="en-US" sz="1400" kern="0" spc="108" dirty="0">
                <a:solidFill>
                  <a:srgbClr val="B5D9FD"/>
                </a:solidFill>
                <a:latin typeface="Arial" pitchFamily="34" charset="0"/>
                <a:ea typeface="Arial" pitchFamily="34" charset="-122"/>
                <a:cs typeface="Arial" pitchFamily="34" charset="-120"/>
              </a:rPr>
              <a:t>DATABASE</a:t>
            </a:r>
            <a:endParaRPr lang="en-US" sz="1400" dirty="0"/>
          </a:p>
        </p:txBody>
      </p:sp>
      <p:sp>
        <p:nvSpPr>
          <p:cNvPr id="50" name="Shape 48"/>
          <p:cNvSpPr/>
          <p:nvPr/>
        </p:nvSpPr>
        <p:spPr>
          <a:xfrm>
            <a:off x="6623217" y="5678577"/>
            <a:ext cx="266695" cy="266695"/>
          </a:xfrm>
          <a:prstGeom prst="rect">
            <a:avLst/>
          </a:prstGeom>
          <a:ln w="8695">
            <a:solidFill>
              <a:srgbClr val="597EA3"/>
            </a:solidFill>
            <a:prstDash val="solid"/>
          </a:ln>
        </p:spPr>
        <p:txBody>
          <a:bodyPr/>
          <a:lstStyle/>
          <a:p>
            <a:endParaRPr lang="en-US"/>
          </a:p>
        </p:txBody>
      </p:sp>
      <p:sp>
        <p:nvSpPr>
          <p:cNvPr id="51" name="Text 49"/>
          <p:cNvSpPr/>
          <p:nvPr/>
        </p:nvSpPr>
        <p:spPr>
          <a:xfrm>
            <a:off x="6593812" y="5687272"/>
            <a:ext cx="325505" cy="287405"/>
          </a:xfrm>
          <a:prstGeom prst="rect">
            <a:avLst/>
          </a:prstGeom>
          <a:noFill/>
          <a:ln/>
        </p:spPr>
        <p:txBody>
          <a:bodyPr wrap="square" lIns="25400" tIns="25400" rIns="25400" bIns="25400" rtlCol="0" anchor="ctr">
            <a:normAutofit fontScale="92500"/>
          </a:bodyPr>
          <a:lstStyle/>
          <a:p>
            <a:pPr marL="0" indent="0" algn="ctr">
              <a:lnSpc>
                <a:spcPct val="135835"/>
              </a:lnSpc>
              <a:buNone/>
            </a:pPr>
            <a:r>
              <a:rPr lang="en-US" sz="1350" dirty="0">
                <a:solidFill>
                  <a:srgbClr val="B5D9FD"/>
                </a:solidFill>
                <a:latin typeface="Arial" pitchFamily="34" charset="0"/>
                <a:ea typeface="Arial" pitchFamily="34" charset="-122"/>
                <a:cs typeface="Arial" pitchFamily="34" charset="-120"/>
              </a:rPr>
              <a:t>·</a:t>
            </a:r>
            <a:endParaRPr lang="en-US" sz="1350" dirty="0"/>
          </a:p>
        </p:txBody>
      </p:sp>
      <p:sp>
        <p:nvSpPr>
          <p:cNvPr id="52" name="Text 50"/>
          <p:cNvSpPr/>
          <p:nvPr/>
        </p:nvSpPr>
        <p:spPr>
          <a:xfrm>
            <a:off x="7004171" y="5634829"/>
            <a:ext cx="2798693"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F2F2F3"/>
                </a:solidFill>
                <a:latin typeface="Arial" pitchFamily="34" charset="0"/>
                <a:ea typeface="Arial" pitchFamily="34" charset="-122"/>
                <a:cs typeface="Arial" pitchFamily="34" charset="-120"/>
              </a:rPr>
              <a:t>Personal document mgmt</a:t>
            </a:r>
            <a:endParaRPr lang="en-US" sz="1800" dirty="0"/>
          </a:p>
        </p:txBody>
      </p:sp>
      <p:sp>
        <p:nvSpPr>
          <p:cNvPr id="53" name="Shape 51"/>
          <p:cNvSpPr/>
          <p:nvPr/>
        </p:nvSpPr>
        <p:spPr>
          <a:xfrm>
            <a:off x="6623217" y="6137582"/>
            <a:ext cx="266695" cy="266695"/>
          </a:xfrm>
          <a:prstGeom prst="rect">
            <a:avLst/>
          </a:prstGeom>
          <a:ln w="8695">
            <a:solidFill>
              <a:srgbClr val="597EA3"/>
            </a:solidFill>
            <a:prstDash val="solid"/>
          </a:ln>
        </p:spPr>
        <p:txBody>
          <a:bodyPr/>
          <a:lstStyle/>
          <a:p>
            <a:endParaRPr lang="en-US"/>
          </a:p>
        </p:txBody>
      </p:sp>
      <p:sp>
        <p:nvSpPr>
          <p:cNvPr id="54" name="Text 52"/>
          <p:cNvSpPr/>
          <p:nvPr/>
        </p:nvSpPr>
        <p:spPr>
          <a:xfrm>
            <a:off x="6593812" y="6146277"/>
            <a:ext cx="325505" cy="287405"/>
          </a:xfrm>
          <a:prstGeom prst="rect">
            <a:avLst/>
          </a:prstGeom>
          <a:noFill/>
          <a:ln/>
        </p:spPr>
        <p:txBody>
          <a:bodyPr wrap="square" lIns="25400" tIns="25400" rIns="25400" bIns="25400" rtlCol="0" anchor="ctr">
            <a:normAutofit fontScale="92500"/>
          </a:bodyPr>
          <a:lstStyle/>
          <a:p>
            <a:pPr marL="0" indent="0" algn="ctr">
              <a:lnSpc>
                <a:spcPct val="135835"/>
              </a:lnSpc>
              <a:buNone/>
            </a:pPr>
            <a:r>
              <a:rPr lang="en-US" sz="1350" dirty="0">
                <a:solidFill>
                  <a:srgbClr val="B5D9FD"/>
                </a:solidFill>
                <a:latin typeface="Arial" pitchFamily="34" charset="0"/>
                <a:ea typeface="Arial" pitchFamily="34" charset="-122"/>
                <a:cs typeface="Arial" pitchFamily="34" charset="-120"/>
              </a:rPr>
              <a:t>·</a:t>
            </a:r>
            <a:endParaRPr lang="en-US" sz="1350" dirty="0"/>
          </a:p>
        </p:txBody>
      </p:sp>
      <p:sp>
        <p:nvSpPr>
          <p:cNvPr id="55" name="Text 53"/>
          <p:cNvSpPr/>
          <p:nvPr/>
        </p:nvSpPr>
        <p:spPr>
          <a:xfrm>
            <a:off x="7004171" y="6093835"/>
            <a:ext cx="2252091"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F2F2F3"/>
                </a:solidFill>
                <a:latin typeface="Arial" pitchFamily="34" charset="0"/>
                <a:ea typeface="Arial" pitchFamily="34" charset="-122"/>
                <a:cs typeface="Arial" pitchFamily="34" charset="-120"/>
              </a:rPr>
              <a:t>SharePoint interface</a:t>
            </a:r>
            <a:endParaRPr lang="en-US" sz="1800" dirty="0"/>
          </a:p>
        </p:txBody>
      </p:sp>
      <p:sp>
        <p:nvSpPr>
          <p:cNvPr id="56" name="Shape 54"/>
          <p:cNvSpPr/>
          <p:nvPr/>
        </p:nvSpPr>
        <p:spPr>
          <a:xfrm>
            <a:off x="7004171" y="6495712"/>
            <a:ext cx="967533" cy="287821"/>
          </a:xfrm>
          <a:prstGeom prst="rect">
            <a:avLst/>
          </a:prstGeom>
          <a:ln w="8695">
            <a:solidFill>
              <a:srgbClr val="597EA3"/>
            </a:solidFill>
            <a:prstDash val="solid"/>
          </a:ln>
        </p:spPr>
        <p:txBody>
          <a:bodyPr/>
          <a:lstStyle/>
          <a:p>
            <a:endParaRPr lang="en-US"/>
          </a:p>
        </p:txBody>
      </p:sp>
      <p:sp>
        <p:nvSpPr>
          <p:cNvPr id="57" name="Text 55"/>
          <p:cNvSpPr/>
          <p:nvPr/>
        </p:nvSpPr>
        <p:spPr>
          <a:xfrm>
            <a:off x="7089066" y="6513932"/>
            <a:ext cx="894496" cy="289481"/>
          </a:xfrm>
          <a:prstGeom prst="rect">
            <a:avLst/>
          </a:prstGeom>
          <a:noFill/>
          <a:ln/>
        </p:spPr>
        <p:txBody>
          <a:bodyPr wrap="none" lIns="25400" tIns="25400" rIns="25400" bIns="25400" rtlCol="0" anchor="ctr">
            <a:normAutofit/>
          </a:bodyPr>
          <a:lstStyle/>
          <a:p>
            <a:pPr marL="0" indent="0" algn="ctr">
              <a:lnSpc>
                <a:spcPct val="94819"/>
              </a:lnSpc>
              <a:buNone/>
            </a:pPr>
            <a:r>
              <a:rPr lang="en-US" sz="1200" kern="0" spc="108" dirty="0">
                <a:solidFill>
                  <a:srgbClr val="B5D9FD"/>
                </a:solidFill>
                <a:latin typeface="Arial" pitchFamily="34" charset="0"/>
                <a:ea typeface="Arial" pitchFamily="34" charset="-122"/>
                <a:cs typeface="Arial" pitchFamily="34" charset="-120"/>
              </a:rPr>
              <a:t>API ONLY</a:t>
            </a:r>
            <a:endParaRPr lang="en-US" sz="1200" dirty="0"/>
          </a:p>
        </p:txBody>
      </p:sp>
      <p:sp>
        <p:nvSpPr>
          <p:cNvPr id="58" name="Shape 56"/>
          <p:cNvSpPr/>
          <p:nvPr/>
        </p:nvSpPr>
        <p:spPr>
          <a:xfrm>
            <a:off x="8047854" y="6495712"/>
            <a:ext cx="1027176" cy="287821"/>
          </a:xfrm>
          <a:prstGeom prst="rect">
            <a:avLst/>
          </a:prstGeom>
          <a:ln w="8695">
            <a:solidFill>
              <a:srgbClr val="597EA3"/>
            </a:solidFill>
            <a:prstDash val="solid"/>
          </a:ln>
        </p:spPr>
        <p:txBody>
          <a:bodyPr/>
          <a:lstStyle/>
          <a:p>
            <a:endParaRPr lang="en-US"/>
          </a:p>
        </p:txBody>
      </p:sp>
      <p:sp>
        <p:nvSpPr>
          <p:cNvPr id="59" name="Text 57"/>
          <p:cNvSpPr/>
          <p:nvPr/>
        </p:nvSpPr>
        <p:spPr>
          <a:xfrm>
            <a:off x="8132749" y="6513932"/>
            <a:ext cx="960103" cy="289481"/>
          </a:xfrm>
          <a:prstGeom prst="rect">
            <a:avLst/>
          </a:prstGeom>
          <a:noFill/>
          <a:ln/>
        </p:spPr>
        <p:txBody>
          <a:bodyPr wrap="none" lIns="25400" tIns="25400" rIns="25400" bIns="25400" rtlCol="0" anchor="ctr">
            <a:normAutofit/>
          </a:bodyPr>
          <a:lstStyle/>
          <a:p>
            <a:pPr marL="0" indent="0" algn="ctr">
              <a:lnSpc>
                <a:spcPct val="94819"/>
              </a:lnSpc>
              <a:buNone/>
            </a:pPr>
            <a:r>
              <a:rPr lang="en-US" sz="1200" kern="0" spc="108" dirty="0">
                <a:solidFill>
                  <a:srgbClr val="B5D9FD"/>
                </a:solidFill>
                <a:latin typeface="Arial" pitchFamily="34" charset="0"/>
                <a:ea typeface="Arial" pitchFamily="34" charset="-122"/>
                <a:cs typeface="Arial" pitchFamily="34" charset="-120"/>
              </a:rPr>
              <a:t>NO STORE</a:t>
            </a:r>
            <a:endParaRPr lang="en-US" sz="1200" dirty="0"/>
          </a:p>
        </p:txBody>
      </p:sp>
      <p:sp>
        <p:nvSpPr>
          <p:cNvPr id="60" name="Shape 58"/>
          <p:cNvSpPr/>
          <p:nvPr/>
        </p:nvSpPr>
        <p:spPr>
          <a:xfrm>
            <a:off x="6462154" y="7077944"/>
            <a:ext cx="3281040" cy="1007340"/>
          </a:xfrm>
          <a:prstGeom prst="rect">
            <a:avLst/>
          </a:prstGeom>
          <a:ln w="8695">
            <a:solidFill>
              <a:srgbClr val="416180"/>
            </a:solidFill>
            <a:prstDash val="solid"/>
          </a:ln>
        </p:spPr>
        <p:txBody>
          <a:bodyPr/>
          <a:lstStyle/>
          <a:p>
            <a:endParaRPr lang="en-US"/>
          </a:p>
        </p:txBody>
      </p:sp>
      <p:sp>
        <p:nvSpPr>
          <p:cNvPr id="61" name="Text 59"/>
          <p:cNvSpPr/>
          <p:nvPr/>
        </p:nvSpPr>
        <p:spPr>
          <a:xfrm>
            <a:off x="6623217" y="7219986"/>
            <a:ext cx="3254805"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F2F2F3"/>
                </a:solidFill>
                <a:latin typeface="Arial" pitchFamily="34" charset="0"/>
                <a:ea typeface="Arial" pitchFamily="34" charset="-122"/>
                <a:cs typeface="Arial" pitchFamily="34" charset="-120"/>
              </a:rPr>
              <a:t>Chat sessions</a:t>
            </a:r>
            <a:endParaRPr lang="en-US" sz="1875" dirty="0"/>
          </a:p>
        </p:txBody>
      </p:sp>
      <p:sp>
        <p:nvSpPr>
          <p:cNvPr id="62" name="Text 60"/>
          <p:cNvSpPr/>
          <p:nvPr/>
        </p:nvSpPr>
        <p:spPr>
          <a:xfrm>
            <a:off x="6623217" y="7588984"/>
            <a:ext cx="3254805"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B5D9FD"/>
                </a:solidFill>
                <a:latin typeface="Arial" pitchFamily="34" charset="0"/>
                <a:ea typeface="Arial" pitchFamily="34" charset="-122"/>
                <a:cs typeface="Arial" pitchFamily="34" charset="-120"/>
              </a:rPr>
              <a:t>MongoDB</a:t>
            </a:r>
            <a:endParaRPr lang="en-US" sz="1800" dirty="0"/>
          </a:p>
        </p:txBody>
      </p:sp>
      <p:sp>
        <p:nvSpPr>
          <p:cNvPr id="63" name="Text 61"/>
          <p:cNvSpPr/>
          <p:nvPr/>
        </p:nvSpPr>
        <p:spPr>
          <a:xfrm>
            <a:off x="10531060" y="4067878"/>
            <a:ext cx="443364" cy="342904"/>
          </a:xfrm>
          <a:prstGeom prst="rect">
            <a:avLst/>
          </a:prstGeom>
          <a:noFill/>
          <a:ln/>
        </p:spPr>
        <p:txBody>
          <a:bodyPr wrap="square" lIns="25400" tIns="25400" rIns="25400" bIns="25400" rtlCol="0" anchor="t">
            <a:normAutofit fontScale="92500" lnSpcReduction="10000"/>
          </a:bodyPr>
          <a:lstStyle/>
          <a:p>
            <a:pPr marL="0" indent="0" algn="ctr">
              <a:lnSpc>
                <a:spcPct val="87636"/>
              </a:lnSpc>
              <a:buNone/>
            </a:pPr>
            <a:r>
              <a:rPr lang="en-US" sz="2400" dirty="0">
                <a:solidFill>
                  <a:srgbClr val="597EA3"/>
                </a:solidFill>
                <a:latin typeface="Arial" pitchFamily="34" charset="0"/>
                <a:ea typeface="Arial" pitchFamily="34" charset="-122"/>
                <a:cs typeface="Arial" pitchFamily="34" charset="-120"/>
              </a:rPr>
              <a:t>▶</a:t>
            </a:r>
            <a:endParaRPr lang="en-US" sz="2400" dirty="0"/>
          </a:p>
        </p:txBody>
      </p:sp>
      <p:sp>
        <p:nvSpPr>
          <p:cNvPr id="64" name="Text 62"/>
          <p:cNvSpPr/>
          <p:nvPr/>
        </p:nvSpPr>
        <p:spPr>
          <a:xfrm>
            <a:off x="10531060" y="4429811"/>
            <a:ext cx="443364" cy="392357"/>
          </a:xfrm>
          <a:prstGeom prst="rect">
            <a:avLst/>
          </a:prstGeom>
          <a:noFill/>
          <a:ln/>
        </p:spPr>
        <p:txBody>
          <a:bodyPr wrap="none" lIns="25400" tIns="25400" rIns="25400" bIns="25400" rtlCol="0" anchor="t">
            <a:normAutofit/>
          </a:bodyPr>
          <a:lstStyle/>
          <a:p>
            <a:pPr marL="0" indent="0" algn="ctr">
              <a:lnSpc>
                <a:spcPct val="133608"/>
              </a:lnSpc>
              <a:buNone/>
            </a:pPr>
            <a:r>
              <a:rPr lang="en-US" sz="1800" kern="0" spc="180" dirty="0">
                <a:solidFill>
                  <a:srgbClr val="416180"/>
                </a:solidFill>
                <a:latin typeface="Arial" pitchFamily="34" charset="0"/>
                <a:ea typeface="Arial" pitchFamily="34" charset="-122"/>
                <a:cs typeface="Arial" pitchFamily="34" charset="-120"/>
              </a:rPr>
              <a:t>RAG</a:t>
            </a:r>
            <a:endParaRPr lang="en-US" sz="1800" dirty="0"/>
          </a:p>
        </p:txBody>
      </p:sp>
      <p:sp>
        <p:nvSpPr>
          <p:cNvPr id="65" name="Text 63"/>
          <p:cNvSpPr/>
          <p:nvPr/>
        </p:nvSpPr>
        <p:spPr>
          <a:xfrm>
            <a:off x="10258795" y="5107893"/>
            <a:ext cx="987894" cy="342904"/>
          </a:xfrm>
          <a:prstGeom prst="rect">
            <a:avLst/>
          </a:prstGeom>
          <a:noFill/>
          <a:ln/>
        </p:spPr>
        <p:txBody>
          <a:bodyPr wrap="square" lIns="25400" tIns="25400" rIns="25400" bIns="25400" rtlCol="0" anchor="t">
            <a:normAutofit fontScale="92500" lnSpcReduction="10000"/>
          </a:bodyPr>
          <a:lstStyle/>
          <a:p>
            <a:pPr marL="0" indent="0" algn="ctr">
              <a:lnSpc>
                <a:spcPct val="87636"/>
              </a:lnSpc>
              <a:buNone/>
            </a:pPr>
            <a:r>
              <a:rPr lang="en-US" sz="2400" dirty="0">
                <a:solidFill>
                  <a:srgbClr val="597EA3"/>
                </a:solidFill>
                <a:latin typeface="Arial" pitchFamily="34" charset="0"/>
                <a:ea typeface="Arial" pitchFamily="34" charset="-122"/>
                <a:cs typeface="Arial" pitchFamily="34" charset="-120"/>
              </a:rPr>
              <a:t>▶</a:t>
            </a:r>
            <a:endParaRPr lang="en-US" sz="2400" dirty="0"/>
          </a:p>
        </p:txBody>
      </p:sp>
      <p:sp>
        <p:nvSpPr>
          <p:cNvPr id="66" name="Text 64"/>
          <p:cNvSpPr/>
          <p:nvPr/>
        </p:nvSpPr>
        <p:spPr>
          <a:xfrm>
            <a:off x="10258795" y="5469826"/>
            <a:ext cx="987894" cy="392357"/>
          </a:xfrm>
          <a:prstGeom prst="rect">
            <a:avLst/>
          </a:prstGeom>
          <a:noFill/>
          <a:ln/>
        </p:spPr>
        <p:txBody>
          <a:bodyPr wrap="none" lIns="25400" tIns="25400" rIns="25400" bIns="25400" rtlCol="0" anchor="t">
            <a:normAutofit/>
          </a:bodyPr>
          <a:lstStyle/>
          <a:p>
            <a:pPr marL="0" indent="0" algn="ctr">
              <a:lnSpc>
                <a:spcPct val="133608"/>
              </a:lnSpc>
              <a:buNone/>
            </a:pPr>
            <a:r>
              <a:rPr lang="en-US" sz="1800" kern="0" spc="180" dirty="0">
                <a:solidFill>
                  <a:srgbClr val="416180"/>
                </a:solidFill>
                <a:latin typeface="Arial" pitchFamily="34" charset="0"/>
                <a:ea typeface="Arial" pitchFamily="34" charset="-122"/>
                <a:cs typeface="Arial" pitchFamily="34" charset="-120"/>
              </a:rPr>
              <a:t>INDEXING</a:t>
            </a:r>
            <a:endParaRPr lang="en-US" sz="1800" dirty="0"/>
          </a:p>
        </p:txBody>
      </p:sp>
      <p:sp>
        <p:nvSpPr>
          <p:cNvPr id="67" name="Text 65"/>
          <p:cNvSpPr/>
          <p:nvPr/>
        </p:nvSpPr>
        <p:spPr>
          <a:xfrm>
            <a:off x="10211991" y="6147908"/>
            <a:ext cx="1081570" cy="342904"/>
          </a:xfrm>
          <a:prstGeom prst="rect">
            <a:avLst/>
          </a:prstGeom>
          <a:noFill/>
          <a:ln/>
        </p:spPr>
        <p:txBody>
          <a:bodyPr wrap="square" lIns="25400" tIns="25400" rIns="25400" bIns="25400" rtlCol="0" anchor="t">
            <a:normAutofit fontScale="92500" lnSpcReduction="10000"/>
          </a:bodyPr>
          <a:lstStyle/>
          <a:p>
            <a:pPr marL="0" indent="0" algn="ctr">
              <a:lnSpc>
                <a:spcPct val="87636"/>
              </a:lnSpc>
              <a:buNone/>
            </a:pPr>
            <a:r>
              <a:rPr lang="en-US" sz="2400" dirty="0">
                <a:solidFill>
                  <a:srgbClr val="597EA3"/>
                </a:solidFill>
                <a:latin typeface="Arial" pitchFamily="34" charset="0"/>
                <a:ea typeface="Arial" pitchFamily="34" charset="-122"/>
                <a:cs typeface="Arial" pitchFamily="34" charset="-120"/>
              </a:rPr>
              <a:t>▶</a:t>
            </a:r>
            <a:endParaRPr lang="en-US" sz="2400" dirty="0"/>
          </a:p>
        </p:txBody>
      </p:sp>
      <p:sp>
        <p:nvSpPr>
          <p:cNvPr id="68" name="Text 66"/>
          <p:cNvSpPr/>
          <p:nvPr/>
        </p:nvSpPr>
        <p:spPr>
          <a:xfrm>
            <a:off x="10211991" y="6509841"/>
            <a:ext cx="1081570" cy="392357"/>
          </a:xfrm>
          <a:prstGeom prst="rect">
            <a:avLst/>
          </a:prstGeom>
          <a:noFill/>
          <a:ln/>
        </p:spPr>
        <p:txBody>
          <a:bodyPr wrap="none" lIns="25400" tIns="25400" rIns="25400" bIns="25400" rtlCol="0" anchor="t">
            <a:normAutofit/>
          </a:bodyPr>
          <a:lstStyle/>
          <a:p>
            <a:pPr marL="0" indent="0" algn="ctr">
              <a:lnSpc>
                <a:spcPct val="133608"/>
              </a:lnSpc>
              <a:buNone/>
            </a:pPr>
            <a:r>
              <a:rPr lang="en-US" sz="1800" kern="0" spc="180" dirty="0">
                <a:solidFill>
                  <a:srgbClr val="416180"/>
                </a:solidFill>
                <a:latin typeface="Arial" pitchFamily="34" charset="0"/>
                <a:ea typeface="Arial" pitchFamily="34" charset="-122"/>
                <a:cs typeface="Arial" pitchFamily="34" charset="-120"/>
              </a:rPr>
              <a:t>GRAPH API</a:t>
            </a:r>
            <a:endParaRPr lang="en-US" sz="1800" dirty="0"/>
          </a:p>
        </p:txBody>
      </p:sp>
      <p:sp>
        <p:nvSpPr>
          <p:cNvPr id="69" name="Text 67"/>
          <p:cNvSpPr/>
          <p:nvPr/>
        </p:nvSpPr>
        <p:spPr>
          <a:xfrm>
            <a:off x="11495663" y="1513626"/>
            <a:ext cx="6801032"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416180"/>
                </a:solidFill>
                <a:latin typeface="Arial" pitchFamily="34" charset="0"/>
                <a:ea typeface="Arial" pitchFamily="34" charset="-122"/>
                <a:cs typeface="Arial" pitchFamily="34" charset="-120"/>
              </a:rPr>
              <a:t>MICROSOFT PROVIDES IT · WE CONFIGURE IT</a:t>
            </a:r>
            <a:endParaRPr lang="en-US" sz="1800" dirty="0"/>
          </a:p>
        </p:txBody>
      </p:sp>
      <p:sp>
        <p:nvSpPr>
          <p:cNvPr id="70" name="Text 68"/>
          <p:cNvSpPr/>
          <p:nvPr/>
        </p:nvSpPr>
        <p:spPr>
          <a:xfrm>
            <a:off x="11495663" y="1905924"/>
            <a:ext cx="6801032" cy="518096"/>
          </a:xfrm>
          <a:prstGeom prst="rect">
            <a:avLst/>
          </a:prstGeom>
          <a:noFill/>
          <a:ln/>
        </p:spPr>
        <p:txBody>
          <a:bodyPr wrap="square" lIns="25400" tIns="25400" rIns="25400" bIns="25400" rtlCol="0" anchor="t">
            <a:normAutofit lnSpcReduction="10000"/>
          </a:bodyPr>
          <a:lstStyle/>
          <a:p>
            <a:pPr marL="0" indent="0" algn="l">
              <a:lnSpc>
                <a:spcPct val="92017"/>
              </a:lnSpc>
              <a:buNone/>
            </a:pPr>
            <a:r>
              <a:rPr lang="en-US" sz="3600" dirty="0">
                <a:solidFill>
                  <a:srgbClr val="1D2D3D"/>
                </a:solidFill>
                <a:latin typeface="Arial" pitchFamily="34" charset="0"/>
                <a:ea typeface="Arial" pitchFamily="34" charset="-122"/>
                <a:cs typeface="Arial" pitchFamily="34" charset="-120"/>
              </a:rPr>
              <a:t>Platform services</a:t>
            </a:r>
            <a:endParaRPr lang="en-US" sz="3600" dirty="0"/>
          </a:p>
        </p:txBody>
      </p:sp>
      <p:sp>
        <p:nvSpPr>
          <p:cNvPr id="71" name="Shape 69"/>
          <p:cNvSpPr/>
          <p:nvPr/>
        </p:nvSpPr>
        <p:spPr>
          <a:xfrm>
            <a:off x="11495663" y="2500179"/>
            <a:ext cx="6182756" cy="3185937"/>
          </a:xfrm>
          <a:prstGeom prst="rect">
            <a:avLst/>
          </a:prstGeom>
          <a:ln w="8695">
            <a:solidFill>
              <a:srgbClr val="1F1F1F">
                <a:alpha val="16000"/>
              </a:srgbClr>
            </a:solidFill>
            <a:prstDash val="solid"/>
          </a:ln>
        </p:spPr>
        <p:txBody>
          <a:bodyPr/>
          <a:lstStyle/>
          <a:p>
            <a:endParaRPr lang="en-US"/>
          </a:p>
        </p:txBody>
      </p:sp>
      <p:sp>
        <p:nvSpPr>
          <p:cNvPr id="72" name="Text 70"/>
          <p:cNvSpPr/>
          <p:nvPr/>
        </p:nvSpPr>
        <p:spPr>
          <a:xfrm>
            <a:off x="11675747" y="2623133"/>
            <a:ext cx="640484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16" dirty="0">
                <a:solidFill>
                  <a:srgbClr val="416180"/>
                </a:solidFill>
                <a:latin typeface="Arial" pitchFamily="34" charset="0"/>
                <a:ea typeface="Arial" pitchFamily="34" charset="-122"/>
                <a:cs typeface="Arial" pitchFamily="34" charset="-120"/>
              </a:rPr>
              <a:t>MICROSOFT AZURE · AI FOUNDRY</a:t>
            </a:r>
            <a:endParaRPr lang="en-US" sz="1800" dirty="0"/>
          </a:p>
        </p:txBody>
      </p:sp>
      <p:sp>
        <p:nvSpPr>
          <p:cNvPr id="73" name="Text 71"/>
          <p:cNvSpPr/>
          <p:nvPr/>
        </p:nvSpPr>
        <p:spPr>
          <a:xfrm>
            <a:off x="11675747" y="3072629"/>
            <a:ext cx="6404848"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1D1F20"/>
                </a:solidFill>
                <a:latin typeface="Arial" pitchFamily="34" charset="0"/>
                <a:ea typeface="Arial" pitchFamily="34" charset="-122"/>
                <a:cs typeface="Arial" pitchFamily="34" charset="-120"/>
              </a:rPr>
              <a:t>Model deployments</a:t>
            </a:r>
            <a:endParaRPr lang="en-US" sz="1875" dirty="0"/>
          </a:p>
        </p:txBody>
      </p:sp>
      <p:sp>
        <p:nvSpPr>
          <p:cNvPr id="74" name="Text 72"/>
          <p:cNvSpPr/>
          <p:nvPr/>
        </p:nvSpPr>
        <p:spPr>
          <a:xfrm>
            <a:off x="11675747" y="3441627"/>
            <a:ext cx="640484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GPT-5.4 · embeddings</a:t>
            </a:r>
            <a:endParaRPr lang="en-US" sz="1800" dirty="0"/>
          </a:p>
        </p:txBody>
      </p:sp>
      <p:sp>
        <p:nvSpPr>
          <p:cNvPr id="75" name="Text 73"/>
          <p:cNvSpPr/>
          <p:nvPr/>
        </p:nvSpPr>
        <p:spPr>
          <a:xfrm>
            <a:off x="11675747" y="3891123"/>
            <a:ext cx="6404848"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1D1F20"/>
                </a:solidFill>
                <a:latin typeface="Arial" pitchFamily="34" charset="0"/>
                <a:ea typeface="Arial" pitchFamily="34" charset="-122"/>
                <a:cs typeface="Arial" pitchFamily="34" charset="-120"/>
              </a:rPr>
              <a:t>Indexer &amp; skillset</a:t>
            </a:r>
            <a:endParaRPr lang="en-US" sz="1875" dirty="0"/>
          </a:p>
        </p:txBody>
      </p:sp>
      <p:sp>
        <p:nvSpPr>
          <p:cNvPr id="76" name="Text 74"/>
          <p:cNvSpPr/>
          <p:nvPr/>
        </p:nvSpPr>
        <p:spPr>
          <a:xfrm>
            <a:off x="11675747" y="4260121"/>
            <a:ext cx="640484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Crawls Blob · OCR · chunking · embedding</a:t>
            </a:r>
            <a:endParaRPr lang="en-US" sz="1800" dirty="0"/>
          </a:p>
        </p:txBody>
      </p:sp>
      <p:sp>
        <p:nvSpPr>
          <p:cNvPr id="77" name="Text 75"/>
          <p:cNvSpPr/>
          <p:nvPr/>
        </p:nvSpPr>
        <p:spPr>
          <a:xfrm>
            <a:off x="11675747" y="4709617"/>
            <a:ext cx="5943953"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1D1F20"/>
                </a:solidFill>
                <a:latin typeface="Arial" pitchFamily="34" charset="0"/>
                <a:ea typeface="Arial" pitchFamily="34" charset="-122"/>
                <a:cs typeface="Arial" pitchFamily="34" charset="-120"/>
              </a:rPr>
              <a:t>Search indexes</a:t>
            </a:r>
            <a:endParaRPr lang="en-US" sz="1875" dirty="0"/>
          </a:p>
        </p:txBody>
      </p:sp>
      <p:sp>
        <p:nvSpPr>
          <p:cNvPr id="78" name="Shape 76"/>
          <p:cNvSpPr/>
          <p:nvPr/>
        </p:nvSpPr>
        <p:spPr>
          <a:xfrm>
            <a:off x="17193599" y="4709617"/>
            <a:ext cx="304736" cy="304736"/>
          </a:xfrm>
          <a:prstGeom prst="rect">
            <a:avLst/>
          </a:prstGeom>
          <a:solidFill>
            <a:srgbClr val="C8651B"/>
          </a:solidFill>
          <a:ln/>
        </p:spPr>
        <p:txBody>
          <a:bodyPr/>
          <a:lstStyle/>
          <a:p>
            <a:endParaRPr lang="en-US"/>
          </a:p>
        </p:txBody>
      </p:sp>
      <p:sp>
        <p:nvSpPr>
          <p:cNvPr id="79" name="Text 77"/>
          <p:cNvSpPr/>
          <p:nvPr/>
        </p:nvSpPr>
        <p:spPr>
          <a:xfrm>
            <a:off x="17155499" y="4709617"/>
            <a:ext cx="380936" cy="342836"/>
          </a:xfrm>
          <a:prstGeom prst="rect">
            <a:avLst/>
          </a:prstGeom>
          <a:noFill/>
          <a:ln/>
        </p:spPr>
        <p:txBody>
          <a:bodyPr wrap="square" lIns="25400" tIns="25400" rIns="25400" bIns="25400" rtlCol="0" anchor="ctr">
            <a:normAutofit lnSpcReduction="10000"/>
          </a:bodyPr>
          <a:lstStyle/>
          <a:p>
            <a:pPr marL="0" indent="0" algn="ctr">
              <a:lnSpc>
                <a:spcPct val="133410"/>
              </a:lnSpc>
              <a:buNone/>
            </a:pPr>
            <a:r>
              <a:rPr lang="en-US" sz="1650" dirty="0">
                <a:solidFill>
                  <a:srgbClr val="F2F2F3"/>
                </a:solidFill>
                <a:latin typeface="Arial" pitchFamily="34" charset="0"/>
                <a:ea typeface="Arial" pitchFamily="34" charset="-122"/>
                <a:cs typeface="Arial" pitchFamily="34" charset="-120"/>
              </a:rPr>
              <a:t>5</a:t>
            </a:r>
            <a:endParaRPr lang="en-US" sz="1650" dirty="0"/>
          </a:p>
        </p:txBody>
      </p:sp>
      <p:sp>
        <p:nvSpPr>
          <p:cNvPr id="80" name="Shape 78"/>
          <p:cNvSpPr/>
          <p:nvPr/>
        </p:nvSpPr>
        <p:spPr>
          <a:xfrm>
            <a:off x="11495663" y="5800376"/>
            <a:ext cx="6182756" cy="2028063"/>
          </a:xfrm>
          <a:prstGeom prst="rect">
            <a:avLst/>
          </a:prstGeom>
          <a:ln w="8695">
            <a:solidFill>
              <a:srgbClr val="1F1F1F">
                <a:alpha val="16000"/>
              </a:srgbClr>
            </a:solidFill>
            <a:prstDash val="solid"/>
          </a:ln>
        </p:spPr>
        <p:txBody>
          <a:bodyPr/>
          <a:lstStyle/>
          <a:p>
            <a:endParaRPr lang="en-US"/>
          </a:p>
        </p:txBody>
      </p:sp>
      <p:sp>
        <p:nvSpPr>
          <p:cNvPr id="81" name="Text 79"/>
          <p:cNvSpPr/>
          <p:nvPr/>
        </p:nvSpPr>
        <p:spPr>
          <a:xfrm>
            <a:off x="11675747" y="5923330"/>
            <a:ext cx="640484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16" dirty="0">
                <a:solidFill>
                  <a:srgbClr val="416180"/>
                </a:solidFill>
                <a:latin typeface="Arial" pitchFamily="34" charset="0"/>
                <a:ea typeface="Arial" pitchFamily="34" charset="-122"/>
                <a:cs typeface="Arial" pitchFamily="34" charset="-120"/>
              </a:rPr>
              <a:t>MICROSOFT AZURE · STORAGE</a:t>
            </a:r>
            <a:endParaRPr lang="en-US" sz="1800" dirty="0"/>
          </a:p>
        </p:txBody>
      </p:sp>
      <p:sp>
        <p:nvSpPr>
          <p:cNvPr id="82" name="Text 80"/>
          <p:cNvSpPr/>
          <p:nvPr/>
        </p:nvSpPr>
        <p:spPr>
          <a:xfrm>
            <a:off x="11675747" y="6353737"/>
            <a:ext cx="5943953"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1D1F20"/>
                </a:solidFill>
                <a:latin typeface="Arial" pitchFamily="34" charset="0"/>
                <a:ea typeface="Arial" pitchFamily="34" charset="-122"/>
                <a:cs typeface="Arial" pitchFamily="34" charset="-120"/>
              </a:rPr>
              <a:t>Azure Blob Storage</a:t>
            </a:r>
            <a:endParaRPr lang="en-US" sz="1875" dirty="0"/>
          </a:p>
        </p:txBody>
      </p:sp>
      <p:sp>
        <p:nvSpPr>
          <p:cNvPr id="83" name="Text 81"/>
          <p:cNvSpPr/>
          <p:nvPr/>
        </p:nvSpPr>
        <p:spPr>
          <a:xfrm>
            <a:off x="11675747" y="6741755"/>
            <a:ext cx="5565702" cy="609531"/>
          </a:xfrm>
          <a:prstGeom prst="rect">
            <a:avLst/>
          </a:prstGeom>
          <a:noFill/>
          <a:ln/>
        </p:spPr>
        <p:txBody>
          <a:bodyPr wrap="square" lIns="25400" tIns="25400" rIns="25400" bIns="25400" rtlCol="0" anchor="t">
            <a:normAutofit lnSpcReduction="10000"/>
          </a:bodyPr>
          <a:lstStyle/>
          <a:p>
            <a:pPr marL="0" indent="0" algn="l">
              <a:lnSpc>
                <a:spcPct val="107749"/>
              </a:lnSpc>
              <a:buNone/>
            </a:pPr>
            <a:r>
              <a:rPr lang="en-US" sz="1800" dirty="0">
                <a:solidFill>
                  <a:srgbClr val="5D5D60"/>
                </a:solidFill>
                <a:latin typeface="Arial" pitchFamily="34" charset="0"/>
                <a:ea typeface="Arial" pitchFamily="34" charset="-122"/>
                <a:cs typeface="Arial" pitchFamily="34" charset="-120"/>
              </a:rPr>
              <a:t>Microsoft runs it — what we keep, and for how long, is ours</a:t>
            </a:r>
            <a:endParaRPr lang="en-US" sz="1800" dirty="0"/>
          </a:p>
        </p:txBody>
      </p:sp>
      <p:sp>
        <p:nvSpPr>
          <p:cNvPr id="84" name="Text 82"/>
          <p:cNvSpPr/>
          <p:nvPr/>
        </p:nvSpPr>
        <p:spPr>
          <a:xfrm>
            <a:off x="11675747" y="7351227"/>
            <a:ext cx="5943953"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C8651B"/>
                </a:solidFill>
                <a:latin typeface="Arial" pitchFamily="34" charset="0"/>
                <a:ea typeface="Arial" pitchFamily="34" charset="-122"/>
                <a:cs typeface="Arial" pitchFamily="34" charset="-120"/>
              </a:rPr>
              <a:t>No lifecycle policy configured</a:t>
            </a:r>
            <a:endParaRPr lang="en-US" sz="1800" dirty="0"/>
          </a:p>
        </p:txBody>
      </p:sp>
      <p:sp>
        <p:nvSpPr>
          <p:cNvPr id="85" name="Shape 83"/>
          <p:cNvSpPr/>
          <p:nvPr/>
        </p:nvSpPr>
        <p:spPr>
          <a:xfrm>
            <a:off x="17193599" y="6353737"/>
            <a:ext cx="304736" cy="304736"/>
          </a:xfrm>
          <a:prstGeom prst="rect">
            <a:avLst/>
          </a:prstGeom>
          <a:solidFill>
            <a:srgbClr val="C8651B"/>
          </a:solidFill>
          <a:ln/>
        </p:spPr>
        <p:txBody>
          <a:bodyPr/>
          <a:lstStyle/>
          <a:p>
            <a:endParaRPr lang="en-US"/>
          </a:p>
        </p:txBody>
      </p:sp>
      <p:sp>
        <p:nvSpPr>
          <p:cNvPr id="86" name="Text 84"/>
          <p:cNvSpPr/>
          <p:nvPr/>
        </p:nvSpPr>
        <p:spPr>
          <a:xfrm>
            <a:off x="17155499" y="6353737"/>
            <a:ext cx="380936" cy="342836"/>
          </a:xfrm>
          <a:prstGeom prst="rect">
            <a:avLst/>
          </a:prstGeom>
          <a:noFill/>
          <a:ln/>
        </p:spPr>
        <p:txBody>
          <a:bodyPr wrap="square" lIns="25400" tIns="25400" rIns="25400" bIns="25400" rtlCol="0" anchor="ctr">
            <a:normAutofit lnSpcReduction="10000"/>
          </a:bodyPr>
          <a:lstStyle/>
          <a:p>
            <a:pPr marL="0" indent="0" algn="ctr">
              <a:lnSpc>
                <a:spcPct val="133410"/>
              </a:lnSpc>
              <a:buNone/>
            </a:pPr>
            <a:r>
              <a:rPr lang="en-US" sz="1650" dirty="0">
                <a:solidFill>
                  <a:srgbClr val="F2F2F3"/>
                </a:solidFill>
                <a:latin typeface="Arial" pitchFamily="34" charset="0"/>
                <a:ea typeface="Arial" pitchFamily="34" charset="-122"/>
                <a:cs typeface="Arial" pitchFamily="34" charset="-120"/>
              </a:rPr>
              <a:t>4</a:t>
            </a:r>
            <a:endParaRPr lang="en-US" sz="1650" dirty="0"/>
          </a:p>
        </p:txBody>
      </p:sp>
      <p:sp>
        <p:nvSpPr>
          <p:cNvPr id="87" name="Shape 85"/>
          <p:cNvSpPr/>
          <p:nvPr/>
        </p:nvSpPr>
        <p:spPr>
          <a:xfrm>
            <a:off x="11495663" y="7942698"/>
            <a:ext cx="6182756" cy="1475721"/>
          </a:xfrm>
          <a:prstGeom prst="rect">
            <a:avLst/>
          </a:prstGeom>
          <a:ln w="8695">
            <a:solidFill>
              <a:srgbClr val="1F1F1F">
                <a:alpha val="16000"/>
              </a:srgbClr>
            </a:solidFill>
            <a:prstDash val="solid"/>
          </a:ln>
        </p:spPr>
        <p:txBody>
          <a:bodyPr/>
          <a:lstStyle/>
          <a:p>
            <a:endParaRPr lang="en-US"/>
          </a:p>
        </p:txBody>
      </p:sp>
      <p:sp>
        <p:nvSpPr>
          <p:cNvPr id="88" name="Text 86"/>
          <p:cNvSpPr/>
          <p:nvPr/>
        </p:nvSpPr>
        <p:spPr>
          <a:xfrm>
            <a:off x="11675747" y="8065652"/>
            <a:ext cx="640484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16" dirty="0">
                <a:solidFill>
                  <a:srgbClr val="416180"/>
                </a:solidFill>
                <a:latin typeface="Arial" pitchFamily="34" charset="0"/>
                <a:ea typeface="Arial" pitchFamily="34" charset="-122"/>
                <a:cs typeface="Arial" pitchFamily="34" charset="-120"/>
              </a:rPr>
              <a:t>MICROSOFT 365</a:t>
            </a:r>
            <a:endParaRPr lang="en-US" sz="1800" dirty="0"/>
          </a:p>
        </p:txBody>
      </p:sp>
      <p:sp>
        <p:nvSpPr>
          <p:cNvPr id="89" name="Text 87"/>
          <p:cNvSpPr/>
          <p:nvPr/>
        </p:nvSpPr>
        <p:spPr>
          <a:xfrm>
            <a:off x="11675747" y="8496059"/>
            <a:ext cx="6404848"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1D1F20"/>
                </a:solidFill>
                <a:latin typeface="Arial" pitchFamily="34" charset="0"/>
                <a:ea typeface="Arial" pitchFamily="34" charset="-122"/>
                <a:cs typeface="Arial" pitchFamily="34" charset="-120"/>
              </a:rPr>
              <a:t>SharePoint</a:t>
            </a:r>
            <a:endParaRPr lang="en-US" sz="1875" dirty="0"/>
          </a:p>
        </p:txBody>
      </p:sp>
      <p:sp>
        <p:nvSpPr>
          <p:cNvPr id="90" name="Text 88"/>
          <p:cNvSpPr/>
          <p:nvPr/>
        </p:nvSpPr>
        <p:spPr>
          <a:xfrm>
            <a:off x="11675747" y="8865057"/>
            <a:ext cx="640484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System of record for documents</a:t>
            </a:r>
            <a:endParaRPr lang="en-US" sz="1800" dirty="0"/>
          </a:p>
        </p:txBody>
      </p:sp>
      <p:sp>
        <p:nvSpPr>
          <p:cNvPr id="91" name="Shape 89"/>
          <p:cNvSpPr/>
          <p:nvPr/>
        </p:nvSpPr>
        <p:spPr>
          <a:xfrm>
            <a:off x="609540" y="9551766"/>
            <a:ext cx="17068879" cy="487605"/>
          </a:xfrm>
          <a:prstGeom prst="rect">
            <a:avLst/>
          </a:prstGeom>
          <a:solidFill>
            <a:srgbClr val="1D2D3D"/>
          </a:solidFill>
          <a:ln/>
        </p:spPr>
        <p:txBody>
          <a:bodyPr/>
          <a:lstStyle/>
          <a:p>
            <a:endParaRPr lang="en-US"/>
          </a:p>
        </p:txBody>
      </p:sp>
      <p:sp>
        <p:nvSpPr>
          <p:cNvPr id="92" name="Text 90"/>
          <p:cNvSpPr/>
          <p:nvPr/>
        </p:nvSpPr>
        <p:spPr>
          <a:xfrm>
            <a:off x="819090" y="9647016"/>
            <a:ext cx="17161845" cy="335205"/>
          </a:xfrm>
          <a:prstGeom prst="rect">
            <a:avLst/>
          </a:prstGeom>
          <a:noFill/>
          <a:ln/>
        </p:spPr>
        <p:txBody>
          <a:bodyPr wrap="square" lIns="25400" tIns="25400" rIns="25400" bIns="25400" rtlCol="0" anchor="t">
            <a:normAutofit lnSpcReduction="10000"/>
          </a:bodyPr>
          <a:lstStyle/>
          <a:p>
            <a:pPr marL="0" indent="0" algn="l">
              <a:lnSpc>
                <a:spcPct val="112059"/>
              </a:lnSpc>
              <a:buNone/>
            </a:pPr>
            <a:r>
              <a:rPr lang="en-US" sz="1800" dirty="0">
                <a:solidFill>
                  <a:srgbClr val="F2F2F3"/>
                </a:solidFill>
                <a:latin typeface="Arial" pitchFamily="34" charset="0"/>
                <a:ea typeface="Arial" pitchFamily="34" charset="-122"/>
                <a:cs typeface="Arial" pitchFamily="34" charset="-120"/>
              </a:rPr>
              <a:t>Every solution in this deck moves work off the left side, or configures what is already on the right.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685758" y="609540"/>
            <a:ext cx="7035664"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88" dirty="0">
                <a:solidFill>
                  <a:srgbClr val="416180"/>
                </a:solidFill>
                <a:latin typeface="Arial" pitchFamily="34" charset="0"/>
                <a:ea typeface="Arial" pitchFamily="34" charset="-122"/>
                <a:cs typeface="Arial" pitchFamily="34" charset="-120"/>
              </a:rPr>
              <a:t>GAPS AT A GLANCE</a:t>
            </a:r>
            <a:endParaRPr lang="en-US" sz="1800" dirty="0"/>
          </a:p>
        </p:txBody>
      </p:sp>
      <p:sp>
        <p:nvSpPr>
          <p:cNvPr id="3" name="Text 1"/>
          <p:cNvSpPr/>
          <p:nvPr/>
        </p:nvSpPr>
        <p:spPr>
          <a:xfrm>
            <a:off x="685758" y="1039947"/>
            <a:ext cx="7035664" cy="705245"/>
          </a:xfrm>
          <a:prstGeom prst="rect">
            <a:avLst/>
          </a:prstGeom>
          <a:noFill/>
          <a:ln/>
        </p:spPr>
        <p:txBody>
          <a:bodyPr wrap="square" lIns="25400" tIns="25400" rIns="25400" bIns="25400" rtlCol="0" anchor="t">
            <a:normAutofit fontScale="77500" lnSpcReduction="20000"/>
          </a:bodyPr>
          <a:lstStyle/>
          <a:p>
            <a:pPr marL="0" indent="0" algn="l">
              <a:lnSpc>
                <a:spcPct val="89215"/>
              </a:lnSpc>
              <a:buNone/>
            </a:pPr>
            <a:r>
              <a:rPr lang="en-US" sz="5100" dirty="0">
                <a:solidFill>
                  <a:srgbClr val="1D2D3D"/>
                </a:solidFill>
                <a:latin typeface="Arial" pitchFamily="34" charset="0"/>
                <a:ea typeface="Arial" pitchFamily="34" charset="-122"/>
                <a:cs typeface="Arial" pitchFamily="34" charset="-120"/>
              </a:rPr>
              <a:t>Five findings, three problems</a:t>
            </a:r>
            <a:endParaRPr lang="en-US" sz="5100" dirty="0"/>
          </a:p>
        </p:txBody>
      </p:sp>
      <p:sp>
        <p:nvSpPr>
          <p:cNvPr id="4" name="Text 2"/>
          <p:cNvSpPr/>
          <p:nvPr/>
        </p:nvSpPr>
        <p:spPr>
          <a:xfrm>
            <a:off x="13920915" y="1257596"/>
            <a:ext cx="3791725" cy="392346"/>
          </a:xfrm>
          <a:prstGeom prst="rect">
            <a:avLst/>
          </a:prstGeom>
          <a:noFill/>
          <a:ln/>
        </p:spPr>
        <p:txBody>
          <a:bodyPr wrap="square" lIns="25400" tIns="25400" rIns="25400" bIns="25400" rtlCol="0" anchor="t">
            <a:normAutofit fontScale="92500"/>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Three solutions address four of them.</a:t>
            </a:r>
            <a:endParaRPr lang="en-US" sz="1800" dirty="0"/>
          </a:p>
        </p:txBody>
      </p:sp>
      <p:sp>
        <p:nvSpPr>
          <p:cNvPr id="5" name="Shape 3"/>
          <p:cNvSpPr/>
          <p:nvPr/>
        </p:nvSpPr>
        <p:spPr>
          <a:xfrm>
            <a:off x="685758" y="2556562"/>
            <a:ext cx="16916443" cy="17390"/>
          </a:xfrm>
          <a:prstGeom prst="rect">
            <a:avLst/>
          </a:prstGeom>
          <a:solidFill>
            <a:srgbClr val="416180"/>
          </a:solidFill>
          <a:ln/>
        </p:spPr>
        <p:txBody>
          <a:bodyPr/>
          <a:lstStyle/>
          <a:p>
            <a:endParaRPr lang="en-US"/>
          </a:p>
        </p:txBody>
      </p:sp>
      <p:sp>
        <p:nvSpPr>
          <p:cNvPr id="6" name="Text 4"/>
          <p:cNvSpPr/>
          <p:nvPr/>
        </p:nvSpPr>
        <p:spPr>
          <a:xfrm>
            <a:off x="685758" y="2088046"/>
            <a:ext cx="3143243"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416180"/>
                </a:solidFill>
                <a:latin typeface="Arial" pitchFamily="34" charset="0"/>
                <a:ea typeface="Arial" pitchFamily="34" charset="-122"/>
                <a:cs typeface="Arial" pitchFamily="34" charset="-120"/>
              </a:rPr>
              <a:t>THEME</a:t>
            </a:r>
            <a:endParaRPr lang="en-US" sz="1800" dirty="0"/>
          </a:p>
        </p:txBody>
      </p:sp>
      <p:sp>
        <p:nvSpPr>
          <p:cNvPr id="7" name="Text 5"/>
          <p:cNvSpPr/>
          <p:nvPr/>
        </p:nvSpPr>
        <p:spPr>
          <a:xfrm>
            <a:off x="3924205" y="2088046"/>
            <a:ext cx="7292637"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416180"/>
                </a:solidFill>
                <a:latin typeface="Arial" pitchFamily="34" charset="0"/>
                <a:ea typeface="Arial" pitchFamily="34" charset="-122"/>
                <a:cs typeface="Arial" pitchFamily="34" charset="-120"/>
              </a:rPr>
              <a:t>FINDING</a:t>
            </a:r>
            <a:endParaRPr lang="en-US" sz="1800" dirty="0"/>
          </a:p>
        </p:txBody>
      </p:sp>
      <p:sp>
        <p:nvSpPr>
          <p:cNvPr id="8" name="Text 6"/>
          <p:cNvSpPr/>
          <p:nvPr/>
        </p:nvSpPr>
        <p:spPr>
          <a:xfrm>
            <a:off x="10934829" y="2088046"/>
            <a:ext cx="4819589"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416180"/>
                </a:solidFill>
                <a:latin typeface="Arial" pitchFamily="34" charset="0"/>
                <a:ea typeface="Arial" pitchFamily="34" charset="-122"/>
                <a:cs typeface="Arial" pitchFamily="34" charset="-120"/>
              </a:rPr>
              <a:t>IMPACT</a:t>
            </a:r>
            <a:endParaRPr lang="en-US" sz="1800" dirty="0"/>
          </a:p>
        </p:txBody>
      </p:sp>
      <p:sp>
        <p:nvSpPr>
          <p:cNvPr id="9" name="Text 7"/>
          <p:cNvSpPr/>
          <p:nvPr/>
        </p:nvSpPr>
        <p:spPr>
          <a:xfrm>
            <a:off x="15697228" y="2088046"/>
            <a:ext cx="2095470"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416180"/>
                </a:solidFill>
                <a:latin typeface="Arial" pitchFamily="34" charset="0"/>
                <a:ea typeface="Arial" pitchFamily="34" charset="-122"/>
                <a:cs typeface="Arial" pitchFamily="34" charset="-120"/>
              </a:rPr>
              <a:t>RESOLUTION</a:t>
            </a:r>
            <a:endParaRPr lang="en-US" sz="1800" dirty="0"/>
          </a:p>
        </p:txBody>
      </p:sp>
      <p:sp>
        <p:nvSpPr>
          <p:cNvPr id="10" name="Shape 8"/>
          <p:cNvSpPr/>
          <p:nvPr/>
        </p:nvSpPr>
        <p:spPr>
          <a:xfrm>
            <a:off x="685758" y="4231047"/>
            <a:ext cx="16916443" cy="9525"/>
          </a:xfrm>
          <a:prstGeom prst="rect">
            <a:avLst/>
          </a:prstGeom>
          <a:solidFill>
            <a:srgbClr val="1F1F1F">
              <a:alpha val="16000"/>
            </a:srgbClr>
          </a:solidFill>
          <a:ln/>
        </p:spPr>
        <p:txBody>
          <a:bodyPr/>
          <a:lstStyle/>
          <a:p>
            <a:endParaRPr lang="en-US"/>
          </a:p>
        </p:txBody>
      </p:sp>
      <p:sp>
        <p:nvSpPr>
          <p:cNvPr id="11" name="Shape 9"/>
          <p:cNvSpPr/>
          <p:nvPr/>
        </p:nvSpPr>
        <p:spPr>
          <a:xfrm>
            <a:off x="685758" y="2764429"/>
            <a:ext cx="43475" cy="1295230"/>
          </a:xfrm>
          <a:prstGeom prst="rect">
            <a:avLst/>
          </a:prstGeom>
          <a:solidFill>
            <a:srgbClr val="C8651B"/>
          </a:solidFill>
          <a:ln/>
        </p:spPr>
        <p:txBody>
          <a:bodyPr/>
          <a:lstStyle/>
          <a:p>
            <a:endParaRPr lang="en-US"/>
          </a:p>
        </p:txBody>
      </p:sp>
      <p:sp>
        <p:nvSpPr>
          <p:cNvPr id="12" name="Text 10"/>
          <p:cNvSpPr/>
          <p:nvPr/>
        </p:nvSpPr>
        <p:spPr>
          <a:xfrm>
            <a:off x="881601" y="2764429"/>
            <a:ext cx="2927815" cy="394259"/>
          </a:xfrm>
          <a:prstGeom prst="rect">
            <a:avLst/>
          </a:prstGeom>
          <a:noFill/>
          <a:ln/>
        </p:spPr>
        <p:txBody>
          <a:bodyPr wrap="square" lIns="25400" tIns="25400" rIns="25400" bIns="25400" rtlCol="0" anchor="t">
            <a:normAutofit fontScale="92500" lnSpcReduction="10000"/>
          </a:bodyPr>
          <a:lstStyle/>
          <a:p>
            <a:pPr marL="0" indent="0" algn="l">
              <a:lnSpc>
                <a:spcPct val="96399"/>
              </a:lnSpc>
              <a:buNone/>
            </a:pPr>
            <a:r>
              <a:rPr lang="en-US" sz="2550" dirty="0">
                <a:solidFill>
                  <a:srgbClr val="1D2D3D"/>
                </a:solidFill>
                <a:latin typeface="Arial" pitchFamily="34" charset="0"/>
                <a:ea typeface="Arial" pitchFamily="34" charset="-122"/>
                <a:cs typeface="Arial" pitchFamily="34" charset="-120"/>
              </a:rPr>
              <a:t>Redundant functions</a:t>
            </a:r>
            <a:endParaRPr lang="en-US" sz="2550" dirty="0"/>
          </a:p>
        </p:txBody>
      </p:sp>
      <p:sp>
        <p:nvSpPr>
          <p:cNvPr id="13" name="Text 11"/>
          <p:cNvSpPr/>
          <p:nvPr/>
        </p:nvSpPr>
        <p:spPr>
          <a:xfrm>
            <a:off x="881601" y="3158629"/>
            <a:ext cx="2927815"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Findings 1–2</a:t>
            </a:r>
            <a:endParaRPr lang="en-US" sz="1800" dirty="0"/>
          </a:p>
        </p:txBody>
      </p:sp>
      <p:sp>
        <p:nvSpPr>
          <p:cNvPr id="14" name="Shape 12"/>
          <p:cNvSpPr/>
          <p:nvPr/>
        </p:nvSpPr>
        <p:spPr>
          <a:xfrm>
            <a:off x="3924205" y="2764429"/>
            <a:ext cx="285715" cy="285715"/>
          </a:xfrm>
          <a:prstGeom prst="rect">
            <a:avLst/>
          </a:prstGeom>
          <a:solidFill>
            <a:srgbClr val="C8651B"/>
          </a:solidFill>
          <a:ln/>
        </p:spPr>
        <p:txBody>
          <a:bodyPr/>
          <a:lstStyle/>
          <a:p>
            <a:endParaRPr lang="en-US"/>
          </a:p>
        </p:txBody>
      </p:sp>
      <p:sp>
        <p:nvSpPr>
          <p:cNvPr id="15" name="Text 13"/>
          <p:cNvSpPr/>
          <p:nvPr/>
        </p:nvSpPr>
        <p:spPr>
          <a:xfrm>
            <a:off x="3886105" y="2764429"/>
            <a:ext cx="361915" cy="323815"/>
          </a:xfrm>
          <a:prstGeom prst="rect">
            <a:avLst/>
          </a:prstGeom>
          <a:noFill/>
          <a:ln/>
        </p:spPr>
        <p:txBody>
          <a:bodyPr wrap="square" lIns="25400" tIns="25400" rIns="25400" bIns="25400" rtlCol="0" anchor="ctr">
            <a:normAutofit lnSpcReduction="10000"/>
          </a:bodyPr>
          <a:lstStyle/>
          <a:p>
            <a:pPr marL="0" indent="0" algn="ctr">
              <a:lnSpc>
                <a:spcPct val="132062"/>
              </a:lnSpc>
              <a:buNone/>
            </a:pPr>
            <a:r>
              <a:rPr lang="en-US" sz="1575" dirty="0">
                <a:solidFill>
                  <a:srgbClr val="F2F2F3"/>
                </a:solidFill>
                <a:latin typeface="Arial" pitchFamily="34" charset="0"/>
                <a:ea typeface="Arial" pitchFamily="34" charset="-122"/>
                <a:cs typeface="Arial" pitchFamily="34" charset="-120"/>
              </a:rPr>
              <a:t>1</a:t>
            </a:r>
            <a:endParaRPr lang="en-US" sz="1575" dirty="0"/>
          </a:p>
        </p:txBody>
      </p:sp>
      <p:sp>
        <p:nvSpPr>
          <p:cNvPr id="16" name="Text 14"/>
          <p:cNvSpPr/>
          <p:nvPr/>
        </p:nvSpPr>
        <p:spPr>
          <a:xfrm>
            <a:off x="4343268" y="2764429"/>
            <a:ext cx="3015765" cy="322864"/>
          </a:xfrm>
          <a:prstGeom prst="rect">
            <a:avLst/>
          </a:prstGeom>
          <a:noFill/>
          <a:ln/>
        </p:spPr>
        <p:txBody>
          <a:bodyPr wrap="square" lIns="25400" tIns="25400" rIns="25400" bIns="25400" rtlCol="0" anchor="t">
            <a:normAutofit lnSpcReduction="10000"/>
          </a:bodyPr>
          <a:lstStyle/>
          <a:p>
            <a:pPr marL="0" indent="0" algn="l">
              <a:lnSpc>
                <a:spcPct val="99254"/>
              </a:lnSpc>
              <a:buNone/>
            </a:pPr>
            <a:r>
              <a:rPr lang="en-US" sz="1950" dirty="0">
                <a:solidFill>
                  <a:srgbClr val="1D1F20"/>
                </a:solidFill>
                <a:latin typeface="Arial" pitchFamily="34" charset="0"/>
                <a:ea typeface="Arial" pitchFamily="34" charset="-122"/>
                <a:cs typeface="Arial" pitchFamily="34" charset="-120"/>
              </a:rPr>
              <a:t>Team space management</a:t>
            </a:r>
            <a:endParaRPr lang="en-US" sz="1950" dirty="0"/>
          </a:p>
        </p:txBody>
      </p:sp>
      <p:sp>
        <p:nvSpPr>
          <p:cNvPr id="17" name="Text 15"/>
          <p:cNvSpPr/>
          <p:nvPr/>
        </p:nvSpPr>
        <p:spPr>
          <a:xfrm>
            <a:off x="10839591" y="2764429"/>
            <a:ext cx="4610984" cy="609531"/>
          </a:xfrm>
          <a:prstGeom prst="rect">
            <a:avLst/>
          </a:prstGeom>
          <a:noFill/>
          <a:ln/>
        </p:spPr>
        <p:txBody>
          <a:bodyPr wrap="square" lIns="25400" tIns="25400" rIns="25400" bIns="25400" rtlCol="0" anchor="t">
            <a:normAutofit lnSpcReduction="10000"/>
          </a:bodyPr>
          <a:lstStyle/>
          <a:p>
            <a:pPr marL="0" indent="0" algn="l">
              <a:lnSpc>
                <a:spcPct val="107749"/>
              </a:lnSpc>
              <a:buNone/>
            </a:pPr>
            <a:r>
              <a:rPr lang="en-US" sz="1800" dirty="0">
                <a:solidFill>
                  <a:srgbClr val="5D5D60"/>
                </a:solidFill>
                <a:latin typeface="Arial" pitchFamily="34" charset="0"/>
                <a:ea typeface="Arial" pitchFamily="34" charset="-122"/>
                <a:cs typeface="Arial" pitchFamily="34" charset="-120"/>
              </a:rPr>
              <a:t>Members and projects maintained in two systems</a:t>
            </a:r>
            <a:endParaRPr lang="en-US" sz="1800" dirty="0"/>
          </a:p>
        </p:txBody>
      </p:sp>
      <p:sp>
        <p:nvSpPr>
          <p:cNvPr id="18" name="Text 16"/>
          <p:cNvSpPr/>
          <p:nvPr/>
        </p:nvSpPr>
        <p:spPr>
          <a:xfrm>
            <a:off x="15697228" y="2764429"/>
            <a:ext cx="2095470" cy="322864"/>
          </a:xfrm>
          <a:prstGeom prst="rect">
            <a:avLst/>
          </a:prstGeom>
          <a:noFill/>
          <a:ln/>
        </p:spPr>
        <p:txBody>
          <a:bodyPr wrap="square" lIns="25400" tIns="25400" rIns="25400" bIns="25400" rtlCol="0" anchor="t">
            <a:normAutofit lnSpcReduction="10000"/>
          </a:bodyPr>
          <a:lstStyle/>
          <a:p>
            <a:pPr marL="0" indent="0" algn="l">
              <a:lnSpc>
                <a:spcPct val="99254"/>
              </a:lnSpc>
              <a:buNone/>
            </a:pPr>
            <a:r>
              <a:rPr lang="en-US" sz="1950" dirty="0">
                <a:solidFill>
                  <a:srgbClr val="416180"/>
                </a:solidFill>
                <a:latin typeface="Arial" pitchFamily="34" charset="0"/>
                <a:ea typeface="Arial" pitchFamily="34" charset="-122"/>
                <a:cs typeface="Arial" pitchFamily="34" charset="-120"/>
              </a:rPr>
              <a:t>Solution 1</a:t>
            </a:r>
            <a:endParaRPr lang="en-US" sz="1950" dirty="0"/>
          </a:p>
        </p:txBody>
      </p:sp>
      <p:sp>
        <p:nvSpPr>
          <p:cNvPr id="19" name="Shape 17"/>
          <p:cNvSpPr/>
          <p:nvPr/>
        </p:nvSpPr>
        <p:spPr>
          <a:xfrm>
            <a:off x="3924205" y="3488227"/>
            <a:ext cx="285715" cy="285715"/>
          </a:xfrm>
          <a:prstGeom prst="rect">
            <a:avLst/>
          </a:prstGeom>
          <a:solidFill>
            <a:srgbClr val="C8651B"/>
          </a:solidFill>
          <a:ln/>
        </p:spPr>
        <p:txBody>
          <a:bodyPr/>
          <a:lstStyle/>
          <a:p>
            <a:endParaRPr lang="en-US"/>
          </a:p>
        </p:txBody>
      </p:sp>
      <p:sp>
        <p:nvSpPr>
          <p:cNvPr id="20" name="Text 18"/>
          <p:cNvSpPr/>
          <p:nvPr/>
        </p:nvSpPr>
        <p:spPr>
          <a:xfrm>
            <a:off x="3886105" y="3488227"/>
            <a:ext cx="361915" cy="323815"/>
          </a:xfrm>
          <a:prstGeom prst="rect">
            <a:avLst/>
          </a:prstGeom>
          <a:noFill/>
          <a:ln/>
        </p:spPr>
        <p:txBody>
          <a:bodyPr wrap="square" lIns="25400" tIns="25400" rIns="25400" bIns="25400" rtlCol="0" anchor="ctr">
            <a:normAutofit lnSpcReduction="10000"/>
          </a:bodyPr>
          <a:lstStyle/>
          <a:p>
            <a:pPr marL="0" indent="0" algn="ctr">
              <a:lnSpc>
                <a:spcPct val="132062"/>
              </a:lnSpc>
              <a:buNone/>
            </a:pPr>
            <a:r>
              <a:rPr lang="en-US" sz="1575" dirty="0">
                <a:solidFill>
                  <a:srgbClr val="F2F2F3"/>
                </a:solidFill>
                <a:latin typeface="Arial" pitchFamily="34" charset="0"/>
                <a:ea typeface="Arial" pitchFamily="34" charset="-122"/>
                <a:cs typeface="Arial" pitchFamily="34" charset="-120"/>
              </a:rPr>
              <a:t>2</a:t>
            </a:r>
            <a:endParaRPr lang="en-US" sz="1575" dirty="0"/>
          </a:p>
        </p:txBody>
      </p:sp>
      <p:sp>
        <p:nvSpPr>
          <p:cNvPr id="21" name="Text 19"/>
          <p:cNvSpPr/>
          <p:nvPr/>
        </p:nvSpPr>
        <p:spPr>
          <a:xfrm>
            <a:off x="4343268" y="3488227"/>
            <a:ext cx="3508566" cy="322864"/>
          </a:xfrm>
          <a:prstGeom prst="rect">
            <a:avLst/>
          </a:prstGeom>
          <a:noFill/>
          <a:ln/>
        </p:spPr>
        <p:txBody>
          <a:bodyPr wrap="square" lIns="25400" tIns="25400" rIns="25400" bIns="25400" rtlCol="0" anchor="t">
            <a:normAutofit lnSpcReduction="10000"/>
          </a:bodyPr>
          <a:lstStyle/>
          <a:p>
            <a:pPr marL="0" indent="0" algn="l">
              <a:lnSpc>
                <a:spcPct val="99254"/>
              </a:lnSpc>
              <a:buNone/>
            </a:pPr>
            <a:r>
              <a:rPr lang="en-US" sz="1950" dirty="0">
                <a:solidFill>
                  <a:srgbClr val="1D1F20"/>
                </a:solidFill>
                <a:latin typeface="Arial" pitchFamily="34" charset="0"/>
                <a:ea typeface="Arial" pitchFamily="34" charset="-122"/>
                <a:cs typeface="Arial" pitchFamily="34" charset="-120"/>
              </a:rPr>
              <a:t>Team document management</a:t>
            </a:r>
            <a:endParaRPr lang="en-US" sz="1950" dirty="0"/>
          </a:p>
        </p:txBody>
      </p:sp>
      <p:sp>
        <p:nvSpPr>
          <p:cNvPr id="22" name="Text 20"/>
          <p:cNvSpPr/>
          <p:nvPr/>
        </p:nvSpPr>
        <p:spPr>
          <a:xfrm>
            <a:off x="10839591" y="3488227"/>
            <a:ext cx="4610984" cy="609531"/>
          </a:xfrm>
          <a:prstGeom prst="rect">
            <a:avLst/>
          </a:prstGeom>
          <a:noFill/>
          <a:ln/>
        </p:spPr>
        <p:txBody>
          <a:bodyPr wrap="square" lIns="25400" tIns="25400" rIns="25400" bIns="25400" rtlCol="0" anchor="t">
            <a:normAutofit lnSpcReduction="10000"/>
          </a:bodyPr>
          <a:lstStyle/>
          <a:p>
            <a:pPr marL="0" indent="0" algn="l">
              <a:lnSpc>
                <a:spcPct val="107749"/>
              </a:lnSpc>
              <a:buNone/>
            </a:pPr>
            <a:r>
              <a:rPr lang="en-US" sz="1800" dirty="0">
                <a:solidFill>
                  <a:srgbClr val="5D5D60"/>
                </a:solidFill>
                <a:latin typeface="Arial" pitchFamily="34" charset="0"/>
                <a:ea typeface="Arial" pitchFamily="34" charset="-122"/>
                <a:cs typeface="Arial" pitchFamily="34" charset="-120"/>
              </a:rPr>
              <a:t>Shared files duplicated; source of truth ambiguous</a:t>
            </a:r>
            <a:endParaRPr lang="en-US" sz="1800" dirty="0"/>
          </a:p>
        </p:txBody>
      </p:sp>
      <p:sp>
        <p:nvSpPr>
          <p:cNvPr id="23" name="Text 21"/>
          <p:cNvSpPr/>
          <p:nvPr/>
        </p:nvSpPr>
        <p:spPr>
          <a:xfrm>
            <a:off x="15697228" y="3488227"/>
            <a:ext cx="2095470" cy="322864"/>
          </a:xfrm>
          <a:prstGeom prst="rect">
            <a:avLst/>
          </a:prstGeom>
          <a:noFill/>
          <a:ln/>
        </p:spPr>
        <p:txBody>
          <a:bodyPr wrap="square" lIns="25400" tIns="25400" rIns="25400" bIns="25400" rtlCol="0" anchor="t">
            <a:normAutofit lnSpcReduction="10000"/>
          </a:bodyPr>
          <a:lstStyle/>
          <a:p>
            <a:pPr marL="0" indent="0" algn="l">
              <a:lnSpc>
                <a:spcPct val="99254"/>
              </a:lnSpc>
              <a:buNone/>
            </a:pPr>
            <a:r>
              <a:rPr lang="en-US" sz="1950" dirty="0">
                <a:solidFill>
                  <a:srgbClr val="416180"/>
                </a:solidFill>
                <a:latin typeface="Arial" pitchFamily="34" charset="0"/>
                <a:ea typeface="Arial" pitchFamily="34" charset="-122"/>
                <a:cs typeface="Arial" pitchFamily="34" charset="-120"/>
              </a:rPr>
              <a:t>Solution 1</a:t>
            </a:r>
            <a:endParaRPr lang="en-US" sz="1950" dirty="0"/>
          </a:p>
        </p:txBody>
      </p:sp>
      <p:sp>
        <p:nvSpPr>
          <p:cNvPr id="24" name="Shape 22"/>
          <p:cNvSpPr/>
          <p:nvPr/>
        </p:nvSpPr>
        <p:spPr>
          <a:xfrm>
            <a:off x="685758" y="5350065"/>
            <a:ext cx="16916443" cy="9525"/>
          </a:xfrm>
          <a:prstGeom prst="rect">
            <a:avLst/>
          </a:prstGeom>
          <a:solidFill>
            <a:srgbClr val="1F1F1F">
              <a:alpha val="16000"/>
            </a:srgbClr>
          </a:solidFill>
          <a:ln/>
        </p:spPr>
        <p:txBody>
          <a:bodyPr/>
          <a:lstStyle/>
          <a:p>
            <a:endParaRPr lang="en-US"/>
          </a:p>
        </p:txBody>
      </p:sp>
      <p:sp>
        <p:nvSpPr>
          <p:cNvPr id="25" name="Shape 23"/>
          <p:cNvSpPr/>
          <p:nvPr/>
        </p:nvSpPr>
        <p:spPr>
          <a:xfrm>
            <a:off x="685758" y="4430219"/>
            <a:ext cx="43475" cy="748458"/>
          </a:xfrm>
          <a:prstGeom prst="rect">
            <a:avLst/>
          </a:prstGeom>
          <a:solidFill>
            <a:srgbClr val="C8651B"/>
          </a:solidFill>
          <a:ln/>
        </p:spPr>
        <p:txBody>
          <a:bodyPr/>
          <a:lstStyle/>
          <a:p>
            <a:endParaRPr lang="en-US"/>
          </a:p>
        </p:txBody>
      </p:sp>
      <p:sp>
        <p:nvSpPr>
          <p:cNvPr id="26" name="Text 24"/>
          <p:cNvSpPr/>
          <p:nvPr/>
        </p:nvSpPr>
        <p:spPr>
          <a:xfrm>
            <a:off x="881601" y="4430219"/>
            <a:ext cx="2927815" cy="394259"/>
          </a:xfrm>
          <a:prstGeom prst="rect">
            <a:avLst/>
          </a:prstGeom>
          <a:noFill/>
          <a:ln/>
        </p:spPr>
        <p:txBody>
          <a:bodyPr wrap="square" lIns="25400" tIns="25400" rIns="25400" bIns="25400" rtlCol="0" anchor="t">
            <a:normAutofit lnSpcReduction="10000"/>
          </a:bodyPr>
          <a:lstStyle/>
          <a:p>
            <a:pPr marL="0" indent="0" algn="l">
              <a:lnSpc>
                <a:spcPct val="96399"/>
              </a:lnSpc>
              <a:buNone/>
            </a:pPr>
            <a:r>
              <a:rPr lang="en-US" sz="2550" dirty="0">
                <a:solidFill>
                  <a:srgbClr val="1D2D3D"/>
                </a:solidFill>
                <a:latin typeface="Arial" pitchFamily="34" charset="0"/>
                <a:ea typeface="Arial" pitchFamily="34" charset="-122"/>
                <a:cs typeface="Arial" pitchFamily="34" charset="-120"/>
              </a:rPr>
              <a:t>One hop too many</a:t>
            </a:r>
            <a:endParaRPr lang="en-US" sz="2550" dirty="0"/>
          </a:p>
        </p:txBody>
      </p:sp>
      <p:sp>
        <p:nvSpPr>
          <p:cNvPr id="27" name="Text 25"/>
          <p:cNvSpPr/>
          <p:nvPr/>
        </p:nvSpPr>
        <p:spPr>
          <a:xfrm>
            <a:off x="881601" y="4824419"/>
            <a:ext cx="2927815"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Finding 3</a:t>
            </a:r>
            <a:endParaRPr lang="en-US" sz="1800" dirty="0"/>
          </a:p>
        </p:txBody>
      </p:sp>
      <p:sp>
        <p:nvSpPr>
          <p:cNvPr id="28" name="Shape 26"/>
          <p:cNvSpPr/>
          <p:nvPr/>
        </p:nvSpPr>
        <p:spPr>
          <a:xfrm>
            <a:off x="3924205" y="4430219"/>
            <a:ext cx="285715" cy="285715"/>
          </a:xfrm>
          <a:prstGeom prst="rect">
            <a:avLst/>
          </a:prstGeom>
          <a:solidFill>
            <a:srgbClr val="C8651B"/>
          </a:solidFill>
          <a:ln/>
        </p:spPr>
        <p:txBody>
          <a:bodyPr/>
          <a:lstStyle/>
          <a:p>
            <a:endParaRPr lang="en-US"/>
          </a:p>
        </p:txBody>
      </p:sp>
      <p:sp>
        <p:nvSpPr>
          <p:cNvPr id="29" name="Text 27"/>
          <p:cNvSpPr/>
          <p:nvPr/>
        </p:nvSpPr>
        <p:spPr>
          <a:xfrm>
            <a:off x="3886105" y="4430219"/>
            <a:ext cx="361915" cy="323815"/>
          </a:xfrm>
          <a:prstGeom prst="rect">
            <a:avLst/>
          </a:prstGeom>
          <a:noFill/>
          <a:ln/>
        </p:spPr>
        <p:txBody>
          <a:bodyPr wrap="square" lIns="25400" tIns="25400" rIns="25400" bIns="25400" rtlCol="0" anchor="ctr">
            <a:normAutofit lnSpcReduction="10000"/>
          </a:bodyPr>
          <a:lstStyle/>
          <a:p>
            <a:pPr marL="0" indent="0" algn="ctr">
              <a:lnSpc>
                <a:spcPct val="132062"/>
              </a:lnSpc>
              <a:buNone/>
            </a:pPr>
            <a:r>
              <a:rPr lang="en-US" sz="1575" dirty="0">
                <a:solidFill>
                  <a:srgbClr val="F2F2F3"/>
                </a:solidFill>
                <a:latin typeface="Arial" pitchFamily="34" charset="0"/>
                <a:ea typeface="Arial" pitchFamily="34" charset="-122"/>
                <a:cs typeface="Arial" pitchFamily="34" charset="-120"/>
              </a:rPr>
              <a:t>3</a:t>
            </a:r>
            <a:endParaRPr lang="en-US" sz="1575" dirty="0"/>
          </a:p>
        </p:txBody>
      </p:sp>
      <p:sp>
        <p:nvSpPr>
          <p:cNvPr id="30" name="Text 28"/>
          <p:cNvSpPr/>
          <p:nvPr/>
        </p:nvSpPr>
        <p:spPr>
          <a:xfrm>
            <a:off x="4343268" y="4430219"/>
            <a:ext cx="3757769" cy="322864"/>
          </a:xfrm>
          <a:prstGeom prst="rect">
            <a:avLst/>
          </a:prstGeom>
          <a:noFill/>
          <a:ln/>
        </p:spPr>
        <p:txBody>
          <a:bodyPr wrap="square" lIns="25400" tIns="25400" rIns="25400" bIns="25400" rtlCol="0" anchor="t">
            <a:normAutofit lnSpcReduction="10000"/>
          </a:bodyPr>
          <a:lstStyle/>
          <a:p>
            <a:pPr marL="0" indent="0" algn="l">
              <a:lnSpc>
                <a:spcPct val="99254"/>
              </a:lnSpc>
              <a:buNone/>
            </a:pPr>
            <a:r>
              <a:rPr lang="en-US" sz="1950" dirty="0">
                <a:solidFill>
                  <a:srgbClr val="1D1F20"/>
                </a:solidFill>
                <a:latin typeface="Arial" pitchFamily="34" charset="0"/>
                <a:ea typeface="Arial" pitchFamily="34" charset="-122"/>
                <a:cs typeface="Arial" pitchFamily="34" charset="-120"/>
              </a:rPr>
              <a:t>SharePoint document migration</a:t>
            </a:r>
            <a:endParaRPr lang="en-US" sz="1950" dirty="0"/>
          </a:p>
        </p:txBody>
      </p:sp>
      <p:sp>
        <p:nvSpPr>
          <p:cNvPr id="31" name="Text 29"/>
          <p:cNvSpPr/>
          <p:nvPr/>
        </p:nvSpPr>
        <p:spPr>
          <a:xfrm>
            <a:off x="10839591" y="4430219"/>
            <a:ext cx="4610984" cy="609531"/>
          </a:xfrm>
          <a:prstGeom prst="rect">
            <a:avLst/>
          </a:prstGeom>
          <a:noFill/>
          <a:ln/>
        </p:spPr>
        <p:txBody>
          <a:bodyPr wrap="square" lIns="25400" tIns="25400" rIns="25400" bIns="25400" rtlCol="0" anchor="t">
            <a:normAutofit lnSpcReduction="10000"/>
          </a:bodyPr>
          <a:lstStyle/>
          <a:p>
            <a:pPr marL="0" indent="0" algn="l">
              <a:lnSpc>
                <a:spcPct val="107749"/>
              </a:lnSpc>
              <a:buNone/>
            </a:pPr>
            <a:r>
              <a:rPr lang="en-US" sz="1800" dirty="0">
                <a:solidFill>
                  <a:srgbClr val="5D5D60"/>
                </a:solidFill>
                <a:latin typeface="Arial" pitchFamily="34" charset="0"/>
                <a:ea typeface="Arial" pitchFamily="34" charset="-122"/>
                <a:cs typeface="Arial" pitchFamily="34" charset="-120"/>
              </a:rPr>
              <a:t>An extra hop before indexing; data replicated across two stores</a:t>
            </a:r>
            <a:endParaRPr lang="en-US" sz="1800" dirty="0"/>
          </a:p>
        </p:txBody>
      </p:sp>
      <p:sp>
        <p:nvSpPr>
          <p:cNvPr id="32" name="Text 30"/>
          <p:cNvSpPr/>
          <p:nvPr/>
        </p:nvSpPr>
        <p:spPr>
          <a:xfrm>
            <a:off x="15697228" y="4430219"/>
            <a:ext cx="2095470" cy="322864"/>
          </a:xfrm>
          <a:prstGeom prst="rect">
            <a:avLst/>
          </a:prstGeom>
          <a:noFill/>
          <a:ln/>
        </p:spPr>
        <p:txBody>
          <a:bodyPr wrap="square" lIns="25400" tIns="25400" rIns="25400" bIns="25400" rtlCol="0" anchor="t">
            <a:normAutofit lnSpcReduction="10000"/>
          </a:bodyPr>
          <a:lstStyle/>
          <a:p>
            <a:pPr marL="0" indent="0" algn="l">
              <a:lnSpc>
                <a:spcPct val="99254"/>
              </a:lnSpc>
              <a:buNone/>
            </a:pPr>
            <a:r>
              <a:rPr lang="en-US" sz="1950" dirty="0">
                <a:solidFill>
                  <a:srgbClr val="416180"/>
                </a:solidFill>
                <a:latin typeface="Arial" pitchFamily="34" charset="0"/>
                <a:ea typeface="Arial" pitchFamily="34" charset="-122"/>
                <a:cs typeface="Arial" pitchFamily="34" charset="-120"/>
              </a:rPr>
              <a:t>Solution 2</a:t>
            </a:r>
            <a:endParaRPr lang="en-US" sz="1950" dirty="0"/>
          </a:p>
        </p:txBody>
      </p:sp>
      <p:sp>
        <p:nvSpPr>
          <p:cNvPr id="33" name="Shape 31"/>
          <p:cNvSpPr/>
          <p:nvPr/>
        </p:nvSpPr>
        <p:spPr>
          <a:xfrm>
            <a:off x="685758" y="7739654"/>
            <a:ext cx="16916443" cy="9525"/>
          </a:xfrm>
          <a:prstGeom prst="rect">
            <a:avLst/>
          </a:prstGeom>
          <a:solidFill>
            <a:srgbClr val="1F1F1F">
              <a:alpha val="16000"/>
            </a:srgbClr>
          </a:solidFill>
          <a:ln/>
        </p:spPr>
        <p:txBody>
          <a:bodyPr/>
          <a:lstStyle/>
          <a:p>
            <a:endParaRPr lang="en-US"/>
          </a:p>
        </p:txBody>
      </p:sp>
      <p:sp>
        <p:nvSpPr>
          <p:cNvPr id="34" name="Shape 32"/>
          <p:cNvSpPr/>
          <p:nvPr/>
        </p:nvSpPr>
        <p:spPr>
          <a:xfrm>
            <a:off x="685758" y="5549237"/>
            <a:ext cx="43475" cy="2019028"/>
          </a:xfrm>
          <a:prstGeom prst="rect">
            <a:avLst/>
          </a:prstGeom>
          <a:solidFill>
            <a:srgbClr val="C8651B"/>
          </a:solidFill>
          <a:ln/>
        </p:spPr>
        <p:txBody>
          <a:bodyPr/>
          <a:lstStyle/>
          <a:p>
            <a:endParaRPr lang="en-US"/>
          </a:p>
        </p:txBody>
      </p:sp>
      <p:sp>
        <p:nvSpPr>
          <p:cNvPr id="35" name="Text 33"/>
          <p:cNvSpPr/>
          <p:nvPr/>
        </p:nvSpPr>
        <p:spPr>
          <a:xfrm>
            <a:off x="881601" y="5549237"/>
            <a:ext cx="2927815" cy="394259"/>
          </a:xfrm>
          <a:prstGeom prst="rect">
            <a:avLst/>
          </a:prstGeom>
          <a:noFill/>
          <a:ln/>
        </p:spPr>
        <p:txBody>
          <a:bodyPr wrap="square" lIns="25400" tIns="25400" rIns="25400" bIns="25400" rtlCol="0" anchor="t">
            <a:normAutofit lnSpcReduction="10000"/>
          </a:bodyPr>
          <a:lstStyle/>
          <a:p>
            <a:pPr marL="0" indent="0" algn="l">
              <a:lnSpc>
                <a:spcPct val="96399"/>
              </a:lnSpc>
              <a:buNone/>
            </a:pPr>
            <a:r>
              <a:rPr lang="en-US" sz="2550" dirty="0">
                <a:solidFill>
                  <a:srgbClr val="1D2D3D"/>
                </a:solidFill>
                <a:latin typeface="Arial" pitchFamily="34" charset="0"/>
                <a:ea typeface="Arial" pitchFamily="34" charset="-122"/>
                <a:cs typeface="Arial" pitchFamily="34" charset="-120"/>
              </a:rPr>
              <a:t>Nothing expires</a:t>
            </a:r>
            <a:endParaRPr lang="en-US" sz="2550" dirty="0"/>
          </a:p>
        </p:txBody>
      </p:sp>
      <p:sp>
        <p:nvSpPr>
          <p:cNvPr id="36" name="Text 34"/>
          <p:cNvSpPr/>
          <p:nvPr/>
        </p:nvSpPr>
        <p:spPr>
          <a:xfrm>
            <a:off x="881601" y="5943437"/>
            <a:ext cx="2927815"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Findings 4, 5</a:t>
            </a:r>
            <a:endParaRPr lang="en-US" sz="1800" dirty="0"/>
          </a:p>
        </p:txBody>
      </p:sp>
      <p:sp>
        <p:nvSpPr>
          <p:cNvPr id="37" name="Shape 35"/>
          <p:cNvSpPr/>
          <p:nvPr/>
        </p:nvSpPr>
        <p:spPr>
          <a:xfrm>
            <a:off x="3924205" y="5549237"/>
            <a:ext cx="285715" cy="285715"/>
          </a:xfrm>
          <a:prstGeom prst="rect">
            <a:avLst/>
          </a:prstGeom>
          <a:solidFill>
            <a:srgbClr val="C8651B"/>
          </a:solidFill>
          <a:ln/>
        </p:spPr>
        <p:txBody>
          <a:bodyPr/>
          <a:lstStyle/>
          <a:p>
            <a:endParaRPr lang="en-US"/>
          </a:p>
        </p:txBody>
      </p:sp>
      <p:sp>
        <p:nvSpPr>
          <p:cNvPr id="38" name="Text 36"/>
          <p:cNvSpPr/>
          <p:nvPr/>
        </p:nvSpPr>
        <p:spPr>
          <a:xfrm>
            <a:off x="3886105" y="5549237"/>
            <a:ext cx="361915" cy="323815"/>
          </a:xfrm>
          <a:prstGeom prst="rect">
            <a:avLst/>
          </a:prstGeom>
          <a:noFill/>
          <a:ln/>
        </p:spPr>
        <p:txBody>
          <a:bodyPr wrap="square" lIns="25400" tIns="25400" rIns="25400" bIns="25400" rtlCol="0" anchor="ctr">
            <a:normAutofit lnSpcReduction="10000"/>
          </a:bodyPr>
          <a:lstStyle/>
          <a:p>
            <a:pPr marL="0" indent="0" algn="ctr">
              <a:lnSpc>
                <a:spcPct val="132062"/>
              </a:lnSpc>
              <a:buNone/>
            </a:pPr>
            <a:r>
              <a:rPr lang="en-US" sz="1575" dirty="0">
                <a:solidFill>
                  <a:srgbClr val="F2F2F3"/>
                </a:solidFill>
                <a:latin typeface="Arial" pitchFamily="34" charset="0"/>
                <a:ea typeface="Arial" pitchFamily="34" charset="-122"/>
                <a:cs typeface="Arial" pitchFamily="34" charset="-120"/>
              </a:rPr>
              <a:t>4</a:t>
            </a:r>
            <a:endParaRPr lang="en-US" sz="1575" dirty="0"/>
          </a:p>
        </p:txBody>
      </p:sp>
      <p:sp>
        <p:nvSpPr>
          <p:cNvPr id="39" name="Text 37"/>
          <p:cNvSpPr/>
          <p:nvPr/>
        </p:nvSpPr>
        <p:spPr>
          <a:xfrm>
            <a:off x="4343268" y="5549237"/>
            <a:ext cx="3491678" cy="322864"/>
          </a:xfrm>
          <a:prstGeom prst="rect">
            <a:avLst/>
          </a:prstGeom>
          <a:noFill/>
          <a:ln/>
        </p:spPr>
        <p:txBody>
          <a:bodyPr wrap="square" lIns="25400" tIns="25400" rIns="25400" bIns="25400" rtlCol="0" anchor="t">
            <a:normAutofit lnSpcReduction="10000"/>
          </a:bodyPr>
          <a:lstStyle/>
          <a:p>
            <a:pPr marL="0" indent="0" algn="l">
              <a:lnSpc>
                <a:spcPct val="99254"/>
              </a:lnSpc>
              <a:buNone/>
            </a:pPr>
            <a:r>
              <a:rPr lang="en-US" sz="1950" dirty="0">
                <a:solidFill>
                  <a:srgbClr val="1D1F20"/>
                </a:solidFill>
                <a:latin typeface="Arial" pitchFamily="34" charset="0"/>
                <a:ea typeface="Arial" pitchFamily="34" charset="-122"/>
                <a:cs typeface="Arial" pitchFamily="34" charset="-120"/>
              </a:rPr>
              <a:t>Azure Blob storage ballooning</a:t>
            </a:r>
            <a:endParaRPr lang="en-US" sz="1950" dirty="0"/>
          </a:p>
        </p:txBody>
      </p:sp>
      <p:sp>
        <p:nvSpPr>
          <p:cNvPr id="40" name="Text 38"/>
          <p:cNvSpPr/>
          <p:nvPr/>
        </p:nvSpPr>
        <p:spPr>
          <a:xfrm>
            <a:off x="10839591" y="5549237"/>
            <a:ext cx="4610984" cy="609531"/>
          </a:xfrm>
          <a:prstGeom prst="rect">
            <a:avLst/>
          </a:prstGeom>
          <a:noFill/>
          <a:ln/>
        </p:spPr>
        <p:txBody>
          <a:bodyPr wrap="square" lIns="25400" tIns="25400" rIns="25400" bIns="25400" rtlCol="0" anchor="t">
            <a:normAutofit lnSpcReduction="10000"/>
          </a:bodyPr>
          <a:lstStyle/>
          <a:p>
            <a:pPr marL="0" indent="0" algn="l">
              <a:lnSpc>
                <a:spcPct val="107749"/>
              </a:lnSpc>
              <a:buNone/>
            </a:pPr>
            <a:r>
              <a:rPr lang="en-US" sz="1800" dirty="0">
                <a:solidFill>
                  <a:srgbClr val="5D5D60"/>
                </a:solidFill>
                <a:latin typeface="Arial" pitchFamily="34" charset="0"/>
                <a:ea typeface="Arial" pitchFamily="34" charset="-122"/>
                <a:cs typeface="Arial" pitchFamily="34" charset="-120"/>
              </a:rPr>
              <a:t>Search slows as volume grows; cleanup debt accumulates</a:t>
            </a:r>
            <a:endParaRPr lang="en-US" sz="1800" dirty="0"/>
          </a:p>
        </p:txBody>
      </p:sp>
      <p:sp>
        <p:nvSpPr>
          <p:cNvPr id="41" name="Text 39"/>
          <p:cNvSpPr/>
          <p:nvPr/>
        </p:nvSpPr>
        <p:spPr>
          <a:xfrm>
            <a:off x="15697228" y="5549237"/>
            <a:ext cx="2095470" cy="322864"/>
          </a:xfrm>
          <a:prstGeom prst="rect">
            <a:avLst/>
          </a:prstGeom>
          <a:noFill/>
          <a:ln/>
        </p:spPr>
        <p:txBody>
          <a:bodyPr wrap="square" lIns="25400" tIns="25400" rIns="25400" bIns="25400" rtlCol="0" anchor="t">
            <a:normAutofit lnSpcReduction="10000"/>
          </a:bodyPr>
          <a:lstStyle/>
          <a:p>
            <a:pPr marL="0" indent="0" algn="l">
              <a:lnSpc>
                <a:spcPct val="99254"/>
              </a:lnSpc>
              <a:buNone/>
            </a:pPr>
            <a:r>
              <a:rPr lang="en-US" sz="1950" dirty="0">
                <a:solidFill>
                  <a:srgbClr val="416180"/>
                </a:solidFill>
                <a:latin typeface="Arial" pitchFamily="34" charset="0"/>
                <a:ea typeface="Arial" pitchFamily="34" charset="-122"/>
                <a:cs typeface="Arial" pitchFamily="34" charset="-120"/>
              </a:rPr>
              <a:t>Solution 3</a:t>
            </a:r>
            <a:endParaRPr lang="en-US" sz="1950" dirty="0"/>
          </a:p>
        </p:txBody>
      </p:sp>
      <p:sp>
        <p:nvSpPr>
          <p:cNvPr id="42" name="Shape 40"/>
          <p:cNvSpPr/>
          <p:nvPr/>
        </p:nvSpPr>
        <p:spPr>
          <a:xfrm>
            <a:off x="3924205" y="6273036"/>
            <a:ext cx="285715" cy="285715"/>
          </a:xfrm>
          <a:prstGeom prst="rect">
            <a:avLst/>
          </a:prstGeom>
          <a:ln w="8695">
            <a:solidFill>
              <a:srgbClr val="94BCE3"/>
            </a:solidFill>
            <a:prstDash val="solid"/>
          </a:ln>
        </p:spPr>
        <p:txBody>
          <a:bodyPr/>
          <a:lstStyle/>
          <a:p>
            <a:endParaRPr lang="en-US"/>
          </a:p>
        </p:txBody>
      </p:sp>
      <p:sp>
        <p:nvSpPr>
          <p:cNvPr id="43" name="Text 41"/>
          <p:cNvSpPr/>
          <p:nvPr/>
        </p:nvSpPr>
        <p:spPr>
          <a:xfrm>
            <a:off x="3894800" y="6281731"/>
            <a:ext cx="344525" cy="306425"/>
          </a:xfrm>
          <a:prstGeom prst="rect">
            <a:avLst/>
          </a:prstGeom>
          <a:noFill/>
          <a:ln/>
        </p:spPr>
        <p:txBody>
          <a:bodyPr wrap="square" lIns="25400" tIns="25400" rIns="25400" bIns="25400" rtlCol="0" anchor="ctr">
            <a:normAutofit lnSpcReduction="10000"/>
          </a:bodyPr>
          <a:lstStyle/>
          <a:p>
            <a:pPr marL="0" indent="0" algn="ctr">
              <a:lnSpc>
                <a:spcPct val="134420"/>
              </a:lnSpc>
              <a:buNone/>
            </a:pPr>
            <a:r>
              <a:rPr lang="en-US" sz="1425" dirty="0">
                <a:solidFill>
                  <a:srgbClr val="416180"/>
                </a:solidFill>
                <a:latin typeface="Arial" pitchFamily="34" charset="0"/>
                <a:ea typeface="Arial" pitchFamily="34" charset="-122"/>
                <a:cs typeface="Arial" pitchFamily="34" charset="-120"/>
              </a:rPr>
              <a:t>·</a:t>
            </a:r>
            <a:endParaRPr lang="en-US" sz="1425" dirty="0"/>
          </a:p>
        </p:txBody>
      </p:sp>
      <p:sp>
        <p:nvSpPr>
          <p:cNvPr id="44" name="Text 42"/>
          <p:cNvSpPr/>
          <p:nvPr/>
        </p:nvSpPr>
        <p:spPr>
          <a:xfrm>
            <a:off x="4343268" y="6273036"/>
            <a:ext cx="4661325" cy="322864"/>
          </a:xfrm>
          <a:prstGeom prst="rect">
            <a:avLst/>
          </a:prstGeom>
          <a:noFill/>
          <a:ln/>
        </p:spPr>
        <p:txBody>
          <a:bodyPr wrap="square" lIns="25400" tIns="25400" rIns="25400" bIns="25400" rtlCol="0" anchor="t">
            <a:normAutofit lnSpcReduction="10000"/>
          </a:bodyPr>
          <a:lstStyle/>
          <a:p>
            <a:pPr marL="0" indent="0" algn="l">
              <a:lnSpc>
                <a:spcPct val="99254"/>
              </a:lnSpc>
              <a:buNone/>
            </a:pPr>
            <a:r>
              <a:rPr lang="en-US" sz="1950" dirty="0">
                <a:solidFill>
                  <a:srgbClr val="7A7A7D"/>
                </a:solidFill>
                <a:latin typeface="Arial" pitchFamily="34" charset="0"/>
                <a:ea typeface="Arial" pitchFamily="34" charset="-122"/>
                <a:cs typeface="Arial" pitchFamily="34" charset="-120"/>
              </a:rPr>
              <a:t>MongoDB (Chat session) storage growth</a:t>
            </a:r>
            <a:endParaRPr lang="en-US" sz="1950" dirty="0"/>
          </a:p>
        </p:txBody>
      </p:sp>
      <p:sp>
        <p:nvSpPr>
          <p:cNvPr id="45" name="Text 43"/>
          <p:cNvSpPr/>
          <p:nvPr/>
        </p:nvSpPr>
        <p:spPr>
          <a:xfrm>
            <a:off x="10839591" y="6273036"/>
            <a:ext cx="4610984" cy="609531"/>
          </a:xfrm>
          <a:prstGeom prst="rect">
            <a:avLst/>
          </a:prstGeom>
          <a:noFill/>
          <a:ln/>
        </p:spPr>
        <p:txBody>
          <a:bodyPr wrap="square" lIns="25400" tIns="25400" rIns="25400" bIns="25400" rtlCol="0" anchor="t">
            <a:normAutofit lnSpcReduction="10000"/>
          </a:bodyPr>
          <a:lstStyle/>
          <a:p>
            <a:pPr marL="0" indent="0" algn="l">
              <a:lnSpc>
                <a:spcPct val="107749"/>
              </a:lnSpc>
              <a:buNone/>
            </a:pPr>
            <a:r>
              <a:rPr lang="en-US" sz="1800" dirty="0">
                <a:solidFill>
                  <a:srgbClr val="7A7A7D"/>
                </a:solidFill>
                <a:latin typeface="Arial" pitchFamily="34" charset="0"/>
                <a:ea typeface="Arial" pitchFamily="34" charset="-122"/>
                <a:cs typeface="Arial" pitchFamily="34" charset="-120"/>
              </a:rPr>
              <a:t>Reviewed and discounted — storage cost is negligible at our volumes</a:t>
            </a:r>
            <a:endParaRPr lang="en-US" sz="1800" dirty="0"/>
          </a:p>
        </p:txBody>
      </p:sp>
      <p:sp>
        <p:nvSpPr>
          <p:cNvPr id="46" name="Text 44"/>
          <p:cNvSpPr/>
          <p:nvPr/>
        </p:nvSpPr>
        <p:spPr>
          <a:xfrm>
            <a:off x="15697228" y="6273036"/>
            <a:ext cx="2095470" cy="322864"/>
          </a:xfrm>
          <a:prstGeom prst="rect">
            <a:avLst/>
          </a:prstGeom>
          <a:noFill/>
          <a:ln/>
        </p:spPr>
        <p:txBody>
          <a:bodyPr wrap="square" lIns="25400" tIns="25400" rIns="25400" bIns="25400" rtlCol="0" anchor="t">
            <a:normAutofit lnSpcReduction="10000"/>
          </a:bodyPr>
          <a:lstStyle/>
          <a:p>
            <a:pPr marL="0" indent="0" algn="l">
              <a:lnSpc>
                <a:spcPct val="99254"/>
              </a:lnSpc>
              <a:buNone/>
            </a:pPr>
            <a:r>
              <a:rPr lang="en-US" sz="1950" dirty="0">
                <a:solidFill>
                  <a:srgbClr val="7A7A7D"/>
                </a:solidFill>
                <a:latin typeface="Arial" pitchFamily="34" charset="0"/>
                <a:ea typeface="Arial" pitchFamily="34" charset="-122"/>
                <a:cs typeface="Arial" pitchFamily="34" charset="-120"/>
              </a:rPr>
              <a:t>Not Needed</a:t>
            </a:r>
            <a:endParaRPr lang="en-US" sz="1950" dirty="0"/>
          </a:p>
        </p:txBody>
      </p:sp>
      <p:sp>
        <p:nvSpPr>
          <p:cNvPr id="47" name="Shape 45"/>
          <p:cNvSpPr/>
          <p:nvPr/>
        </p:nvSpPr>
        <p:spPr>
          <a:xfrm>
            <a:off x="3924205" y="6996835"/>
            <a:ext cx="285715" cy="285715"/>
          </a:xfrm>
          <a:prstGeom prst="rect">
            <a:avLst/>
          </a:prstGeom>
          <a:solidFill>
            <a:srgbClr val="C8651B"/>
          </a:solidFill>
          <a:ln/>
        </p:spPr>
        <p:txBody>
          <a:bodyPr/>
          <a:lstStyle/>
          <a:p>
            <a:endParaRPr lang="en-US"/>
          </a:p>
        </p:txBody>
      </p:sp>
      <p:sp>
        <p:nvSpPr>
          <p:cNvPr id="48" name="Text 46"/>
          <p:cNvSpPr/>
          <p:nvPr/>
        </p:nvSpPr>
        <p:spPr>
          <a:xfrm>
            <a:off x="3886105" y="6996835"/>
            <a:ext cx="361915" cy="323815"/>
          </a:xfrm>
          <a:prstGeom prst="rect">
            <a:avLst/>
          </a:prstGeom>
          <a:noFill/>
          <a:ln/>
        </p:spPr>
        <p:txBody>
          <a:bodyPr wrap="square" lIns="25400" tIns="25400" rIns="25400" bIns="25400" rtlCol="0" anchor="ctr">
            <a:normAutofit lnSpcReduction="10000"/>
          </a:bodyPr>
          <a:lstStyle/>
          <a:p>
            <a:pPr marL="0" indent="0" algn="ctr">
              <a:lnSpc>
                <a:spcPct val="132062"/>
              </a:lnSpc>
              <a:buNone/>
            </a:pPr>
            <a:r>
              <a:rPr lang="en-US" sz="1575" dirty="0">
                <a:solidFill>
                  <a:srgbClr val="F2F2F3"/>
                </a:solidFill>
                <a:latin typeface="Arial" pitchFamily="34" charset="0"/>
                <a:ea typeface="Arial" pitchFamily="34" charset="-122"/>
                <a:cs typeface="Arial" pitchFamily="34" charset="-120"/>
              </a:rPr>
              <a:t>5</a:t>
            </a:r>
            <a:endParaRPr lang="en-US" sz="1575" dirty="0"/>
          </a:p>
        </p:txBody>
      </p:sp>
      <p:sp>
        <p:nvSpPr>
          <p:cNvPr id="49" name="Text 47"/>
          <p:cNvSpPr/>
          <p:nvPr/>
        </p:nvSpPr>
        <p:spPr>
          <a:xfrm>
            <a:off x="4343268" y="6996835"/>
            <a:ext cx="4158511" cy="322864"/>
          </a:xfrm>
          <a:prstGeom prst="rect">
            <a:avLst/>
          </a:prstGeom>
          <a:noFill/>
          <a:ln/>
        </p:spPr>
        <p:txBody>
          <a:bodyPr wrap="square" lIns="25400" tIns="25400" rIns="25400" bIns="25400" rtlCol="0" anchor="t">
            <a:normAutofit lnSpcReduction="10000"/>
          </a:bodyPr>
          <a:lstStyle/>
          <a:p>
            <a:pPr marL="0" indent="0" algn="l">
              <a:lnSpc>
                <a:spcPct val="99254"/>
              </a:lnSpc>
              <a:buNone/>
            </a:pPr>
            <a:r>
              <a:rPr lang="en-US" sz="1950" dirty="0">
                <a:solidFill>
                  <a:srgbClr val="1D1F20"/>
                </a:solidFill>
                <a:latin typeface="Arial" pitchFamily="34" charset="0"/>
                <a:ea typeface="Arial" pitchFamily="34" charset="-122"/>
                <a:cs typeface="Arial" pitchFamily="34" charset="-120"/>
              </a:rPr>
              <a:t>AI Search vector storage ballooning</a:t>
            </a:r>
            <a:endParaRPr lang="en-US" sz="1950" dirty="0"/>
          </a:p>
        </p:txBody>
      </p:sp>
      <p:sp>
        <p:nvSpPr>
          <p:cNvPr id="50" name="Text 48"/>
          <p:cNvSpPr/>
          <p:nvPr/>
        </p:nvSpPr>
        <p:spPr>
          <a:xfrm>
            <a:off x="10839591" y="6996835"/>
            <a:ext cx="4610984" cy="609531"/>
          </a:xfrm>
          <a:prstGeom prst="rect">
            <a:avLst/>
          </a:prstGeom>
          <a:noFill/>
          <a:ln/>
        </p:spPr>
        <p:txBody>
          <a:bodyPr wrap="square" lIns="25400" tIns="25400" rIns="25400" bIns="25400" rtlCol="0" anchor="t">
            <a:normAutofit lnSpcReduction="10000"/>
          </a:bodyPr>
          <a:lstStyle/>
          <a:p>
            <a:pPr marL="0" indent="0" algn="l">
              <a:lnSpc>
                <a:spcPct val="107749"/>
              </a:lnSpc>
              <a:buNone/>
            </a:pPr>
            <a:r>
              <a:rPr lang="en-US" sz="1800" dirty="0">
                <a:solidFill>
                  <a:srgbClr val="5D5D60"/>
                </a:solidFill>
                <a:latin typeface="Arial" pitchFamily="34" charset="0"/>
                <a:ea typeface="Arial" pitchFamily="34" charset="-122"/>
                <a:cs typeface="Arial" pitchFamily="34" charset="-120"/>
              </a:rPr>
              <a:t>Provisioned service — cost scales by Search Units (SUs)</a:t>
            </a:r>
            <a:endParaRPr lang="en-US" sz="1800" dirty="0"/>
          </a:p>
        </p:txBody>
      </p:sp>
      <p:sp>
        <p:nvSpPr>
          <p:cNvPr id="51" name="Text 49"/>
          <p:cNvSpPr/>
          <p:nvPr/>
        </p:nvSpPr>
        <p:spPr>
          <a:xfrm>
            <a:off x="15697228" y="6996835"/>
            <a:ext cx="2095470" cy="322864"/>
          </a:xfrm>
          <a:prstGeom prst="rect">
            <a:avLst/>
          </a:prstGeom>
          <a:noFill/>
          <a:ln/>
        </p:spPr>
        <p:txBody>
          <a:bodyPr wrap="square" lIns="25400" tIns="25400" rIns="25400" bIns="25400" rtlCol="0" anchor="t">
            <a:normAutofit lnSpcReduction="10000"/>
          </a:bodyPr>
          <a:lstStyle/>
          <a:p>
            <a:pPr marL="0" indent="0" algn="l">
              <a:lnSpc>
                <a:spcPct val="99254"/>
              </a:lnSpc>
              <a:buNone/>
            </a:pPr>
            <a:r>
              <a:rPr lang="en-US" sz="1950" dirty="0">
                <a:solidFill>
                  <a:srgbClr val="C8651B"/>
                </a:solidFill>
                <a:latin typeface="Arial" pitchFamily="34" charset="0"/>
                <a:ea typeface="Arial" pitchFamily="34" charset="-122"/>
                <a:cs typeface="Arial" pitchFamily="34" charset="-120"/>
              </a:rPr>
              <a:t>TBD</a:t>
            </a:r>
            <a:endParaRPr lang="en-US" sz="1950" dirty="0"/>
          </a:p>
        </p:txBody>
      </p:sp>
      <p:sp>
        <p:nvSpPr>
          <p:cNvPr id="52" name="Text 50"/>
          <p:cNvSpPr/>
          <p:nvPr/>
        </p:nvSpPr>
        <p:spPr>
          <a:xfrm>
            <a:off x="685758" y="9437483"/>
            <a:ext cx="17423936" cy="392314"/>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Finding 5 has no proposed solution yet — Azure AI Search is a provisioned service, so index growth converts directly into Search Units.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685758" y="609540"/>
            <a:ext cx="12074940" cy="392357"/>
          </a:xfrm>
          <a:prstGeom prst="rect">
            <a:avLst/>
          </a:prstGeom>
          <a:noFill/>
          <a:ln/>
        </p:spPr>
        <p:txBody>
          <a:bodyPr wrap="square" lIns="25400" tIns="25400" rIns="25400" bIns="25400" rtlCol="0" anchor="ctr">
            <a:normAutofit/>
          </a:bodyPr>
          <a:lstStyle/>
          <a:p>
            <a:pPr marL="0" indent="0" algn="l">
              <a:lnSpc>
                <a:spcPct val="133608"/>
              </a:lnSpc>
              <a:buNone/>
            </a:pPr>
            <a:r>
              <a:rPr lang="en-US" sz="1800" kern="0" spc="288" dirty="0">
                <a:solidFill>
                  <a:srgbClr val="416180"/>
                </a:solidFill>
                <a:latin typeface="Arial" pitchFamily="34" charset="0"/>
                <a:ea typeface="Arial" pitchFamily="34" charset="-122"/>
                <a:cs typeface="Arial" pitchFamily="34" charset="-120"/>
              </a:rPr>
              <a:t>SOLUTION 1</a:t>
            </a:r>
            <a:endParaRPr lang="en-US" sz="1800" dirty="0"/>
          </a:p>
        </p:txBody>
      </p:sp>
      <p:sp>
        <p:nvSpPr>
          <p:cNvPr id="3" name="Text 1"/>
          <p:cNvSpPr/>
          <p:nvPr/>
        </p:nvSpPr>
        <p:spPr>
          <a:xfrm>
            <a:off x="685758" y="1039947"/>
            <a:ext cx="12074940" cy="705245"/>
          </a:xfrm>
          <a:prstGeom prst="rect">
            <a:avLst/>
          </a:prstGeom>
          <a:noFill/>
          <a:ln/>
        </p:spPr>
        <p:txBody>
          <a:bodyPr wrap="square" lIns="25400" tIns="25400" rIns="25400" bIns="25400" rtlCol="0" anchor="ctr">
            <a:normAutofit fontScale="77500" lnSpcReduction="20000"/>
          </a:bodyPr>
          <a:lstStyle/>
          <a:p>
            <a:pPr marL="0" indent="0" algn="l">
              <a:lnSpc>
                <a:spcPct val="89215"/>
              </a:lnSpc>
              <a:buNone/>
            </a:pPr>
            <a:r>
              <a:rPr lang="en-US" sz="5100" dirty="0">
                <a:solidFill>
                  <a:srgbClr val="1D2D3D"/>
                </a:solidFill>
                <a:latin typeface="Arial" pitchFamily="34" charset="0"/>
                <a:ea typeface="Arial" pitchFamily="34" charset="-122"/>
                <a:cs typeface="Arial" pitchFamily="34" charset="-120"/>
              </a:rPr>
              <a:t>Integrate with Microsoft Teams [via MS Graph API]</a:t>
            </a:r>
            <a:endParaRPr lang="en-US" sz="5100" dirty="0"/>
          </a:p>
        </p:txBody>
      </p:sp>
      <p:sp>
        <p:nvSpPr>
          <p:cNvPr id="4" name="Shape 2"/>
          <p:cNvSpPr/>
          <p:nvPr/>
        </p:nvSpPr>
        <p:spPr>
          <a:xfrm>
            <a:off x="14302596" y="1067187"/>
            <a:ext cx="3299606" cy="506557"/>
          </a:xfrm>
          <a:prstGeom prst="rect">
            <a:avLst/>
          </a:prstGeom>
          <a:solidFill>
            <a:srgbClr val="C8651B"/>
          </a:solidFill>
          <a:ln/>
        </p:spPr>
        <p:txBody>
          <a:bodyPr/>
          <a:lstStyle/>
          <a:p>
            <a:endParaRPr lang="en-US" sz="2000"/>
          </a:p>
        </p:txBody>
      </p:sp>
      <p:sp>
        <p:nvSpPr>
          <p:cNvPr id="5" name="Text 3"/>
          <p:cNvSpPr/>
          <p:nvPr/>
        </p:nvSpPr>
        <p:spPr>
          <a:xfrm>
            <a:off x="14586299" y="1143387"/>
            <a:ext cx="2920653" cy="392257"/>
          </a:xfrm>
          <a:prstGeom prst="rect">
            <a:avLst/>
          </a:prstGeom>
          <a:noFill/>
          <a:ln/>
        </p:spPr>
        <p:txBody>
          <a:bodyPr wrap="none" lIns="25400" tIns="25400" rIns="25400" bIns="25400" rtlCol="0" anchor="ctr">
            <a:normAutofit/>
          </a:bodyPr>
          <a:lstStyle/>
          <a:p>
            <a:pPr marL="0" indent="0" algn="l">
              <a:lnSpc>
                <a:spcPct val="133608"/>
              </a:lnSpc>
              <a:buNone/>
            </a:pPr>
            <a:r>
              <a:rPr lang="en-US" sz="1600" kern="0" spc="144" dirty="0">
                <a:solidFill>
                  <a:srgbClr val="F2F2F3"/>
                </a:solidFill>
                <a:latin typeface="Arial" pitchFamily="34" charset="0"/>
                <a:ea typeface="Arial" pitchFamily="34" charset="-122"/>
                <a:cs typeface="Arial" pitchFamily="34" charset="-120"/>
              </a:rPr>
              <a:t>RESOLVES GAPS 1 &amp; 2</a:t>
            </a:r>
            <a:endParaRPr lang="en-US" sz="1600" dirty="0"/>
          </a:p>
        </p:txBody>
      </p:sp>
      <p:sp>
        <p:nvSpPr>
          <p:cNvPr id="6" name="Shape 4"/>
          <p:cNvSpPr/>
          <p:nvPr/>
        </p:nvSpPr>
        <p:spPr>
          <a:xfrm>
            <a:off x="685758" y="2107134"/>
            <a:ext cx="7619960" cy="6145462"/>
          </a:xfrm>
          <a:prstGeom prst="rect">
            <a:avLst/>
          </a:prstGeom>
          <a:ln w="8695">
            <a:solidFill>
              <a:srgbClr val="1F1F1F">
                <a:alpha val="16000"/>
              </a:srgbClr>
            </a:solidFill>
            <a:prstDash val="solid"/>
          </a:ln>
        </p:spPr>
        <p:txBody>
          <a:bodyPr/>
          <a:lstStyle/>
          <a:p>
            <a:endParaRPr lang="en-US"/>
          </a:p>
        </p:txBody>
      </p:sp>
      <p:sp>
        <p:nvSpPr>
          <p:cNvPr id="7" name="Text 5"/>
          <p:cNvSpPr/>
          <p:nvPr/>
        </p:nvSpPr>
        <p:spPr>
          <a:xfrm>
            <a:off x="1037298" y="2420565"/>
            <a:ext cx="760856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416180"/>
                </a:solidFill>
                <a:latin typeface="Arial" pitchFamily="34" charset="0"/>
                <a:ea typeface="Arial" pitchFamily="34" charset="-122"/>
                <a:cs typeface="Arial" pitchFamily="34" charset="-120"/>
              </a:rPr>
              <a:t>THE CHANGE — HOW THE MODELS MAP</a:t>
            </a:r>
            <a:endParaRPr lang="en-US" sz="1800" dirty="0"/>
          </a:p>
        </p:txBody>
      </p:sp>
      <p:sp>
        <p:nvSpPr>
          <p:cNvPr id="8" name="Text 6"/>
          <p:cNvSpPr/>
          <p:nvPr/>
        </p:nvSpPr>
        <p:spPr>
          <a:xfrm>
            <a:off x="1037298" y="3022429"/>
            <a:ext cx="335276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16" dirty="0">
                <a:solidFill>
                  <a:srgbClr val="5D5D60"/>
                </a:solidFill>
                <a:latin typeface="Arial" pitchFamily="34" charset="0"/>
                <a:ea typeface="Arial" pitchFamily="34" charset="-122"/>
                <a:cs typeface="Arial" pitchFamily="34" charset="-120"/>
              </a:rPr>
              <a:t>MICROSOFT TEAMS</a:t>
            </a:r>
            <a:endParaRPr lang="en-US" sz="1800" dirty="0"/>
          </a:p>
        </p:txBody>
      </p:sp>
      <p:sp>
        <p:nvSpPr>
          <p:cNvPr id="9" name="Text 7"/>
          <p:cNvSpPr/>
          <p:nvPr/>
        </p:nvSpPr>
        <p:spPr>
          <a:xfrm>
            <a:off x="4847244" y="3022429"/>
            <a:ext cx="341762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16" dirty="0">
                <a:solidFill>
                  <a:srgbClr val="5D5D60"/>
                </a:solidFill>
                <a:latin typeface="Arial" pitchFamily="34" charset="0"/>
                <a:ea typeface="Arial" pitchFamily="34" charset="-122"/>
                <a:cs typeface="Arial" pitchFamily="34" charset="-120"/>
              </a:rPr>
              <a:t>AI CHAT APP</a:t>
            </a:r>
            <a:endParaRPr lang="en-US" sz="1800" dirty="0"/>
          </a:p>
        </p:txBody>
      </p:sp>
      <p:sp>
        <p:nvSpPr>
          <p:cNvPr id="10" name="Shape 8"/>
          <p:cNvSpPr/>
          <p:nvPr/>
        </p:nvSpPr>
        <p:spPr>
          <a:xfrm>
            <a:off x="1037298" y="3471924"/>
            <a:ext cx="6916880" cy="9525"/>
          </a:xfrm>
          <a:prstGeom prst="rect">
            <a:avLst/>
          </a:prstGeom>
          <a:solidFill>
            <a:srgbClr val="1F1F1F">
              <a:alpha val="16000"/>
            </a:srgbClr>
          </a:solidFill>
          <a:ln/>
        </p:spPr>
        <p:txBody>
          <a:bodyPr/>
          <a:lstStyle/>
          <a:p>
            <a:endParaRPr lang="en-US"/>
          </a:p>
        </p:txBody>
      </p:sp>
      <p:sp>
        <p:nvSpPr>
          <p:cNvPr id="11" name="Text 9"/>
          <p:cNvSpPr/>
          <p:nvPr/>
        </p:nvSpPr>
        <p:spPr>
          <a:xfrm>
            <a:off x="1037298" y="3671912"/>
            <a:ext cx="3352768" cy="510488"/>
          </a:xfrm>
          <a:prstGeom prst="rect">
            <a:avLst/>
          </a:prstGeom>
          <a:noFill/>
          <a:ln/>
        </p:spPr>
        <p:txBody>
          <a:bodyPr wrap="square" lIns="25400" tIns="25400" rIns="25400" bIns="25400" rtlCol="0" anchor="t">
            <a:normAutofit/>
          </a:bodyPr>
          <a:lstStyle/>
          <a:p>
            <a:pPr marL="0" indent="0" algn="l">
              <a:lnSpc>
                <a:spcPct val="135835"/>
              </a:lnSpc>
              <a:buNone/>
            </a:pPr>
            <a:r>
              <a:rPr lang="en-US" sz="2400" dirty="0">
                <a:solidFill>
                  <a:srgbClr val="1D1F20"/>
                </a:solidFill>
                <a:latin typeface="Arial" pitchFamily="34" charset="0"/>
                <a:ea typeface="Arial" pitchFamily="34" charset="-122"/>
                <a:cs typeface="Arial" pitchFamily="34" charset="-120"/>
              </a:rPr>
              <a:t>Team</a:t>
            </a:r>
            <a:endParaRPr lang="en-US" sz="2400" dirty="0"/>
          </a:p>
        </p:txBody>
      </p:sp>
      <p:sp>
        <p:nvSpPr>
          <p:cNvPr id="12" name="Text 10"/>
          <p:cNvSpPr/>
          <p:nvPr/>
        </p:nvSpPr>
        <p:spPr>
          <a:xfrm>
            <a:off x="4085268" y="3730943"/>
            <a:ext cx="838176"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97EA3"/>
                </a:solidFill>
                <a:latin typeface="Arial" pitchFamily="34" charset="0"/>
                <a:ea typeface="Arial" pitchFamily="34" charset="-122"/>
                <a:cs typeface="Arial" pitchFamily="34" charset="-120"/>
              </a:rPr>
              <a:t>▶</a:t>
            </a:r>
            <a:endParaRPr lang="en-US" sz="1800" dirty="0"/>
          </a:p>
        </p:txBody>
      </p:sp>
      <p:sp>
        <p:nvSpPr>
          <p:cNvPr id="13" name="Text 11"/>
          <p:cNvSpPr/>
          <p:nvPr/>
        </p:nvSpPr>
        <p:spPr>
          <a:xfrm>
            <a:off x="4847244" y="3671912"/>
            <a:ext cx="3417628" cy="510488"/>
          </a:xfrm>
          <a:prstGeom prst="rect">
            <a:avLst/>
          </a:prstGeom>
          <a:noFill/>
          <a:ln/>
        </p:spPr>
        <p:txBody>
          <a:bodyPr wrap="square" lIns="25400" tIns="25400" rIns="25400" bIns="25400" rtlCol="0" anchor="t">
            <a:normAutofit/>
          </a:bodyPr>
          <a:lstStyle/>
          <a:p>
            <a:pPr marL="0" indent="0" algn="l">
              <a:lnSpc>
                <a:spcPct val="135835"/>
              </a:lnSpc>
              <a:buNone/>
            </a:pPr>
            <a:r>
              <a:rPr lang="en-US" sz="2400" dirty="0">
                <a:solidFill>
                  <a:srgbClr val="1D1F20"/>
                </a:solidFill>
                <a:latin typeface="Arial" pitchFamily="34" charset="0"/>
                <a:ea typeface="Arial" pitchFamily="34" charset="-122"/>
                <a:cs typeface="Arial" pitchFamily="34" charset="-120"/>
              </a:rPr>
              <a:t>Team</a:t>
            </a:r>
            <a:endParaRPr lang="en-US" sz="2400" dirty="0"/>
          </a:p>
        </p:txBody>
      </p:sp>
      <p:sp>
        <p:nvSpPr>
          <p:cNvPr id="14" name="Shape 12"/>
          <p:cNvSpPr/>
          <p:nvPr/>
        </p:nvSpPr>
        <p:spPr>
          <a:xfrm>
            <a:off x="1037298" y="4334777"/>
            <a:ext cx="6916880" cy="9525"/>
          </a:xfrm>
          <a:prstGeom prst="rect">
            <a:avLst/>
          </a:prstGeom>
          <a:solidFill>
            <a:srgbClr val="1F1F1F">
              <a:alpha val="16000"/>
            </a:srgbClr>
          </a:solidFill>
          <a:ln/>
        </p:spPr>
        <p:txBody>
          <a:bodyPr/>
          <a:lstStyle/>
          <a:p>
            <a:endParaRPr lang="en-US"/>
          </a:p>
        </p:txBody>
      </p:sp>
      <p:sp>
        <p:nvSpPr>
          <p:cNvPr id="15" name="Text 13"/>
          <p:cNvSpPr/>
          <p:nvPr/>
        </p:nvSpPr>
        <p:spPr>
          <a:xfrm>
            <a:off x="1037298" y="4534764"/>
            <a:ext cx="3352768" cy="510488"/>
          </a:xfrm>
          <a:prstGeom prst="rect">
            <a:avLst/>
          </a:prstGeom>
          <a:noFill/>
          <a:ln/>
        </p:spPr>
        <p:txBody>
          <a:bodyPr wrap="square" lIns="25400" tIns="25400" rIns="25400" bIns="25400" rtlCol="0" anchor="t">
            <a:normAutofit/>
          </a:bodyPr>
          <a:lstStyle/>
          <a:p>
            <a:pPr marL="0" indent="0" algn="l">
              <a:lnSpc>
                <a:spcPct val="135835"/>
              </a:lnSpc>
              <a:buNone/>
            </a:pPr>
            <a:r>
              <a:rPr lang="en-US" sz="2400" dirty="0">
                <a:solidFill>
                  <a:srgbClr val="1D1F20"/>
                </a:solidFill>
                <a:latin typeface="Arial" pitchFamily="34" charset="0"/>
                <a:ea typeface="Arial" pitchFamily="34" charset="-122"/>
                <a:cs typeface="Arial" pitchFamily="34" charset="-120"/>
              </a:rPr>
              <a:t>Channel</a:t>
            </a:r>
            <a:endParaRPr lang="en-US" sz="2400" dirty="0"/>
          </a:p>
        </p:txBody>
      </p:sp>
      <p:sp>
        <p:nvSpPr>
          <p:cNvPr id="16" name="Text 14"/>
          <p:cNvSpPr/>
          <p:nvPr/>
        </p:nvSpPr>
        <p:spPr>
          <a:xfrm>
            <a:off x="4085268" y="4593795"/>
            <a:ext cx="838176"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97EA3"/>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4847244" y="4534764"/>
            <a:ext cx="3417628" cy="510488"/>
          </a:xfrm>
          <a:prstGeom prst="rect">
            <a:avLst/>
          </a:prstGeom>
          <a:noFill/>
          <a:ln/>
        </p:spPr>
        <p:txBody>
          <a:bodyPr wrap="square" lIns="25400" tIns="25400" rIns="25400" bIns="25400" rtlCol="0" anchor="t">
            <a:normAutofit/>
          </a:bodyPr>
          <a:lstStyle/>
          <a:p>
            <a:pPr marL="0" indent="0" algn="l">
              <a:lnSpc>
                <a:spcPct val="135835"/>
              </a:lnSpc>
              <a:buNone/>
            </a:pPr>
            <a:r>
              <a:rPr lang="en-US" sz="2400" dirty="0">
                <a:solidFill>
                  <a:srgbClr val="1D1F20"/>
                </a:solidFill>
                <a:latin typeface="Arial" pitchFamily="34" charset="0"/>
                <a:ea typeface="Arial" pitchFamily="34" charset="-122"/>
                <a:cs typeface="Arial" pitchFamily="34" charset="-120"/>
              </a:rPr>
              <a:t>Project</a:t>
            </a:r>
            <a:endParaRPr lang="en-US" sz="2400" dirty="0"/>
          </a:p>
        </p:txBody>
      </p:sp>
      <p:sp>
        <p:nvSpPr>
          <p:cNvPr id="18" name="Shape 16"/>
          <p:cNvSpPr/>
          <p:nvPr/>
        </p:nvSpPr>
        <p:spPr>
          <a:xfrm>
            <a:off x="1037298" y="5197629"/>
            <a:ext cx="6916880" cy="9525"/>
          </a:xfrm>
          <a:prstGeom prst="rect">
            <a:avLst/>
          </a:prstGeom>
          <a:solidFill>
            <a:srgbClr val="1F1F1F">
              <a:alpha val="16000"/>
            </a:srgbClr>
          </a:solidFill>
          <a:ln/>
        </p:spPr>
        <p:txBody>
          <a:bodyPr/>
          <a:lstStyle/>
          <a:p>
            <a:endParaRPr lang="en-US"/>
          </a:p>
        </p:txBody>
      </p:sp>
      <p:sp>
        <p:nvSpPr>
          <p:cNvPr id="19" name="Text 17"/>
          <p:cNvSpPr/>
          <p:nvPr/>
        </p:nvSpPr>
        <p:spPr>
          <a:xfrm>
            <a:off x="1037298" y="5397616"/>
            <a:ext cx="3352768" cy="481006"/>
          </a:xfrm>
          <a:prstGeom prst="rect">
            <a:avLst/>
          </a:prstGeom>
          <a:noFill/>
          <a:ln/>
        </p:spPr>
        <p:txBody>
          <a:bodyPr wrap="square" lIns="25400" tIns="25400" rIns="25400" bIns="25400" rtlCol="0" anchor="t">
            <a:normAutofit/>
          </a:bodyPr>
          <a:lstStyle/>
          <a:p>
            <a:pPr marL="0" indent="0" algn="l">
              <a:lnSpc>
                <a:spcPct val="135835"/>
              </a:lnSpc>
              <a:buNone/>
            </a:pPr>
            <a:r>
              <a:rPr lang="en-US" sz="2250" dirty="0">
                <a:solidFill>
                  <a:srgbClr val="1D1F20"/>
                </a:solidFill>
                <a:latin typeface="Arial" pitchFamily="34" charset="0"/>
                <a:ea typeface="Arial" pitchFamily="34" charset="-122"/>
                <a:cs typeface="Arial" pitchFamily="34" charset="-120"/>
              </a:rPr>
              <a:t>Channel shared files</a:t>
            </a:r>
            <a:endParaRPr lang="en-US" sz="2250" dirty="0"/>
          </a:p>
        </p:txBody>
      </p:sp>
      <p:sp>
        <p:nvSpPr>
          <p:cNvPr id="20" name="Text 18"/>
          <p:cNvSpPr/>
          <p:nvPr/>
        </p:nvSpPr>
        <p:spPr>
          <a:xfrm>
            <a:off x="4085268" y="5441907"/>
            <a:ext cx="838176"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97EA3"/>
                </a:solidFill>
                <a:latin typeface="Arial" pitchFamily="34" charset="0"/>
                <a:ea typeface="Arial" pitchFamily="34" charset="-122"/>
                <a:cs typeface="Arial" pitchFamily="34" charset="-120"/>
              </a:rPr>
              <a:t>▶</a:t>
            </a:r>
            <a:endParaRPr lang="en-US" sz="1800" dirty="0"/>
          </a:p>
        </p:txBody>
      </p:sp>
      <p:sp>
        <p:nvSpPr>
          <p:cNvPr id="21" name="Text 19"/>
          <p:cNvSpPr/>
          <p:nvPr/>
        </p:nvSpPr>
        <p:spPr>
          <a:xfrm>
            <a:off x="4847244" y="5397616"/>
            <a:ext cx="3417628" cy="481006"/>
          </a:xfrm>
          <a:prstGeom prst="rect">
            <a:avLst/>
          </a:prstGeom>
          <a:noFill/>
          <a:ln/>
        </p:spPr>
        <p:txBody>
          <a:bodyPr wrap="square" lIns="25400" tIns="25400" rIns="25400" bIns="25400" rtlCol="0" anchor="t">
            <a:normAutofit/>
          </a:bodyPr>
          <a:lstStyle/>
          <a:p>
            <a:pPr marL="0" indent="0" algn="l">
              <a:lnSpc>
                <a:spcPct val="135835"/>
              </a:lnSpc>
              <a:buNone/>
            </a:pPr>
            <a:r>
              <a:rPr lang="en-US" sz="2250" dirty="0">
                <a:solidFill>
                  <a:srgbClr val="1D1F20"/>
                </a:solidFill>
                <a:latin typeface="Arial" pitchFamily="34" charset="0"/>
                <a:ea typeface="Arial" pitchFamily="34" charset="-122"/>
                <a:cs typeface="Arial" pitchFamily="34" charset="-120"/>
              </a:rPr>
              <a:t>Project documents</a:t>
            </a:r>
            <a:endParaRPr lang="en-US" sz="2250" dirty="0"/>
          </a:p>
        </p:txBody>
      </p:sp>
      <p:sp>
        <p:nvSpPr>
          <p:cNvPr id="22" name="Shape 20"/>
          <p:cNvSpPr/>
          <p:nvPr/>
        </p:nvSpPr>
        <p:spPr>
          <a:xfrm>
            <a:off x="1037298" y="6030999"/>
            <a:ext cx="6916880" cy="9525"/>
          </a:xfrm>
          <a:prstGeom prst="rect">
            <a:avLst/>
          </a:prstGeom>
          <a:solidFill>
            <a:srgbClr val="1F1F1F">
              <a:alpha val="16000"/>
            </a:srgbClr>
          </a:solidFill>
          <a:ln/>
        </p:spPr>
        <p:txBody>
          <a:bodyPr/>
          <a:lstStyle/>
          <a:p>
            <a:endParaRPr lang="en-US"/>
          </a:p>
        </p:txBody>
      </p:sp>
      <p:sp>
        <p:nvSpPr>
          <p:cNvPr id="23" name="Text 21"/>
          <p:cNvSpPr/>
          <p:nvPr/>
        </p:nvSpPr>
        <p:spPr>
          <a:xfrm>
            <a:off x="1037298" y="6250007"/>
            <a:ext cx="7124387" cy="678141"/>
          </a:xfrm>
          <a:prstGeom prst="rect">
            <a:avLst/>
          </a:prstGeom>
          <a:noFill/>
          <a:ln/>
        </p:spPr>
        <p:txBody>
          <a:bodyPr wrap="square" lIns="25400" tIns="25400" rIns="25400" bIns="25400" rtlCol="0" anchor="t">
            <a:normAutofit lnSpcReduction="10000"/>
          </a:bodyPr>
          <a:lstStyle/>
          <a:p>
            <a:pPr marL="0" indent="0" algn="l">
              <a:lnSpc>
                <a:spcPct val="120679"/>
              </a:lnSpc>
              <a:buNone/>
            </a:pPr>
            <a:r>
              <a:rPr lang="en-US" sz="1800" dirty="0">
                <a:solidFill>
                  <a:srgbClr val="5D5D60"/>
                </a:solidFill>
                <a:latin typeface="Arial" pitchFamily="34" charset="0"/>
                <a:ea typeface="Arial" pitchFamily="34" charset="-122"/>
                <a:cs typeface="Arial" pitchFamily="34" charset="-120"/>
              </a:rPr>
              <a:t>Changes in either system are reflected in the other — users work wherever they already are.</a:t>
            </a:r>
            <a:endParaRPr lang="en-US" sz="1800" dirty="0"/>
          </a:p>
        </p:txBody>
      </p:sp>
      <p:sp>
        <p:nvSpPr>
          <p:cNvPr id="24" name="Text 22"/>
          <p:cNvSpPr/>
          <p:nvPr/>
        </p:nvSpPr>
        <p:spPr>
          <a:xfrm>
            <a:off x="8686672" y="2107134"/>
            <a:ext cx="9807083"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416180"/>
                </a:solidFill>
                <a:latin typeface="Arial" pitchFamily="34" charset="0"/>
                <a:ea typeface="Arial" pitchFamily="34" charset="-122"/>
                <a:cs typeface="Arial" pitchFamily="34" charset="-120"/>
              </a:rPr>
              <a:t>WHAT THIS BUYS US</a:t>
            </a:r>
            <a:endParaRPr lang="en-US" sz="1800" dirty="0"/>
          </a:p>
        </p:txBody>
      </p:sp>
      <p:sp>
        <p:nvSpPr>
          <p:cNvPr id="25" name="Text 23"/>
          <p:cNvSpPr/>
          <p:nvPr/>
        </p:nvSpPr>
        <p:spPr>
          <a:xfrm>
            <a:off x="8686672" y="2689977"/>
            <a:ext cx="9182996" cy="732485"/>
          </a:xfrm>
          <a:prstGeom prst="rect">
            <a:avLst/>
          </a:prstGeom>
          <a:noFill/>
          <a:ln/>
        </p:spPr>
        <p:txBody>
          <a:bodyPr wrap="square" lIns="25400" tIns="25400" rIns="25400" bIns="25400" rtlCol="0" anchor="t">
            <a:normAutofit lnSpcReduction="10000"/>
          </a:bodyPr>
          <a:lstStyle/>
          <a:p>
            <a:pPr marL="0" indent="0" algn="l">
              <a:lnSpc>
                <a:spcPct val="115736"/>
              </a:lnSpc>
              <a:buNone/>
            </a:pPr>
            <a:r>
              <a:rPr lang="en-US" sz="2025" dirty="0">
                <a:solidFill>
                  <a:srgbClr val="424244"/>
                </a:solidFill>
                <a:latin typeface="Arial" pitchFamily="34" charset="0"/>
                <a:ea typeface="Arial" pitchFamily="34" charset="-122"/>
                <a:cs typeface="Arial" pitchFamily="34" charset="-120"/>
              </a:rPr>
              <a:t>A single portfolio of teams and projects, administered once — adding or removing a member happens in one place, not two.</a:t>
            </a:r>
            <a:endParaRPr lang="en-US" sz="2025" dirty="0"/>
          </a:p>
        </p:txBody>
      </p:sp>
      <p:sp>
        <p:nvSpPr>
          <p:cNvPr id="26" name="Text 24"/>
          <p:cNvSpPr/>
          <p:nvPr/>
        </p:nvSpPr>
        <p:spPr>
          <a:xfrm>
            <a:off x="8686672" y="3574839"/>
            <a:ext cx="9182996" cy="732485"/>
          </a:xfrm>
          <a:prstGeom prst="rect">
            <a:avLst/>
          </a:prstGeom>
          <a:noFill/>
          <a:ln/>
        </p:spPr>
        <p:txBody>
          <a:bodyPr wrap="square" lIns="25400" tIns="25400" rIns="25400" bIns="25400" rtlCol="0" anchor="t">
            <a:normAutofit lnSpcReduction="10000"/>
          </a:bodyPr>
          <a:lstStyle/>
          <a:p>
            <a:pPr marL="0" indent="0" algn="l">
              <a:lnSpc>
                <a:spcPct val="115736"/>
              </a:lnSpc>
              <a:buNone/>
            </a:pPr>
            <a:r>
              <a:rPr lang="en-US" sz="2025" dirty="0">
                <a:solidFill>
                  <a:srgbClr val="424244"/>
                </a:solidFill>
                <a:latin typeface="Arial" pitchFamily="34" charset="0"/>
                <a:ea typeface="Arial" pitchFamily="34" charset="-122"/>
                <a:cs typeface="Arial" pitchFamily="34" charset="-120"/>
              </a:rPr>
              <a:t>No duplicate artifacts to reconcile, and no ambiguity about which system is authoritative.</a:t>
            </a:r>
            <a:endParaRPr lang="en-US" sz="2025" dirty="0"/>
          </a:p>
        </p:txBody>
      </p:sp>
      <p:sp>
        <p:nvSpPr>
          <p:cNvPr id="27" name="Text 25"/>
          <p:cNvSpPr/>
          <p:nvPr/>
        </p:nvSpPr>
        <p:spPr>
          <a:xfrm>
            <a:off x="8686672" y="4459701"/>
            <a:ext cx="9182996" cy="732485"/>
          </a:xfrm>
          <a:prstGeom prst="rect">
            <a:avLst/>
          </a:prstGeom>
          <a:noFill/>
          <a:ln/>
        </p:spPr>
        <p:txBody>
          <a:bodyPr wrap="square" lIns="25400" tIns="25400" rIns="25400" bIns="25400" rtlCol="0" anchor="t">
            <a:normAutofit lnSpcReduction="10000"/>
          </a:bodyPr>
          <a:lstStyle/>
          <a:p>
            <a:pPr marL="0" indent="0" algn="l">
              <a:lnSpc>
                <a:spcPct val="115736"/>
              </a:lnSpc>
              <a:buNone/>
            </a:pPr>
            <a:r>
              <a:rPr lang="en-US" sz="2025" dirty="0">
                <a:solidFill>
                  <a:srgbClr val="424244"/>
                </a:solidFill>
                <a:latin typeface="Arial" pitchFamily="34" charset="0"/>
                <a:ea typeface="Arial" pitchFamily="34" charset="-122"/>
                <a:cs typeface="Arial" pitchFamily="34" charset="-120"/>
              </a:rPr>
              <a:t>Custom team-management code is retired, with its maintenance and support burden.</a:t>
            </a:r>
            <a:endParaRPr lang="en-US" sz="2025" dirty="0"/>
          </a:p>
        </p:txBody>
      </p:sp>
      <p:sp>
        <p:nvSpPr>
          <p:cNvPr id="28" name="Text 26"/>
          <p:cNvSpPr/>
          <p:nvPr/>
        </p:nvSpPr>
        <p:spPr>
          <a:xfrm>
            <a:off x="8686672" y="5344563"/>
            <a:ext cx="9182996" cy="732485"/>
          </a:xfrm>
          <a:prstGeom prst="rect">
            <a:avLst/>
          </a:prstGeom>
          <a:noFill/>
          <a:ln/>
        </p:spPr>
        <p:txBody>
          <a:bodyPr wrap="square" lIns="25400" tIns="25400" rIns="25400" bIns="25400" rtlCol="0" anchor="t">
            <a:normAutofit lnSpcReduction="10000"/>
          </a:bodyPr>
          <a:lstStyle/>
          <a:p>
            <a:pPr marL="0" indent="0" algn="l">
              <a:lnSpc>
                <a:spcPct val="115736"/>
              </a:lnSpc>
              <a:buNone/>
            </a:pPr>
            <a:r>
              <a:rPr lang="en-US" sz="2025" dirty="0">
                <a:solidFill>
                  <a:srgbClr val="424244"/>
                </a:solidFill>
                <a:latin typeface="Arial" pitchFamily="34" charset="0"/>
                <a:ea typeface="Arial" pitchFamily="34" charset="-122"/>
                <a:cs typeface="Arial" pitchFamily="34" charset="-120"/>
              </a:rPr>
              <a:t>Shared files stay in SharePoint, where governance, permissions and retention are already handled.</a:t>
            </a:r>
            <a:endParaRPr lang="en-US" sz="2025" dirty="0"/>
          </a:p>
        </p:txBody>
      </p:sp>
      <p:sp>
        <p:nvSpPr>
          <p:cNvPr id="29" name="Shape 27"/>
          <p:cNvSpPr/>
          <p:nvPr/>
        </p:nvSpPr>
        <p:spPr>
          <a:xfrm>
            <a:off x="8686672" y="7004714"/>
            <a:ext cx="4362492" cy="1247882"/>
          </a:xfrm>
          <a:prstGeom prst="rect">
            <a:avLst/>
          </a:prstGeom>
          <a:ln w="8695">
            <a:solidFill>
              <a:srgbClr val="1F1F1F">
                <a:alpha val="16000"/>
              </a:srgbClr>
            </a:solidFill>
            <a:prstDash val="solid"/>
          </a:ln>
        </p:spPr>
        <p:txBody>
          <a:bodyPr/>
          <a:lstStyle/>
          <a:p>
            <a:endParaRPr lang="en-US"/>
          </a:p>
        </p:txBody>
      </p:sp>
      <p:sp>
        <p:nvSpPr>
          <p:cNvPr id="30" name="Text 28"/>
          <p:cNvSpPr/>
          <p:nvPr/>
        </p:nvSpPr>
        <p:spPr>
          <a:xfrm>
            <a:off x="8904865" y="7203886"/>
            <a:ext cx="4318718" cy="533381"/>
          </a:xfrm>
          <a:prstGeom prst="rect">
            <a:avLst/>
          </a:prstGeom>
          <a:noFill/>
          <a:ln/>
        </p:spPr>
        <p:txBody>
          <a:bodyPr wrap="square" lIns="25400" tIns="25400" rIns="25400" bIns="25400" rtlCol="0" anchor="t">
            <a:normAutofit lnSpcReduction="10000"/>
          </a:bodyPr>
          <a:lstStyle/>
          <a:p>
            <a:pPr marL="0" indent="0" algn="l">
              <a:lnSpc>
                <a:spcPct val="86967"/>
              </a:lnSpc>
              <a:buNone/>
            </a:pPr>
            <a:r>
              <a:rPr lang="en-US" sz="3900" dirty="0">
                <a:solidFill>
                  <a:srgbClr val="416180"/>
                </a:solidFill>
                <a:latin typeface="Arial" pitchFamily="34" charset="0"/>
                <a:ea typeface="Arial" pitchFamily="34" charset="-122"/>
                <a:cs typeface="Arial" pitchFamily="34" charset="-120"/>
              </a:rPr>
              <a:t>100+</a:t>
            </a:r>
            <a:endParaRPr lang="en-US" sz="3900" dirty="0"/>
          </a:p>
        </p:txBody>
      </p:sp>
      <p:sp>
        <p:nvSpPr>
          <p:cNvPr id="31" name="Text 29"/>
          <p:cNvSpPr/>
          <p:nvPr/>
        </p:nvSpPr>
        <p:spPr>
          <a:xfrm>
            <a:off x="8904865" y="7756296"/>
            <a:ext cx="4318718" cy="335228"/>
          </a:xfrm>
          <a:prstGeom prst="rect">
            <a:avLst/>
          </a:prstGeom>
          <a:noFill/>
          <a:ln/>
        </p:spPr>
        <p:txBody>
          <a:bodyPr wrap="square" lIns="25400" tIns="25400" rIns="25400" bIns="25400" rtlCol="0" anchor="t">
            <a:normAutofit lnSpcReduction="10000"/>
          </a:bodyPr>
          <a:lstStyle/>
          <a:p>
            <a:pPr marL="0" indent="0" algn="l">
              <a:lnSpc>
                <a:spcPct val="112059"/>
              </a:lnSpc>
              <a:buNone/>
            </a:pPr>
            <a:r>
              <a:rPr lang="en-US" sz="1800" dirty="0">
                <a:solidFill>
                  <a:srgbClr val="5D5D60"/>
                </a:solidFill>
                <a:latin typeface="Arial" pitchFamily="34" charset="0"/>
                <a:ea typeface="Arial" pitchFamily="34" charset="-122"/>
                <a:cs typeface="Arial" pitchFamily="34" charset="-120"/>
              </a:rPr>
              <a:t>hours/year of helpdesk tickets avoided</a:t>
            </a:r>
            <a:endParaRPr lang="en-US" sz="1800" dirty="0"/>
          </a:p>
        </p:txBody>
      </p:sp>
      <p:sp>
        <p:nvSpPr>
          <p:cNvPr id="32" name="Shape 30"/>
          <p:cNvSpPr/>
          <p:nvPr/>
        </p:nvSpPr>
        <p:spPr>
          <a:xfrm>
            <a:off x="13239641" y="7004714"/>
            <a:ext cx="4362560" cy="1247882"/>
          </a:xfrm>
          <a:prstGeom prst="rect">
            <a:avLst/>
          </a:prstGeom>
          <a:ln w="8695">
            <a:solidFill>
              <a:srgbClr val="1F1F1F">
                <a:alpha val="16000"/>
              </a:srgbClr>
            </a:solidFill>
            <a:prstDash val="solid"/>
          </a:ln>
        </p:spPr>
        <p:txBody>
          <a:bodyPr/>
          <a:lstStyle/>
          <a:p>
            <a:endParaRPr lang="en-US"/>
          </a:p>
        </p:txBody>
      </p:sp>
      <p:sp>
        <p:nvSpPr>
          <p:cNvPr id="33" name="Text 31"/>
          <p:cNvSpPr/>
          <p:nvPr/>
        </p:nvSpPr>
        <p:spPr>
          <a:xfrm>
            <a:off x="13457833" y="7203886"/>
            <a:ext cx="4318793" cy="533381"/>
          </a:xfrm>
          <a:prstGeom prst="rect">
            <a:avLst/>
          </a:prstGeom>
          <a:noFill/>
          <a:ln/>
        </p:spPr>
        <p:txBody>
          <a:bodyPr wrap="square" lIns="25400" tIns="25400" rIns="25400" bIns="25400" rtlCol="0" anchor="t">
            <a:normAutofit lnSpcReduction="10000"/>
          </a:bodyPr>
          <a:lstStyle/>
          <a:p>
            <a:pPr marL="0" indent="0" algn="l">
              <a:lnSpc>
                <a:spcPct val="86967"/>
              </a:lnSpc>
              <a:buNone/>
            </a:pPr>
            <a:r>
              <a:rPr lang="en-US" sz="3900" dirty="0">
                <a:solidFill>
                  <a:srgbClr val="416180"/>
                </a:solidFill>
                <a:latin typeface="Arial" pitchFamily="34" charset="0"/>
                <a:ea typeface="Arial" pitchFamily="34" charset="-122"/>
                <a:cs typeface="Arial" pitchFamily="34" charset="-120"/>
              </a:rPr>
              <a:t>100+</a:t>
            </a:r>
            <a:endParaRPr lang="en-US" sz="3900" dirty="0"/>
          </a:p>
        </p:txBody>
      </p:sp>
      <p:sp>
        <p:nvSpPr>
          <p:cNvPr id="34" name="Text 32"/>
          <p:cNvSpPr/>
          <p:nvPr/>
        </p:nvSpPr>
        <p:spPr>
          <a:xfrm>
            <a:off x="13457833" y="7756296"/>
            <a:ext cx="4318793" cy="335228"/>
          </a:xfrm>
          <a:prstGeom prst="rect">
            <a:avLst/>
          </a:prstGeom>
          <a:noFill/>
          <a:ln/>
        </p:spPr>
        <p:txBody>
          <a:bodyPr wrap="square" lIns="25400" tIns="25400" rIns="25400" bIns="25400" rtlCol="0" anchor="t">
            <a:normAutofit lnSpcReduction="10000"/>
          </a:bodyPr>
          <a:lstStyle/>
          <a:p>
            <a:pPr marL="0" indent="0" algn="l">
              <a:lnSpc>
                <a:spcPct val="112059"/>
              </a:lnSpc>
              <a:buNone/>
            </a:pPr>
            <a:r>
              <a:rPr lang="en-US" sz="1800" dirty="0">
                <a:solidFill>
                  <a:srgbClr val="5D5D60"/>
                </a:solidFill>
                <a:latin typeface="Arial" pitchFamily="34" charset="0"/>
                <a:ea typeface="Arial" pitchFamily="34" charset="-122"/>
                <a:cs typeface="Arial" pitchFamily="34" charset="-120"/>
              </a:rPr>
              <a:t>hours/year of testing effort avoided</a:t>
            </a:r>
            <a:endParaRPr lang="en-US" sz="1800" dirty="0"/>
          </a:p>
        </p:txBody>
      </p:sp>
      <p:sp>
        <p:nvSpPr>
          <p:cNvPr id="35" name="Shape 33"/>
          <p:cNvSpPr/>
          <p:nvPr/>
        </p:nvSpPr>
        <p:spPr>
          <a:xfrm>
            <a:off x="685758" y="8576421"/>
            <a:ext cx="16916443" cy="1215275"/>
          </a:xfrm>
          <a:prstGeom prst="rect">
            <a:avLst/>
          </a:prstGeom>
          <a:solidFill>
            <a:srgbClr val="1D2D3D"/>
          </a:solidFill>
          <a:ln/>
        </p:spPr>
        <p:txBody>
          <a:bodyPr/>
          <a:lstStyle/>
          <a:p>
            <a:endParaRPr lang="en-US"/>
          </a:p>
        </p:txBody>
      </p:sp>
      <p:sp>
        <p:nvSpPr>
          <p:cNvPr id="36" name="Text 34"/>
          <p:cNvSpPr/>
          <p:nvPr/>
        </p:nvSpPr>
        <p:spPr>
          <a:xfrm>
            <a:off x="1028658" y="8824071"/>
            <a:ext cx="16738136" cy="758075"/>
          </a:xfrm>
          <a:prstGeom prst="rect">
            <a:avLst/>
          </a:prstGeom>
          <a:noFill/>
          <a:ln/>
        </p:spPr>
        <p:txBody>
          <a:bodyPr wrap="square" lIns="25400" tIns="25400" rIns="25400" bIns="25400" rtlCol="0" anchor="t">
            <a:normAutofit lnSpcReduction="10000"/>
          </a:bodyPr>
          <a:lstStyle/>
          <a:p>
            <a:pPr marL="0" indent="0" algn="l">
              <a:lnSpc>
                <a:spcPct val="116642"/>
              </a:lnSpc>
              <a:buNone/>
            </a:pPr>
            <a:r>
              <a:rPr lang="en-US" sz="2100" dirty="0">
                <a:solidFill>
                  <a:srgbClr val="F2F2F3"/>
                </a:solidFill>
                <a:latin typeface="Arial" pitchFamily="34" charset="0"/>
                <a:ea typeface="Arial" pitchFamily="34" charset="-122"/>
                <a:cs typeface="Arial" pitchFamily="34" charset="-120"/>
              </a:rPr>
              <a:t>MS Graph replaces code and data we would otherwise maintain ourselves: team structures, member management, projects, access control and shared documents.</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685758" y="609540"/>
            <a:ext cx="1007720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88" dirty="0">
                <a:solidFill>
                  <a:srgbClr val="416180"/>
                </a:solidFill>
                <a:latin typeface="Arial" pitchFamily="34" charset="0"/>
                <a:ea typeface="Arial" pitchFamily="34" charset="-122"/>
                <a:cs typeface="Arial" pitchFamily="34" charset="-120"/>
              </a:rPr>
              <a:t>SOLUTION 2</a:t>
            </a:r>
            <a:endParaRPr lang="en-US" sz="1800" dirty="0"/>
          </a:p>
        </p:txBody>
      </p:sp>
      <p:sp>
        <p:nvSpPr>
          <p:cNvPr id="3" name="Text 1"/>
          <p:cNvSpPr/>
          <p:nvPr/>
        </p:nvSpPr>
        <p:spPr>
          <a:xfrm>
            <a:off x="685758" y="1039947"/>
            <a:ext cx="10077208" cy="705245"/>
          </a:xfrm>
          <a:prstGeom prst="rect">
            <a:avLst/>
          </a:prstGeom>
          <a:noFill/>
          <a:ln/>
        </p:spPr>
        <p:txBody>
          <a:bodyPr wrap="square" lIns="25400" tIns="25400" rIns="25400" bIns="25400" rtlCol="0" anchor="t">
            <a:normAutofit fontScale="77500" lnSpcReduction="20000"/>
          </a:bodyPr>
          <a:lstStyle/>
          <a:p>
            <a:pPr marL="0" indent="0" algn="l">
              <a:lnSpc>
                <a:spcPct val="89215"/>
              </a:lnSpc>
              <a:buNone/>
            </a:pPr>
            <a:r>
              <a:rPr lang="en-US" sz="5100" dirty="0">
                <a:solidFill>
                  <a:srgbClr val="1D2D3D"/>
                </a:solidFill>
                <a:latin typeface="Arial" pitchFamily="34" charset="0"/>
                <a:ea typeface="Arial" pitchFamily="34" charset="-122"/>
                <a:cs typeface="Arial" pitchFamily="34" charset="-120"/>
              </a:rPr>
              <a:t>Index SharePoint directly — drop the copy</a:t>
            </a:r>
            <a:endParaRPr lang="en-US" sz="5100" dirty="0"/>
          </a:p>
        </p:txBody>
      </p:sp>
      <p:sp>
        <p:nvSpPr>
          <p:cNvPr id="4" name="Shape 2"/>
          <p:cNvSpPr/>
          <p:nvPr/>
        </p:nvSpPr>
        <p:spPr>
          <a:xfrm>
            <a:off x="15739006" y="1178117"/>
            <a:ext cx="1863196" cy="430543"/>
          </a:xfrm>
          <a:prstGeom prst="rect">
            <a:avLst/>
          </a:prstGeom>
          <a:solidFill>
            <a:srgbClr val="C8651B"/>
          </a:solidFill>
          <a:ln/>
        </p:spPr>
        <p:txBody>
          <a:bodyPr/>
          <a:lstStyle/>
          <a:p>
            <a:endParaRPr lang="en-US"/>
          </a:p>
        </p:txBody>
      </p:sp>
      <p:sp>
        <p:nvSpPr>
          <p:cNvPr id="5" name="Text 3"/>
          <p:cNvSpPr/>
          <p:nvPr/>
        </p:nvSpPr>
        <p:spPr>
          <a:xfrm>
            <a:off x="15910456" y="1254317"/>
            <a:ext cx="1596496" cy="316243"/>
          </a:xfrm>
          <a:prstGeom prst="rect">
            <a:avLst/>
          </a:prstGeom>
          <a:noFill/>
          <a:ln/>
        </p:spPr>
        <p:txBody>
          <a:bodyPr wrap="none" lIns="25400" tIns="25400" rIns="25400" bIns="25400" rtlCol="0" anchor="t">
            <a:normAutofit fontScale="85000" lnSpcReduction="10000"/>
          </a:bodyPr>
          <a:lstStyle/>
          <a:p>
            <a:pPr marL="0" indent="0" algn="l">
              <a:lnSpc>
                <a:spcPct val="133608"/>
              </a:lnSpc>
              <a:buNone/>
            </a:pPr>
            <a:r>
              <a:rPr lang="en-US" sz="1800" kern="0" spc="144" dirty="0">
                <a:solidFill>
                  <a:srgbClr val="F2F2F3"/>
                </a:solidFill>
                <a:latin typeface="Arial" pitchFamily="34" charset="0"/>
                <a:ea typeface="Arial" pitchFamily="34" charset="-122"/>
                <a:cs typeface="Arial" pitchFamily="34" charset="-120"/>
              </a:rPr>
              <a:t>RESOLVES GAP 3</a:t>
            </a:r>
            <a:endParaRPr lang="en-US" sz="1800" dirty="0"/>
          </a:p>
        </p:txBody>
      </p:sp>
      <p:sp>
        <p:nvSpPr>
          <p:cNvPr id="6" name="Text 4"/>
          <p:cNvSpPr/>
          <p:nvPr/>
        </p:nvSpPr>
        <p:spPr>
          <a:xfrm>
            <a:off x="685758" y="2126155"/>
            <a:ext cx="10477426"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416180"/>
                </a:solidFill>
                <a:latin typeface="Arial" pitchFamily="34" charset="0"/>
                <a:ea typeface="Arial" pitchFamily="34" charset="-122"/>
                <a:cs typeface="Arial" pitchFamily="34" charset="-120"/>
              </a:rPr>
              <a:t>THE CHANGE</a:t>
            </a:r>
            <a:endParaRPr lang="en-US" sz="1800" dirty="0"/>
          </a:p>
        </p:txBody>
      </p:sp>
      <p:sp>
        <p:nvSpPr>
          <p:cNvPr id="7" name="Shape 5"/>
          <p:cNvSpPr/>
          <p:nvPr/>
        </p:nvSpPr>
        <p:spPr>
          <a:xfrm>
            <a:off x="685758" y="2708998"/>
            <a:ext cx="43475" cy="1445016"/>
          </a:xfrm>
          <a:prstGeom prst="rect">
            <a:avLst/>
          </a:prstGeom>
          <a:solidFill>
            <a:srgbClr val="C8651B"/>
          </a:solidFill>
          <a:ln/>
        </p:spPr>
        <p:txBody>
          <a:bodyPr/>
          <a:lstStyle/>
          <a:p>
            <a:endParaRPr lang="en-US"/>
          </a:p>
        </p:txBody>
      </p:sp>
      <p:sp>
        <p:nvSpPr>
          <p:cNvPr id="8" name="Text 6"/>
          <p:cNvSpPr/>
          <p:nvPr/>
        </p:nvSpPr>
        <p:spPr>
          <a:xfrm>
            <a:off x="938731" y="2747039"/>
            <a:ext cx="10199156" cy="421975"/>
          </a:xfrm>
          <a:prstGeom prst="rect">
            <a:avLst/>
          </a:prstGeom>
          <a:noFill/>
          <a:ln/>
        </p:spPr>
        <p:txBody>
          <a:bodyPr wrap="square" lIns="25400" tIns="25400" rIns="25400" bIns="25400" rtlCol="0" anchor="t">
            <a:normAutofit/>
          </a:bodyPr>
          <a:lstStyle/>
          <a:p>
            <a:pPr marL="0" indent="0" algn="l">
              <a:lnSpc>
                <a:spcPct val="133777"/>
              </a:lnSpc>
              <a:buNone/>
            </a:pPr>
            <a:r>
              <a:rPr lang="en-US" sz="1950" kern="0" spc="234" dirty="0">
                <a:solidFill>
                  <a:srgbClr val="C8651B"/>
                </a:solidFill>
                <a:latin typeface="Arial" pitchFamily="34" charset="0"/>
                <a:ea typeface="Arial" pitchFamily="34" charset="-122"/>
                <a:cs typeface="Arial" pitchFamily="34" charset="-120"/>
              </a:rPr>
              <a:t>TODAY — FOUR STEPS, TWO COPIES</a:t>
            </a:r>
            <a:endParaRPr lang="en-US" sz="1950" dirty="0"/>
          </a:p>
        </p:txBody>
      </p:sp>
      <p:sp>
        <p:nvSpPr>
          <p:cNvPr id="9" name="Shape 7"/>
          <p:cNvSpPr/>
          <p:nvPr/>
        </p:nvSpPr>
        <p:spPr>
          <a:xfrm>
            <a:off x="938731" y="3283282"/>
            <a:ext cx="1980036" cy="832691"/>
          </a:xfrm>
          <a:prstGeom prst="rect">
            <a:avLst/>
          </a:prstGeom>
          <a:ln w="8695">
            <a:solidFill>
              <a:srgbClr val="1F1F1F">
                <a:alpha val="16000"/>
              </a:srgbClr>
            </a:solidFill>
            <a:prstDash val="solid"/>
          </a:ln>
        </p:spPr>
        <p:txBody>
          <a:bodyPr/>
          <a:lstStyle/>
          <a:p>
            <a:endParaRPr lang="en-US"/>
          </a:p>
        </p:txBody>
      </p:sp>
      <p:sp>
        <p:nvSpPr>
          <p:cNvPr id="10" name="Text 8"/>
          <p:cNvSpPr/>
          <p:nvPr/>
        </p:nvSpPr>
        <p:spPr>
          <a:xfrm>
            <a:off x="1099794" y="3425324"/>
            <a:ext cx="1734110" cy="586706"/>
          </a:xfrm>
          <a:prstGeom prst="rect">
            <a:avLst/>
          </a:prstGeom>
          <a:noFill/>
          <a:ln/>
        </p:spPr>
        <p:txBody>
          <a:bodyPr wrap="square" lIns="25400" tIns="25400" rIns="25400" bIns="25400" rtlCol="0" anchor="t">
            <a:normAutofit lnSpcReduction="10000"/>
          </a:bodyPr>
          <a:lstStyle/>
          <a:p>
            <a:pPr marL="0" indent="0" algn="l">
              <a:lnSpc>
                <a:spcPct val="103439"/>
              </a:lnSpc>
              <a:buNone/>
            </a:pPr>
            <a:r>
              <a:rPr lang="en-US" sz="1800" dirty="0">
                <a:solidFill>
                  <a:srgbClr val="1D1F20"/>
                </a:solidFill>
                <a:latin typeface="Arial" pitchFamily="34" charset="0"/>
                <a:ea typeface="Arial" pitchFamily="34" charset="-122"/>
                <a:cs typeface="Arial" pitchFamily="34" charset="-120"/>
              </a:rPr>
              <a:t>SharePoint document</a:t>
            </a:r>
            <a:endParaRPr lang="en-US" sz="1800" dirty="0"/>
          </a:p>
        </p:txBody>
      </p:sp>
      <p:sp>
        <p:nvSpPr>
          <p:cNvPr id="11" name="Text 9"/>
          <p:cNvSpPr/>
          <p:nvPr/>
        </p:nvSpPr>
        <p:spPr>
          <a:xfrm>
            <a:off x="3052114" y="3522465"/>
            <a:ext cx="26008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97EA3"/>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3369349" y="3283282"/>
            <a:ext cx="1980104" cy="832691"/>
          </a:xfrm>
          <a:prstGeom prst="rect">
            <a:avLst/>
          </a:prstGeom>
          <a:ln w="8695">
            <a:solidFill>
              <a:srgbClr val="C8651B"/>
            </a:solidFill>
            <a:prstDash val="dash"/>
          </a:ln>
        </p:spPr>
        <p:txBody>
          <a:bodyPr/>
          <a:lstStyle/>
          <a:p>
            <a:endParaRPr lang="en-US"/>
          </a:p>
        </p:txBody>
      </p:sp>
      <p:sp>
        <p:nvSpPr>
          <p:cNvPr id="13" name="Text 11"/>
          <p:cNvSpPr/>
          <p:nvPr/>
        </p:nvSpPr>
        <p:spPr>
          <a:xfrm>
            <a:off x="3530412" y="3425324"/>
            <a:ext cx="1734178" cy="586706"/>
          </a:xfrm>
          <a:prstGeom prst="rect">
            <a:avLst/>
          </a:prstGeom>
          <a:noFill/>
          <a:ln/>
        </p:spPr>
        <p:txBody>
          <a:bodyPr wrap="square" lIns="25400" tIns="25400" rIns="25400" bIns="25400" rtlCol="0" anchor="t">
            <a:normAutofit lnSpcReduction="10000"/>
          </a:bodyPr>
          <a:lstStyle/>
          <a:p>
            <a:pPr marL="0" indent="0" algn="l">
              <a:lnSpc>
                <a:spcPct val="103439"/>
              </a:lnSpc>
              <a:buNone/>
            </a:pPr>
            <a:r>
              <a:rPr lang="en-US" sz="1800" dirty="0">
                <a:solidFill>
                  <a:srgbClr val="C8651B"/>
                </a:solidFill>
                <a:latin typeface="Arial" pitchFamily="34" charset="0"/>
                <a:ea typeface="Arial" pitchFamily="34" charset="-122"/>
                <a:cs typeface="Arial" pitchFamily="34" charset="-120"/>
              </a:rPr>
              <a:t>Copied into Azure Blob</a:t>
            </a:r>
            <a:endParaRPr lang="en-US" sz="1800" dirty="0"/>
          </a:p>
        </p:txBody>
      </p:sp>
      <p:sp>
        <p:nvSpPr>
          <p:cNvPr id="14" name="Text 12"/>
          <p:cNvSpPr/>
          <p:nvPr/>
        </p:nvSpPr>
        <p:spPr>
          <a:xfrm>
            <a:off x="5482801" y="3522465"/>
            <a:ext cx="26008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97EA3"/>
                </a:solidFill>
                <a:latin typeface="Arial" pitchFamily="34" charset="0"/>
                <a:ea typeface="Arial" pitchFamily="34" charset="-122"/>
                <a:cs typeface="Arial" pitchFamily="34" charset="-120"/>
              </a:rPr>
              <a:t>▶</a:t>
            </a:r>
            <a:endParaRPr lang="en-US" sz="1800" dirty="0"/>
          </a:p>
        </p:txBody>
      </p:sp>
      <p:sp>
        <p:nvSpPr>
          <p:cNvPr id="15" name="Shape 13"/>
          <p:cNvSpPr/>
          <p:nvPr/>
        </p:nvSpPr>
        <p:spPr>
          <a:xfrm>
            <a:off x="5800036" y="3283282"/>
            <a:ext cx="1980036" cy="832691"/>
          </a:xfrm>
          <a:prstGeom prst="rect">
            <a:avLst/>
          </a:prstGeom>
          <a:ln w="8695">
            <a:solidFill>
              <a:srgbClr val="1F1F1F">
                <a:alpha val="16000"/>
              </a:srgbClr>
            </a:solidFill>
            <a:prstDash val="solid"/>
          </a:ln>
        </p:spPr>
        <p:txBody>
          <a:bodyPr/>
          <a:lstStyle/>
          <a:p>
            <a:endParaRPr lang="en-US"/>
          </a:p>
        </p:txBody>
      </p:sp>
      <p:sp>
        <p:nvSpPr>
          <p:cNvPr id="16" name="Text 14"/>
          <p:cNvSpPr/>
          <p:nvPr/>
        </p:nvSpPr>
        <p:spPr>
          <a:xfrm>
            <a:off x="5961099" y="3425324"/>
            <a:ext cx="1734110" cy="586706"/>
          </a:xfrm>
          <a:prstGeom prst="rect">
            <a:avLst/>
          </a:prstGeom>
          <a:noFill/>
          <a:ln/>
        </p:spPr>
        <p:txBody>
          <a:bodyPr wrap="square" lIns="25400" tIns="25400" rIns="25400" bIns="25400" rtlCol="0" anchor="t">
            <a:normAutofit lnSpcReduction="10000"/>
          </a:bodyPr>
          <a:lstStyle/>
          <a:p>
            <a:pPr marL="0" indent="0" algn="l">
              <a:lnSpc>
                <a:spcPct val="103439"/>
              </a:lnSpc>
              <a:buNone/>
            </a:pPr>
            <a:r>
              <a:rPr lang="en-US" sz="1800" dirty="0">
                <a:solidFill>
                  <a:srgbClr val="1D1F20"/>
                </a:solidFill>
                <a:latin typeface="Arial" pitchFamily="34" charset="0"/>
                <a:ea typeface="Arial" pitchFamily="34" charset="-122"/>
                <a:cs typeface="Arial" pitchFamily="34" charset="-120"/>
              </a:rPr>
              <a:t>Indexer crawls Blob</a:t>
            </a:r>
            <a:endParaRPr lang="en-US" sz="1800" dirty="0"/>
          </a:p>
        </p:txBody>
      </p:sp>
      <p:sp>
        <p:nvSpPr>
          <p:cNvPr id="17" name="Text 15"/>
          <p:cNvSpPr/>
          <p:nvPr/>
        </p:nvSpPr>
        <p:spPr>
          <a:xfrm>
            <a:off x="7913420" y="3522465"/>
            <a:ext cx="26008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97EA3"/>
                </a:solidFill>
                <a:latin typeface="Arial" pitchFamily="34" charset="0"/>
                <a:ea typeface="Arial" pitchFamily="34" charset="-122"/>
                <a:cs typeface="Arial" pitchFamily="34" charset="-120"/>
              </a:rPr>
              <a:t>▶</a:t>
            </a:r>
            <a:endParaRPr lang="en-US" sz="1800" dirty="0"/>
          </a:p>
        </p:txBody>
      </p:sp>
      <p:sp>
        <p:nvSpPr>
          <p:cNvPr id="18" name="Shape 16"/>
          <p:cNvSpPr/>
          <p:nvPr/>
        </p:nvSpPr>
        <p:spPr>
          <a:xfrm>
            <a:off x="8230655" y="3420433"/>
            <a:ext cx="1980036" cy="558388"/>
          </a:xfrm>
          <a:prstGeom prst="rect">
            <a:avLst/>
          </a:prstGeom>
          <a:ln w="8695">
            <a:solidFill>
              <a:srgbClr val="1F1F1F">
                <a:alpha val="16000"/>
              </a:srgbClr>
            </a:solidFill>
            <a:prstDash val="solid"/>
          </a:ln>
        </p:spPr>
        <p:txBody>
          <a:bodyPr/>
          <a:lstStyle/>
          <a:p>
            <a:endParaRPr lang="en-US"/>
          </a:p>
        </p:txBody>
      </p:sp>
      <p:sp>
        <p:nvSpPr>
          <p:cNvPr id="19" name="Text 17"/>
          <p:cNvSpPr/>
          <p:nvPr/>
        </p:nvSpPr>
        <p:spPr>
          <a:xfrm>
            <a:off x="8391718" y="3562476"/>
            <a:ext cx="1823701" cy="312403"/>
          </a:xfrm>
          <a:prstGeom prst="rect">
            <a:avLst/>
          </a:prstGeom>
          <a:noFill/>
          <a:ln/>
        </p:spPr>
        <p:txBody>
          <a:bodyPr wrap="square" lIns="25400" tIns="25400" rIns="25400" bIns="25400" rtlCol="0" anchor="t">
            <a:normAutofit lnSpcReduction="10000"/>
          </a:bodyPr>
          <a:lstStyle/>
          <a:p>
            <a:pPr marL="0" indent="0" algn="l">
              <a:lnSpc>
                <a:spcPct val="103439"/>
              </a:lnSpc>
              <a:buNone/>
            </a:pPr>
            <a:r>
              <a:rPr lang="en-US" sz="1800" dirty="0">
                <a:solidFill>
                  <a:srgbClr val="1D1F20"/>
                </a:solidFill>
                <a:latin typeface="Arial" pitchFamily="34" charset="0"/>
                <a:ea typeface="Arial" pitchFamily="34" charset="-122"/>
                <a:cs typeface="Arial" pitchFamily="34" charset="-120"/>
              </a:rPr>
              <a:t>Search index</a:t>
            </a:r>
            <a:endParaRPr lang="en-US" sz="1800" dirty="0"/>
          </a:p>
        </p:txBody>
      </p:sp>
      <p:sp>
        <p:nvSpPr>
          <p:cNvPr id="20" name="Shape 18"/>
          <p:cNvSpPr/>
          <p:nvPr/>
        </p:nvSpPr>
        <p:spPr>
          <a:xfrm>
            <a:off x="685758" y="4534968"/>
            <a:ext cx="43475" cy="1959182"/>
          </a:xfrm>
          <a:prstGeom prst="rect">
            <a:avLst/>
          </a:prstGeom>
          <a:solidFill>
            <a:srgbClr val="416180"/>
          </a:solidFill>
          <a:ln/>
        </p:spPr>
        <p:txBody>
          <a:bodyPr/>
          <a:lstStyle/>
          <a:p>
            <a:endParaRPr lang="en-US"/>
          </a:p>
        </p:txBody>
      </p:sp>
      <p:sp>
        <p:nvSpPr>
          <p:cNvPr id="21" name="Text 19"/>
          <p:cNvSpPr/>
          <p:nvPr/>
        </p:nvSpPr>
        <p:spPr>
          <a:xfrm>
            <a:off x="938731" y="4573009"/>
            <a:ext cx="10199156" cy="421975"/>
          </a:xfrm>
          <a:prstGeom prst="rect">
            <a:avLst/>
          </a:prstGeom>
          <a:noFill/>
          <a:ln/>
        </p:spPr>
        <p:txBody>
          <a:bodyPr wrap="square" lIns="25400" tIns="25400" rIns="25400" bIns="25400" rtlCol="0" anchor="t">
            <a:normAutofit/>
          </a:bodyPr>
          <a:lstStyle/>
          <a:p>
            <a:pPr marL="0" indent="0" algn="l">
              <a:lnSpc>
                <a:spcPct val="133777"/>
              </a:lnSpc>
              <a:buNone/>
            </a:pPr>
            <a:r>
              <a:rPr lang="en-US" sz="1950" kern="0" spc="234" dirty="0">
                <a:solidFill>
                  <a:srgbClr val="416180"/>
                </a:solidFill>
                <a:latin typeface="Arial" pitchFamily="34" charset="0"/>
                <a:ea typeface="Arial" pitchFamily="34" charset="-122"/>
                <a:cs typeface="Arial" pitchFamily="34" charset="-120"/>
              </a:rPr>
              <a:t>TARGET — TWO STEPS, ONE COPY</a:t>
            </a:r>
            <a:endParaRPr lang="en-US" sz="1950" dirty="0"/>
          </a:p>
        </p:txBody>
      </p:sp>
      <p:sp>
        <p:nvSpPr>
          <p:cNvPr id="22" name="Shape 20"/>
          <p:cNvSpPr/>
          <p:nvPr/>
        </p:nvSpPr>
        <p:spPr>
          <a:xfrm>
            <a:off x="938731" y="5257815"/>
            <a:ext cx="2790242" cy="1049661"/>
          </a:xfrm>
          <a:prstGeom prst="rect">
            <a:avLst/>
          </a:prstGeom>
          <a:ln w="8695">
            <a:solidFill>
              <a:srgbClr val="1F1F1F">
                <a:alpha val="16000"/>
              </a:srgbClr>
            </a:solidFill>
            <a:prstDash val="solid"/>
          </a:ln>
        </p:spPr>
        <p:txBody>
          <a:bodyPr/>
          <a:lstStyle/>
          <a:p>
            <a:endParaRPr lang="en-US"/>
          </a:p>
        </p:txBody>
      </p:sp>
      <p:sp>
        <p:nvSpPr>
          <p:cNvPr id="23" name="Text 21"/>
          <p:cNvSpPr/>
          <p:nvPr/>
        </p:nvSpPr>
        <p:spPr>
          <a:xfrm>
            <a:off x="1137903" y="5437899"/>
            <a:ext cx="2631088" cy="335296"/>
          </a:xfrm>
          <a:prstGeom prst="rect">
            <a:avLst/>
          </a:prstGeom>
          <a:noFill/>
          <a:ln/>
        </p:spPr>
        <p:txBody>
          <a:bodyPr wrap="square" lIns="25400" tIns="25400" rIns="25400" bIns="25400" rtlCol="0" anchor="t">
            <a:normAutofit lnSpcReduction="10000"/>
          </a:bodyPr>
          <a:lstStyle/>
          <a:p>
            <a:pPr marL="0" indent="0" algn="l">
              <a:lnSpc>
                <a:spcPct val="103569"/>
              </a:lnSpc>
              <a:buNone/>
            </a:pPr>
            <a:r>
              <a:rPr lang="en-US" sz="1950" dirty="0">
                <a:solidFill>
                  <a:srgbClr val="1D1F20"/>
                </a:solidFill>
                <a:latin typeface="Arial" pitchFamily="34" charset="0"/>
                <a:ea typeface="Arial" pitchFamily="34" charset="-122"/>
                <a:cs typeface="Arial" pitchFamily="34" charset="-120"/>
              </a:rPr>
              <a:t>SharePoint document</a:t>
            </a:r>
            <a:endParaRPr lang="en-US" sz="1950" dirty="0"/>
          </a:p>
        </p:txBody>
      </p:sp>
      <p:sp>
        <p:nvSpPr>
          <p:cNvPr id="24" name="Text 22"/>
          <p:cNvSpPr/>
          <p:nvPr/>
        </p:nvSpPr>
        <p:spPr>
          <a:xfrm>
            <a:off x="1137903" y="5773135"/>
            <a:ext cx="263108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Stays where it is</a:t>
            </a:r>
            <a:endParaRPr lang="en-US" sz="1800" dirty="0"/>
          </a:p>
        </p:txBody>
      </p:sp>
      <p:sp>
        <p:nvSpPr>
          <p:cNvPr id="25" name="Text 23"/>
          <p:cNvSpPr/>
          <p:nvPr/>
        </p:nvSpPr>
        <p:spPr>
          <a:xfrm>
            <a:off x="3862321" y="5605551"/>
            <a:ext cx="26008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97EA3"/>
                </a:solidFill>
                <a:latin typeface="Arial" pitchFamily="34" charset="0"/>
                <a:ea typeface="Arial" pitchFamily="34" charset="-122"/>
                <a:cs typeface="Arial" pitchFamily="34" charset="-120"/>
              </a:rPr>
              <a:t>▶</a:t>
            </a:r>
            <a:endParaRPr lang="en-US" sz="1800" dirty="0"/>
          </a:p>
        </p:txBody>
      </p:sp>
      <p:sp>
        <p:nvSpPr>
          <p:cNvPr id="26" name="Shape 24"/>
          <p:cNvSpPr/>
          <p:nvPr/>
        </p:nvSpPr>
        <p:spPr>
          <a:xfrm>
            <a:off x="4179556" y="5109252"/>
            <a:ext cx="2790310" cy="1346857"/>
          </a:xfrm>
          <a:prstGeom prst="rect">
            <a:avLst/>
          </a:prstGeom>
          <a:ln w="8695">
            <a:solidFill>
              <a:srgbClr val="1F1F1F">
                <a:alpha val="16000"/>
              </a:srgbClr>
            </a:solidFill>
            <a:prstDash val="solid"/>
          </a:ln>
        </p:spPr>
        <p:txBody>
          <a:bodyPr/>
          <a:lstStyle/>
          <a:p>
            <a:endParaRPr lang="en-US"/>
          </a:p>
        </p:txBody>
      </p:sp>
      <p:sp>
        <p:nvSpPr>
          <p:cNvPr id="27" name="Text 25"/>
          <p:cNvSpPr/>
          <p:nvPr/>
        </p:nvSpPr>
        <p:spPr>
          <a:xfrm>
            <a:off x="4378728" y="5289335"/>
            <a:ext cx="2468166" cy="632491"/>
          </a:xfrm>
          <a:prstGeom prst="rect">
            <a:avLst/>
          </a:prstGeom>
          <a:noFill/>
          <a:ln/>
        </p:spPr>
        <p:txBody>
          <a:bodyPr wrap="square" lIns="25400" tIns="25400" rIns="25400" bIns="25400" rtlCol="0" anchor="t">
            <a:normAutofit lnSpcReduction="10000"/>
          </a:bodyPr>
          <a:lstStyle/>
          <a:p>
            <a:pPr marL="0" indent="0" algn="l">
              <a:lnSpc>
                <a:spcPct val="103569"/>
              </a:lnSpc>
              <a:buNone/>
            </a:pPr>
            <a:r>
              <a:rPr lang="en-US" sz="1950" dirty="0">
                <a:solidFill>
                  <a:srgbClr val="1D1F20"/>
                </a:solidFill>
                <a:latin typeface="Arial" pitchFamily="34" charset="0"/>
                <a:ea typeface="Arial" pitchFamily="34" charset="-122"/>
                <a:cs typeface="Arial" pitchFamily="34" charset="-120"/>
              </a:rPr>
              <a:t>Indexer reads SharePoint</a:t>
            </a:r>
            <a:endParaRPr lang="en-US" sz="1950" dirty="0"/>
          </a:p>
        </p:txBody>
      </p:sp>
      <p:sp>
        <p:nvSpPr>
          <p:cNvPr id="28" name="Text 26"/>
          <p:cNvSpPr/>
          <p:nvPr/>
        </p:nvSpPr>
        <p:spPr>
          <a:xfrm>
            <a:off x="4378728" y="5921768"/>
            <a:ext cx="2631163"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Same skillset as today</a:t>
            </a:r>
            <a:endParaRPr lang="en-US" sz="1800" dirty="0"/>
          </a:p>
        </p:txBody>
      </p:sp>
      <p:sp>
        <p:nvSpPr>
          <p:cNvPr id="29" name="Text 27"/>
          <p:cNvSpPr/>
          <p:nvPr/>
        </p:nvSpPr>
        <p:spPr>
          <a:xfrm>
            <a:off x="7103214" y="5605551"/>
            <a:ext cx="26008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97EA3"/>
                </a:solidFill>
                <a:latin typeface="Arial" pitchFamily="34" charset="0"/>
                <a:ea typeface="Arial" pitchFamily="34" charset="-122"/>
                <a:cs typeface="Arial" pitchFamily="34" charset="-120"/>
              </a:rPr>
              <a:t>▶</a:t>
            </a:r>
            <a:endParaRPr lang="en-US" sz="1800" dirty="0"/>
          </a:p>
        </p:txBody>
      </p:sp>
      <p:sp>
        <p:nvSpPr>
          <p:cNvPr id="30" name="Shape 28"/>
          <p:cNvSpPr/>
          <p:nvPr/>
        </p:nvSpPr>
        <p:spPr>
          <a:xfrm>
            <a:off x="7420449" y="5257815"/>
            <a:ext cx="2790242" cy="1049661"/>
          </a:xfrm>
          <a:prstGeom prst="rect">
            <a:avLst/>
          </a:prstGeom>
          <a:ln w="8695">
            <a:solidFill>
              <a:srgbClr val="1F1F1F">
                <a:alpha val="16000"/>
              </a:srgbClr>
            </a:solidFill>
            <a:prstDash val="solid"/>
          </a:ln>
        </p:spPr>
        <p:txBody>
          <a:bodyPr/>
          <a:lstStyle/>
          <a:p>
            <a:endParaRPr lang="en-US"/>
          </a:p>
        </p:txBody>
      </p:sp>
      <p:sp>
        <p:nvSpPr>
          <p:cNvPr id="31" name="Text 29"/>
          <p:cNvSpPr/>
          <p:nvPr/>
        </p:nvSpPr>
        <p:spPr>
          <a:xfrm>
            <a:off x="7619620" y="5437899"/>
            <a:ext cx="2631088" cy="335296"/>
          </a:xfrm>
          <a:prstGeom prst="rect">
            <a:avLst/>
          </a:prstGeom>
          <a:noFill/>
          <a:ln/>
        </p:spPr>
        <p:txBody>
          <a:bodyPr wrap="square" lIns="25400" tIns="25400" rIns="25400" bIns="25400" rtlCol="0" anchor="t">
            <a:normAutofit lnSpcReduction="10000"/>
          </a:bodyPr>
          <a:lstStyle/>
          <a:p>
            <a:pPr marL="0" indent="0" algn="l">
              <a:lnSpc>
                <a:spcPct val="103569"/>
              </a:lnSpc>
              <a:buNone/>
            </a:pPr>
            <a:r>
              <a:rPr lang="en-US" sz="1950" dirty="0">
                <a:solidFill>
                  <a:srgbClr val="1D1F20"/>
                </a:solidFill>
                <a:latin typeface="Arial" pitchFamily="34" charset="0"/>
                <a:ea typeface="Arial" pitchFamily="34" charset="-122"/>
                <a:cs typeface="Arial" pitchFamily="34" charset="-120"/>
              </a:rPr>
              <a:t>Search index</a:t>
            </a:r>
            <a:endParaRPr lang="en-US" sz="1950" dirty="0"/>
          </a:p>
        </p:txBody>
      </p:sp>
      <p:sp>
        <p:nvSpPr>
          <p:cNvPr id="32" name="Text 30"/>
          <p:cNvSpPr/>
          <p:nvPr/>
        </p:nvSpPr>
        <p:spPr>
          <a:xfrm>
            <a:off x="7619620" y="5773135"/>
            <a:ext cx="263108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Unchanged for retrieval</a:t>
            </a:r>
            <a:endParaRPr lang="en-US" sz="1800" dirty="0"/>
          </a:p>
        </p:txBody>
      </p:sp>
      <p:sp>
        <p:nvSpPr>
          <p:cNvPr id="33" name="Text 31"/>
          <p:cNvSpPr/>
          <p:nvPr/>
        </p:nvSpPr>
        <p:spPr>
          <a:xfrm>
            <a:off x="685758" y="7565141"/>
            <a:ext cx="10477426"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416180"/>
                </a:solidFill>
                <a:latin typeface="Arial" pitchFamily="34" charset="0"/>
                <a:ea typeface="Arial" pitchFamily="34" charset="-122"/>
                <a:cs typeface="Arial" pitchFamily="34" charset="-120"/>
              </a:rPr>
              <a:t>TO CONFIRM</a:t>
            </a:r>
            <a:endParaRPr lang="en-US" sz="1800" dirty="0"/>
          </a:p>
        </p:txBody>
      </p:sp>
      <p:sp>
        <p:nvSpPr>
          <p:cNvPr id="34" name="Text 32"/>
          <p:cNvSpPr/>
          <p:nvPr/>
        </p:nvSpPr>
        <p:spPr>
          <a:xfrm>
            <a:off x="685758" y="8014636"/>
            <a:ext cx="9810681" cy="655180"/>
          </a:xfrm>
          <a:prstGeom prst="rect">
            <a:avLst/>
          </a:prstGeom>
          <a:noFill/>
          <a:ln/>
        </p:spPr>
        <p:txBody>
          <a:bodyPr wrap="square" lIns="25400" tIns="25400" rIns="25400" bIns="25400" rtlCol="0" anchor="t">
            <a:normAutofit lnSpcReduction="10000"/>
          </a:bodyPr>
          <a:lstStyle/>
          <a:p>
            <a:pPr marL="0" indent="0" algn="l">
              <a:lnSpc>
                <a:spcPct val="116369"/>
              </a:lnSpc>
              <a:buNone/>
            </a:pPr>
            <a:r>
              <a:rPr lang="en-US" sz="1800" dirty="0">
                <a:solidFill>
                  <a:srgbClr val="5D5D60"/>
                </a:solidFill>
                <a:latin typeface="Arial" pitchFamily="34" charset="0"/>
                <a:ea typeface="Arial" pitchFamily="34" charset="-122"/>
                <a:cs typeface="Arial" pitchFamily="34" charset="-120"/>
              </a:rPr>
              <a:t>Connector permissions and throughput at our document volumes; behaviour for file types the Blob path handles today.</a:t>
            </a:r>
            <a:endParaRPr lang="en-US" sz="1800" dirty="0"/>
          </a:p>
        </p:txBody>
      </p:sp>
      <p:sp>
        <p:nvSpPr>
          <p:cNvPr id="35" name="Text 33"/>
          <p:cNvSpPr/>
          <p:nvPr/>
        </p:nvSpPr>
        <p:spPr>
          <a:xfrm>
            <a:off x="10591645" y="2126155"/>
            <a:ext cx="7711612"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416180"/>
                </a:solidFill>
                <a:latin typeface="Arial" pitchFamily="34" charset="0"/>
                <a:ea typeface="Arial" pitchFamily="34" charset="-122"/>
                <a:cs typeface="Arial" pitchFamily="34" charset="-120"/>
              </a:rPr>
              <a:t>WHAT THIS BUYS US</a:t>
            </a:r>
            <a:endParaRPr lang="en-US" sz="1800" dirty="0"/>
          </a:p>
        </p:txBody>
      </p:sp>
      <p:sp>
        <p:nvSpPr>
          <p:cNvPr id="36" name="Text 34"/>
          <p:cNvSpPr/>
          <p:nvPr/>
        </p:nvSpPr>
        <p:spPr>
          <a:xfrm>
            <a:off x="10591645" y="2708998"/>
            <a:ext cx="7220873" cy="732485"/>
          </a:xfrm>
          <a:prstGeom prst="rect">
            <a:avLst/>
          </a:prstGeom>
          <a:noFill/>
          <a:ln/>
        </p:spPr>
        <p:txBody>
          <a:bodyPr wrap="square" lIns="25400" tIns="25400" rIns="25400" bIns="25400" rtlCol="0" anchor="t">
            <a:normAutofit lnSpcReduction="10000"/>
          </a:bodyPr>
          <a:lstStyle/>
          <a:p>
            <a:pPr marL="0" indent="0" algn="l">
              <a:lnSpc>
                <a:spcPct val="115736"/>
              </a:lnSpc>
              <a:buNone/>
            </a:pPr>
            <a:r>
              <a:rPr lang="en-US" sz="2025" dirty="0">
                <a:solidFill>
                  <a:srgbClr val="424244"/>
                </a:solidFill>
                <a:latin typeface="Arial" pitchFamily="34" charset="0"/>
                <a:ea typeface="Arial" pitchFamily="34" charset="-122"/>
                <a:cs typeface="Arial" pitchFamily="34" charset="-120"/>
              </a:rPr>
              <a:t>One copy of every document instead of two — no reconciliation between SharePoint and Blob.</a:t>
            </a:r>
            <a:endParaRPr lang="en-US" sz="2025" dirty="0"/>
          </a:p>
        </p:txBody>
      </p:sp>
      <p:sp>
        <p:nvSpPr>
          <p:cNvPr id="37" name="Text 35"/>
          <p:cNvSpPr/>
          <p:nvPr/>
        </p:nvSpPr>
        <p:spPr>
          <a:xfrm>
            <a:off x="10591645" y="3612880"/>
            <a:ext cx="7220873" cy="732485"/>
          </a:xfrm>
          <a:prstGeom prst="rect">
            <a:avLst/>
          </a:prstGeom>
          <a:noFill/>
          <a:ln/>
        </p:spPr>
        <p:txBody>
          <a:bodyPr wrap="square" lIns="25400" tIns="25400" rIns="25400" bIns="25400" rtlCol="0" anchor="t">
            <a:normAutofit lnSpcReduction="10000"/>
          </a:bodyPr>
          <a:lstStyle/>
          <a:p>
            <a:pPr marL="0" indent="0" algn="l">
              <a:lnSpc>
                <a:spcPct val="115736"/>
              </a:lnSpc>
              <a:buNone/>
            </a:pPr>
            <a:r>
              <a:rPr lang="en-US" sz="2025" dirty="0">
                <a:solidFill>
                  <a:srgbClr val="424244"/>
                </a:solidFill>
                <a:latin typeface="Arial" pitchFamily="34" charset="0"/>
                <a:ea typeface="Arial" pitchFamily="34" charset="-122"/>
                <a:cs typeface="Arial" pitchFamily="34" charset="-120"/>
              </a:rPr>
              <a:t>No second retention obligation: the copy that had to be governed and expired no longer exists.</a:t>
            </a:r>
            <a:endParaRPr lang="en-US" sz="2025" dirty="0"/>
          </a:p>
        </p:txBody>
      </p:sp>
      <p:sp>
        <p:nvSpPr>
          <p:cNvPr id="38" name="Text 36"/>
          <p:cNvSpPr/>
          <p:nvPr/>
        </p:nvSpPr>
        <p:spPr>
          <a:xfrm>
            <a:off x="10591645" y="4516762"/>
            <a:ext cx="7220873" cy="732485"/>
          </a:xfrm>
          <a:prstGeom prst="rect">
            <a:avLst/>
          </a:prstGeom>
          <a:noFill/>
          <a:ln/>
        </p:spPr>
        <p:txBody>
          <a:bodyPr wrap="square" lIns="25400" tIns="25400" rIns="25400" bIns="25400" rtlCol="0" anchor="t">
            <a:normAutofit lnSpcReduction="10000"/>
          </a:bodyPr>
          <a:lstStyle/>
          <a:p>
            <a:pPr marL="0" indent="0" algn="l">
              <a:lnSpc>
                <a:spcPct val="115736"/>
              </a:lnSpc>
              <a:buNone/>
            </a:pPr>
            <a:r>
              <a:rPr lang="en-US" sz="2025" dirty="0">
                <a:solidFill>
                  <a:srgbClr val="424244"/>
                </a:solidFill>
                <a:latin typeface="Arial" pitchFamily="34" charset="0"/>
                <a:ea typeface="Arial" pitchFamily="34" charset="-122"/>
                <a:cs typeface="Arial" pitchFamily="34" charset="-120"/>
              </a:rPr>
              <a:t>One less moving part in ingestion, so fewer places a document can silently fail to arrive.</a:t>
            </a:r>
            <a:endParaRPr lang="en-US" sz="2025" dirty="0"/>
          </a:p>
        </p:txBody>
      </p:sp>
      <p:sp>
        <p:nvSpPr>
          <p:cNvPr id="39" name="Text 37"/>
          <p:cNvSpPr/>
          <p:nvPr/>
        </p:nvSpPr>
        <p:spPr>
          <a:xfrm>
            <a:off x="10591645" y="5420645"/>
            <a:ext cx="7220873" cy="732485"/>
          </a:xfrm>
          <a:prstGeom prst="rect">
            <a:avLst/>
          </a:prstGeom>
          <a:noFill/>
          <a:ln/>
        </p:spPr>
        <p:txBody>
          <a:bodyPr wrap="square" lIns="25400" tIns="25400" rIns="25400" bIns="25400" rtlCol="0" anchor="t">
            <a:normAutofit lnSpcReduction="10000"/>
          </a:bodyPr>
          <a:lstStyle/>
          <a:p>
            <a:pPr marL="0" indent="0" algn="l">
              <a:lnSpc>
                <a:spcPct val="115736"/>
              </a:lnSpc>
              <a:buNone/>
            </a:pPr>
            <a:r>
              <a:rPr lang="en-US" sz="2025" dirty="0">
                <a:solidFill>
                  <a:srgbClr val="424244"/>
                </a:solidFill>
                <a:latin typeface="Arial" pitchFamily="34" charset="0"/>
                <a:ea typeface="Arial" pitchFamily="34" charset="-122"/>
                <a:cs typeface="Arial" pitchFamily="34" charset="-120"/>
              </a:rPr>
              <a:t>Permissions and governance are honoured at the source, where they are already defined.</a:t>
            </a:r>
            <a:endParaRPr lang="en-US" sz="2025" dirty="0"/>
          </a:p>
        </p:txBody>
      </p:sp>
      <p:sp>
        <p:nvSpPr>
          <p:cNvPr id="40" name="Shape 38"/>
          <p:cNvSpPr/>
          <p:nvPr/>
        </p:nvSpPr>
        <p:spPr>
          <a:xfrm>
            <a:off x="10591645" y="7540074"/>
            <a:ext cx="7010556" cy="1091642"/>
          </a:xfrm>
          <a:prstGeom prst="rect">
            <a:avLst/>
          </a:prstGeom>
          <a:ln w="8695">
            <a:solidFill>
              <a:srgbClr val="1F1F1F">
                <a:alpha val="16000"/>
              </a:srgbClr>
            </a:solidFill>
            <a:prstDash val="solid"/>
          </a:ln>
        </p:spPr>
        <p:txBody>
          <a:bodyPr/>
          <a:lstStyle/>
          <a:p>
            <a:endParaRPr lang="en-US"/>
          </a:p>
        </p:txBody>
      </p:sp>
      <p:sp>
        <p:nvSpPr>
          <p:cNvPr id="41" name="Text 39"/>
          <p:cNvSpPr/>
          <p:nvPr/>
        </p:nvSpPr>
        <p:spPr>
          <a:xfrm>
            <a:off x="10847946" y="7777355"/>
            <a:ext cx="6692892" cy="655180"/>
          </a:xfrm>
          <a:prstGeom prst="rect">
            <a:avLst/>
          </a:prstGeom>
          <a:noFill/>
          <a:ln/>
        </p:spPr>
        <p:txBody>
          <a:bodyPr wrap="square" lIns="25400" tIns="25400" rIns="25400" bIns="25400" rtlCol="0" anchor="t">
            <a:normAutofit lnSpcReduction="10000"/>
          </a:bodyPr>
          <a:lstStyle/>
          <a:p>
            <a:pPr marL="0" indent="0" algn="l">
              <a:lnSpc>
                <a:spcPct val="116369"/>
              </a:lnSpc>
              <a:buNone/>
            </a:pPr>
            <a:r>
              <a:rPr lang="en-US" sz="1800" dirty="0">
                <a:solidFill>
                  <a:srgbClr val="5D5D60"/>
                </a:solidFill>
                <a:latin typeface="Arial" pitchFamily="34" charset="0"/>
                <a:ea typeface="Arial" pitchFamily="34" charset="-122"/>
                <a:cs typeface="Arial" pitchFamily="34" charset="-120"/>
              </a:rPr>
              <a:t>Blob lifecycle from Solution 3 still applies to live uploads and the enterprise corpus — this removes only the SharePoint duplicate.</a:t>
            </a:r>
            <a:endParaRPr lang="en-US" sz="1800" dirty="0"/>
          </a:p>
        </p:txBody>
      </p:sp>
      <p:sp>
        <p:nvSpPr>
          <p:cNvPr id="42" name="Shape 40"/>
          <p:cNvSpPr/>
          <p:nvPr/>
        </p:nvSpPr>
        <p:spPr>
          <a:xfrm>
            <a:off x="685758" y="8936452"/>
            <a:ext cx="16916443" cy="855244"/>
          </a:xfrm>
          <a:prstGeom prst="rect">
            <a:avLst/>
          </a:prstGeom>
          <a:solidFill>
            <a:srgbClr val="1D2D3D"/>
          </a:solidFill>
          <a:ln/>
        </p:spPr>
        <p:txBody>
          <a:bodyPr/>
          <a:lstStyle/>
          <a:p>
            <a:endParaRPr lang="en-US"/>
          </a:p>
        </p:txBody>
      </p:sp>
      <p:sp>
        <p:nvSpPr>
          <p:cNvPr id="43" name="Text 41"/>
          <p:cNvSpPr/>
          <p:nvPr/>
        </p:nvSpPr>
        <p:spPr>
          <a:xfrm>
            <a:off x="1028658" y="9184102"/>
            <a:ext cx="16738136" cy="398044"/>
          </a:xfrm>
          <a:prstGeom prst="rect">
            <a:avLst/>
          </a:prstGeom>
          <a:noFill/>
          <a:ln/>
        </p:spPr>
        <p:txBody>
          <a:bodyPr wrap="square" lIns="25400" tIns="25400" rIns="25400" bIns="25400" rtlCol="0" anchor="t">
            <a:normAutofit lnSpcReduction="10000"/>
          </a:bodyPr>
          <a:lstStyle/>
          <a:p>
            <a:pPr marL="0" indent="0" algn="l">
              <a:lnSpc>
                <a:spcPct val="116642"/>
              </a:lnSpc>
              <a:buNone/>
            </a:pPr>
            <a:r>
              <a:rPr lang="en-US" sz="2100" dirty="0">
                <a:solidFill>
                  <a:srgbClr val="F2F2F3"/>
                </a:solidFill>
                <a:latin typeface="Arial" pitchFamily="34" charset="0"/>
                <a:ea typeface="Arial" pitchFamily="34" charset="-122"/>
                <a:cs typeface="Arial" pitchFamily="34" charset="-120"/>
              </a:rPr>
              <a:t>The fewer places a document lives, the fewer places it has to be governed, expired and paid for.</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685758" y="609540"/>
            <a:ext cx="8007442"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88" dirty="0">
                <a:solidFill>
                  <a:srgbClr val="416180"/>
                </a:solidFill>
                <a:latin typeface="Arial" pitchFamily="34" charset="0"/>
                <a:ea typeface="Arial" pitchFamily="34" charset="-122"/>
                <a:cs typeface="Arial" pitchFamily="34" charset="-120"/>
              </a:rPr>
              <a:t>SOLUTION 3</a:t>
            </a:r>
            <a:endParaRPr lang="en-US" sz="1800" dirty="0"/>
          </a:p>
        </p:txBody>
      </p:sp>
      <p:sp>
        <p:nvSpPr>
          <p:cNvPr id="3" name="Text 1"/>
          <p:cNvSpPr/>
          <p:nvPr/>
        </p:nvSpPr>
        <p:spPr>
          <a:xfrm>
            <a:off x="685758" y="1039947"/>
            <a:ext cx="8007442" cy="705245"/>
          </a:xfrm>
          <a:prstGeom prst="rect">
            <a:avLst/>
          </a:prstGeom>
          <a:noFill/>
          <a:ln/>
        </p:spPr>
        <p:txBody>
          <a:bodyPr wrap="square" lIns="25400" tIns="25400" rIns="25400" bIns="25400" rtlCol="0" anchor="t">
            <a:normAutofit fontScale="77500" lnSpcReduction="20000"/>
          </a:bodyPr>
          <a:lstStyle/>
          <a:p>
            <a:pPr marL="0" indent="0" algn="l">
              <a:lnSpc>
                <a:spcPct val="89215"/>
              </a:lnSpc>
              <a:buNone/>
            </a:pPr>
            <a:r>
              <a:rPr lang="en-US" sz="5100" dirty="0">
                <a:solidFill>
                  <a:srgbClr val="1D2D3D"/>
                </a:solidFill>
                <a:latin typeface="Arial" pitchFamily="34" charset="0"/>
                <a:ea typeface="Arial" pitchFamily="34" charset="-122"/>
                <a:cs typeface="Arial" pitchFamily="34" charset="-120"/>
              </a:rPr>
              <a:t>Azure Blob lifecycle management</a:t>
            </a:r>
            <a:endParaRPr lang="en-US" sz="5100" dirty="0"/>
          </a:p>
        </p:txBody>
      </p:sp>
      <p:sp>
        <p:nvSpPr>
          <p:cNvPr id="4" name="Shape 2"/>
          <p:cNvSpPr/>
          <p:nvPr/>
        </p:nvSpPr>
        <p:spPr>
          <a:xfrm>
            <a:off x="15737375" y="1178117"/>
            <a:ext cx="1864826" cy="430543"/>
          </a:xfrm>
          <a:prstGeom prst="rect">
            <a:avLst/>
          </a:prstGeom>
          <a:solidFill>
            <a:srgbClr val="C8651B"/>
          </a:solidFill>
          <a:ln/>
        </p:spPr>
        <p:txBody>
          <a:bodyPr/>
          <a:lstStyle/>
          <a:p>
            <a:endParaRPr lang="en-US"/>
          </a:p>
        </p:txBody>
      </p:sp>
      <p:sp>
        <p:nvSpPr>
          <p:cNvPr id="5" name="Text 3"/>
          <p:cNvSpPr/>
          <p:nvPr/>
        </p:nvSpPr>
        <p:spPr>
          <a:xfrm>
            <a:off x="15908825" y="1254317"/>
            <a:ext cx="1598126" cy="316243"/>
          </a:xfrm>
          <a:prstGeom prst="rect">
            <a:avLst/>
          </a:prstGeom>
          <a:noFill/>
          <a:ln/>
        </p:spPr>
        <p:txBody>
          <a:bodyPr wrap="none" lIns="25400" tIns="25400" rIns="25400" bIns="25400" rtlCol="0" anchor="t">
            <a:normAutofit fontScale="85000" lnSpcReduction="10000"/>
          </a:bodyPr>
          <a:lstStyle/>
          <a:p>
            <a:pPr marL="0" indent="0" algn="l">
              <a:lnSpc>
                <a:spcPct val="133608"/>
              </a:lnSpc>
              <a:buNone/>
            </a:pPr>
            <a:r>
              <a:rPr lang="en-US" sz="1800" kern="0" spc="144" dirty="0">
                <a:solidFill>
                  <a:srgbClr val="F2F2F3"/>
                </a:solidFill>
                <a:latin typeface="Arial" pitchFamily="34" charset="0"/>
                <a:ea typeface="Arial" pitchFamily="34" charset="-122"/>
                <a:cs typeface="Arial" pitchFamily="34" charset="-120"/>
              </a:rPr>
              <a:t>RESOLVES GAP 4</a:t>
            </a:r>
            <a:endParaRPr lang="en-US" sz="1800" dirty="0"/>
          </a:p>
        </p:txBody>
      </p:sp>
      <p:sp>
        <p:nvSpPr>
          <p:cNvPr id="6" name="Shape 4"/>
          <p:cNvSpPr/>
          <p:nvPr/>
        </p:nvSpPr>
        <p:spPr>
          <a:xfrm>
            <a:off x="685758" y="2126155"/>
            <a:ext cx="3188654" cy="3585096"/>
          </a:xfrm>
          <a:prstGeom prst="rect">
            <a:avLst/>
          </a:prstGeom>
          <a:ln w="8695">
            <a:solidFill>
              <a:srgbClr val="1F1F1F">
                <a:alpha val="16000"/>
              </a:srgbClr>
            </a:solidFill>
            <a:prstDash val="solid"/>
          </a:ln>
        </p:spPr>
        <p:txBody>
          <a:bodyPr/>
          <a:lstStyle/>
          <a:p>
            <a:endParaRPr lang="en-US"/>
          </a:p>
        </p:txBody>
      </p:sp>
      <p:sp>
        <p:nvSpPr>
          <p:cNvPr id="7" name="Text 5"/>
          <p:cNvSpPr/>
          <p:nvPr/>
        </p:nvSpPr>
        <p:spPr>
          <a:xfrm>
            <a:off x="942059" y="2401545"/>
            <a:ext cx="2943657" cy="687719"/>
          </a:xfrm>
          <a:prstGeom prst="rect">
            <a:avLst/>
          </a:prstGeom>
          <a:noFill/>
          <a:ln/>
        </p:spPr>
        <p:txBody>
          <a:bodyPr wrap="square" lIns="25400" tIns="25400" rIns="25400" bIns="25400" rtlCol="0" anchor="t">
            <a:normAutofit/>
          </a:bodyPr>
          <a:lstStyle/>
          <a:p>
            <a:pPr marL="0" indent="0" algn="l">
              <a:lnSpc>
                <a:spcPct val="135835"/>
              </a:lnSpc>
              <a:buNone/>
            </a:pPr>
            <a:r>
              <a:rPr lang="en-US" sz="3300" dirty="0">
                <a:solidFill>
                  <a:srgbClr val="1D2D3D"/>
                </a:solidFill>
                <a:latin typeface="Arial" pitchFamily="34" charset="0"/>
                <a:ea typeface="Arial" pitchFamily="34" charset="-122"/>
                <a:cs typeface="Arial" pitchFamily="34" charset="-120"/>
              </a:rPr>
              <a:t>Hot</a:t>
            </a:r>
            <a:endParaRPr lang="en-US" sz="3300" dirty="0"/>
          </a:p>
        </p:txBody>
      </p:sp>
      <p:sp>
        <p:nvSpPr>
          <p:cNvPr id="8" name="Text 6"/>
          <p:cNvSpPr/>
          <p:nvPr/>
        </p:nvSpPr>
        <p:spPr>
          <a:xfrm>
            <a:off x="942059" y="3146402"/>
            <a:ext cx="2943657" cy="838185"/>
          </a:xfrm>
          <a:prstGeom prst="rect">
            <a:avLst/>
          </a:prstGeom>
          <a:noFill/>
          <a:ln/>
        </p:spPr>
        <p:txBody>
          <a:bodyPr wrap="square" lIns="25400" tIns="25400" rIns="25400" bIns="25400" rtlCol="0" anchor="t">
            <a:normAutofit lnSpcReduction="10000"/>
          </a:bodyPr>
          <a:lstStyle/>
          <a:p>
            <a:pPr marL="0" indent="0" algn="l">
              <a:lnSpc>
                <a:spcPct val="86809"/>
              </a:lnSpc>
              <a:buNone/>
            </a:pPr>
            <a:r>
              <a:rPr lang="en-US" sz="6300" dirty="0">
                <a:solidFill>
                  <a:srgbClr val="749DC4"/>
                </a:solidFill>
                <a:latin typeface="Arial" pitchFamily="34" charset="0"/>
                <a:ea typeface="Arial" pitchFamily="34" charset="-122"/>
                <a:cs typeface="Arial" pitchFamily="34" charset="-120"/>
              </a:rPr>
              <a:t>30</a:t>
            </a:r>
            <a:endParaRPr lang="en-US" sz="6300" dirty="0"/>
          </a:p>
        </p:txBody>
      </p:sp>
      <p:sp>
        <p:nvSpPr>
          <p:cNvPr id="9" name="Text 7"/>
          <p:cNvSpPr/>
          <p:nvPr/>
        </p:nvSpPr>
        <p:spPr>
          <a:xfrm>
            <a:off x="942059" y="3946486"/>
            <a:ext cx="2943657"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5D5D60"/>
                </a:solidFill>
                <a:latin typeface="Arial" pitchFamily="34" charset="0"/>
                <a:ea typeface="Arial" pitchFamily="34" charset="-122"/>
                <a:cs typeface="Arial" pitchFamily="34" charset="-120"/>
              </a:rPr>
              <a:t>DAYS</a:t>
            </a:r>
            <a:endParaRPr lang="en-US" sz="1800" dirty="0"/>
          </a:p>
        </p:txBody>
      </p:sp>
      <p:sp>
        <p:nvSpPr>
          <p:cNvPr id="10" name="Text 8"/>
          <p:cNvSpPr/>
          <p:nvPr/>
        </p:nvSpPr>
        <p:spPr>
          <a:xfrm>
            <a:off x="942059" y="4491220"/>
            <a:ext cx="2756333" cy="963720"/>
          </a:xfrm>
          <a:prstGeom prst="rect">
            <a:avLst/>
          </a:prstGeom>
          <a:noFill/>
          <a:ln/>
        </p:spPr>
        <p:txBody>
          <a:bodyPr wrap="square" lIns="25400" tIns="25400" rIns="25400" bIns="25400" rtlCol="0" anchor="t">
            <a:normAutofit lnSpcReduction="10000"/>
          </a:bodyPr>
          <a:lstStyle/>
          <a:p>
            <a:pPr marL="0" indent="0" algn="l">
              <a:lnSpc>
                <a:spcPct val="116369"/>
              </a:lnSpc>
              <a:buNone/>
            </a:pPr>
            <a:r>
              <a:rPr lang="en-US" sz="1800" dirty="0">
                <a:solidFill>
                  <a:srgbClr val="5D5D60"/>
                </a:solidFill>
                <a:latin typeface="Arial" pitchFamily="34" charset="0"/>
                <a:ea typeface="Arial" pitchFamily="34" charset="-122"/>
                <a:cs typeface="Arial" pitchFamily="34" charset="-120"/>
              </a:rPr>
              <a:t>Active working set. Highest storage cost, retrieval is free.</a:t>
            </a:r>
            <a:endParaRPr lang="en-US" sz="1800" dirty="0"/>
          </a:p>
        </p:txBody>
      </p:sp>
      <p:sp>
        <p:nvSpPr>
          <p:cNvPr id="11" name="Shape 9"/>
          <p:cNvSpPr/>
          <p:nvPr/>
        </p:nvSpPr>
        <p:spPr>
          <a:xfrm>
            <a:off x="4122018" y="2126155"/>
            <a:ext cx="3188722" cy="3585096"/>
          </a:xfrm>
          <a:prstGeom prst="rect">
            <a:avLst/>
          </a:prstGeom>
          <a:ln w="8695">
            <a:solidFill>
              <a:srgbClr val="1F1F1F">
                <a:alpha val="16000"/>
              </a:srgbClr>
            </a:solidFill>
            <a:prstDash val="solid"/>
          </a:ln>
        </p:spPr>
        <p:txBody>
          <a:bodyPr/>
          <a:lstStyle/>
          <a:p>
            <a:endParaRPr lang="en-US"/>
          </a:p>
        </p:txBody>
      </p:sp>
      <p:sp>
        <p:nvSpPr>
          <p:cNvPr id="12" name="Text 10"/>
          <p:cNvSpPr/>
          <p:nvPr/>
        </p:nvSpPr>
        <p:spPr>
          <a:xfrm>
            <a:off x="4378320" y="2401545"/>
            <a:ext cx="2943731" cy="687719"/>
          </a:xfrm>
          <a:prstGeom prst="rect">
            <a:avLst/>
          </a:prstGeom>
          <a:noFill/>
          <a:ln/>
        </p:spPr>
        <p:txBody>
          <a:bodyPr wrap="square" lIns="25400" tIns="25400" rIns="25400" bIns="25400" rtlCol="0" anchor="t">
            <a:normAutofit/>
          </a:bodyPr>
          <a:lstStyle/>
          <a:p>
            <a:pPr marL="0" indent="0" algn="l">
              <a:lnSpc>
                <a:spcPct val="135835"/>
              </a:lnSpc>
              <a:buNone/>
            </a:pPr>
            <a:r>
              <a:rPr lang="en-US" sz="3300" dirty="0">
                <a:solidFill>
                  <a:srgbClr val="1D2D3D"/>
                </a:solidFill>
                <a:latin typeface="Arial" pitchFamily="34" charset="0"/>
                <a:ea typeface="Arial" pitchFamily="34" charset="-122"/>
                <a:cs typeface="Arial" pitchFamily="34" charset="-120"/>
              </a:rPr>
              <a:t>Cool</a:t>
            </a:r>
            <a:endParaRPr lang="en-US" sz="3300" dirty="0"/>
          </a:p>
        </p:txBody>
      </p:sp>
      <p:sp>
        <p:nvSpPr>
          <p:cNvPr id="13" name="Text 11"/>
          <p:cNvSpPr/>
          <p:nvPr/>
        </p:nvSpPr>
        <p:spPr>
          <a:xfrm>
            <a:off x="4378320" y="3146402"/>
            <a:ext cx="2943731" cy="838185"/>
          </a:xfrm>
          <a:prstGeom prst="rect">
            <a:avLst/>
          </a:prstGeom>
          <a:noFill/>
          <a:ln/>
        </p:spPr>
        <p:txBody>
          <a:bodyPr wrap="square" lIns="25400" tIns="25400" rIns="25400" bIns="25400" rtlCol="0" anchor="t">
            <a:normAutofit lnSpcReduction="10000"/>
          </a:bodyPr>
          <a:lstStyle/>
          <a:p>
            <a:pPr marL="0" indent="0" algn="l">
              <a:lnSpc>
                <a:spcPct val="86809"/>
              </a:lnSpc>
              <a:buNone/>
            </a:pPr>
            <a:r>
              <a:rPr lang="en-US" sz="6300" dirty="0">
                <a:solidFill>
                  <a:srgbClr val="749DC4"/>
                </a:solidFill>
                <a:latin typeface="Arial" pitchFamily="34" charset="0"/>
                <a:ea typeface="Arial" pitchFamily="34" charset="-122"/>
                <a:cs typeface="Arial" pitchFamily="34" charset="-120"/>
              </a:rPr>
              <a:t>30</a:t>
            </a:r>
            <a:endParaRPr lang="en-US" sz="6300" dirty="0"/>
          </a:p>
        </p:txBody>
      </p:sp>
      <p:sp>
        <p:nvSpPr>
          <p:cNvPr id="14" name="Text 12"/>
          <p:cNvSpPr/>
          <p:nvPr/>
        </p:nvSpPr>
        <p:spPr>
          <a:xfrm>
            <a:off x="4378320" y="3946486"/>
            <a:ext cx="2943731"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5D5D60"/>
                </a:solidFill>
                <a:latin typeface="Arial" pitchFamily="34" charset="0"/>
                <a:ea typeface="Arial" pitchFamily="34" charset="-122"/>
                <a:cs typeface="Arial" pitchFamily="34" charset="-120"/>
              </a:rPr>
              <a:t>DAYS</a:t>
            </a:r>
            <a:endParaRPr lang="en-US" sz="1800" dirty="0"/>
          </a:p>
        </p:txBody>
      </p:sp>
      <p:sp>
        <p:nvSpPr>
          <p:cNvPr id="15" name="Text 13"/>
          <p:cNvSpPr/>
          <p:nvPr/>
        </p:nvSpPr>
        <p:spPr>
          <a:xfrm>
            <a:off x="4378320" y="4491220"/>
            <a:ext cx="2756403" cy="655180"/>
          </a:xfrm>
          <a:prstGeom prst="rect">
            <a:avLst/>
          </a:prstGeom>
          <a:noFill/>
          <a:ln/>
        </p:spPr>
        <p:txBody>
          <a:bodyPr wrap="square" lIns="25400" tIns="25400" rIns="25400" bIns="25400" rtlCol="0" anchor="t">
            <a:normAutofit lnSpcReduction="10000"/>
          </a:bodyPr>
          <a:lstStyle/>
          <a:p>
            <a:pPr marL="0" indent="0" algn="l">
              <a:lnSpc>
                <a:spcPct val="116369"/>
              </a:lnSpc>
              <a:buNone/>
            </a:pPr>
            <a:r>
              <a:rPr lang="en-US" sz="1800" dirty="0">
                <a:solidFill>
                  <a:srgbClr val="5D5D60"/>
                </a:solidFill>
                <a:latin typeface="Arial" pitchFamily="34" charset="0"/>
                <a:ea typeface="Arial" pitchFamily="34" charset="-122"/>
                <a:cs typeface="Arial" pitchFamily="34" charset="-120"/>
              </a:rPr>
              <a:t>Cheaper storage, retrieval now carries a charge.</a:t>
            </a:r>
            <a:endParaRPr lang="en-US" sz="1800" dirty="0"/>
          </a:p>
        </p:txBody>
      </p:sp>
      <p:sp>
        <p:nvSpPr>
          <p:cNvPr id="16" name="Shape 14"/>
          <p:cNvSpPr/>
          <p:nvPr/>
        </p:nvSpPr>
        <p:spPr>
          <a:xfrm>
            <a:off x="7558347" y="2126155"/>
            <a:ext cx="3188654" cy="3585096"/>
          </a:xfrm>
          <a:prstGeom prst="rect">
            <a:avLst/>
          </a:prstGeom>
          <a:ln w="8695">
            <a:solidFill>
              <a:srgbClr val="1F1F1F">
                <a:alpha val="16000"/>
              </a:srgbClr>
            </a:solidFill>
            <a:prstDash val="solid"/>
          </a:ln>
        </p:spPr>
        <p:txBody>
          <a:bodyPr/>
          <a:lstStyle/>
          <a:p>
            <a:endParaRPr lang="en-US"/>
          </a:p>
        </p:txBody>
      </p:sp>
      <p:sp>
        <p:nvSpPr>
          <p:cNvPr id="17" name="Text 15"/>
          <p:cNvSpPr/>
          <p:nvPr/>
        </p:nvSpPr>
        <p:spPr>
          <a:xfrm>
            <a:off x="7814649" y="2401545"/>
            <a:ext cx="2943657" cy="687719"/>
          </a:xfrm>
          <a:prstGeom prst="rect">
            <a:avLst/>
          </a:prstGeom>
          <a:noFill/>
          <a:ln/>
        </p:spPr>
        <p:txBody>
          <a:bodyPr wrap="square" lIns="25400" tIns="25400" rIns="25400" bIns="25400" rtlCol="0" anchor="t">
            <a:normAutofit/>
          </a:bodyPr>
          <a:lstStyle/>
          <a:p>
            <a:pPr marL="0" indent="0" algn="l">
              <a:lnSpc>
                <a:spcPct val="135835"/>
              </a:lnSpc>
              <a:buNone/>
            </a:pPr>
            <a:r>
              <a:rPr lang="en-US" sz="3300" dirty="0">
                <a:solidFill>
                  <a:srgbClr val="1D2D3D"/>
                </a:solidFill>
                <a:latin typeface="Arial" pitchFamily="34" charset="0"/>
                <a:ea typeface="Arial" pitchFamily="34" charset="-122"/>
                <a:cs typeface="Arial" pitchFamily="34" charset="-120"/>
              </a:rPr>
              <a:t>Cold</a:t>
            </a:r>
            <a:endParaRPr lang="en-US" sz="3300" dirty="0"/>
          </a:p>
        </p:txBody>
      </p:sp>
      <p:sp>
        <p:nvSpPr>
          <p:cNvPr id="18" name="Text 16"/>
          <p:cNvSpPr/>
          <p:nvPr/>
        </p:nvSpPr>
        <p:spPr>
          <a:xfrm>
            <a:off x="7814649" y="3146402"/>
            <a:ext cx="2943657" cy="838185"/>
          </a:xfrm>
          <a:prstGeom prst="rect">
            <a:avLst/>
          </a:prstGeom>
          <a:noFill/>
          <a:ln/>
        </p:spPr>
        <p:txBody>
          <a:bodyPr wrap="square" lIns="25400" tIns="25400" rIns="25400" bIns="25400" rtlCol="0" anchor="t">
            <a:normAutofit lnSpcReduction="10000"/>
          </a:bodyPr>
          <a:lstStyle/>
          <a:p>
            <a:pPr marL="0" indent="0" algn="l">
              <a:lnSpc>
                <a:spcPct val="86809"/>
              </a:lnSpc>
              <a:buNone/>
            </a:pPr>
            <a:r>
              <a:rPr lang="en-US" sz="6300" dirty="0">
                <a:solidFill>
                  <a:srgbClr val="749DC4"/>
                </a:solidFill>
                <a:latin typeface="Arial" pitchFamily="34" charset="0"/>
                <a:ea typeface="Arial" pitchFamily="34" charset="-122"/>
                <a:cs typeface="Arial" pitchFamily="34" charset="-120"/>
              </a:rPr>
              <a:t>90</a:t>
            </a:r>
            <a:endParaRPr lang="en-US" sz="6300" dirty="0"/>
          </a:p>
        </p:txBody>
      </p:sp>
      <p:sp>
        <p:nvSpPr>
          <p:cNvPr id="19" name="Text 17"/>
          <p:cNvSpPr/>
          <p:nvPr/>
        </p:nvSpPr>
        <p:spPr>
          <a:xfrm>
            <a:off x="7814649" y="3946486"/>
            <a:ext cx="2943657"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5D5D60"/>
                </a:solidFill>
                <a:latin typeface="Arial" pitchFamily="34" charset="0"/>
                <a:ea typeface="Arial" pitchFamily="34" charset="-122"/>
                <a:cs typeface="Arial" pitchFamily="34" charset="-120"/>
              </a:rPr>
              <a:t>DAYS</a:t>
            </a:r>
            <a:endParaRPr lang="en-US" sz="1800" dirty="0"/>
          </a:p>
        </p:txBody>
      </p:sp>
      <p:sp>
        <p:nvSpPr>
          <p:cNvPr id="20" name="Text 18"/>
          <p:cNvSpPr/>
          <p:nvPr/>
        </p:nvSpPr>
        <p:spPr>
          <a:xfrm>
            <a:off x="7814649" y="4491220"/>
            <a:ext cx="2756333" cy="655180"/>
          </a:xfrm>
          <a:prstGeom prst="rect">
            <a:avLst/>
          </a:prstGeom>
          <a:noFill/>
          <a:ln/>
        </p:spPr>
        <p:txBody>
          <a:bodyPr wrap="square" lIns="25400" tIns="25400" rIns="25400" bIns="25400" rtlCol="0" anchor="t">
            <a:normAutofit lnSpcReduction="10000"/>
          </a:bodyPr>
          <a:lstStyle/>
          <a:p>
            <a:pPr marL="0" indent="0" algn="l">
              <a:lnSpc>
                <a:spcPct val="116369"/>
              </a:lnSpc>
              <a:buNone/>
            </a:pPr>
            <a:r>
              <a:rPr lang="en-US" sz="1800" dirty="0">
                <a:solidFill>
                  <a:srgbClr val="5D5D60"/>
                </a:solidFill>
                <a:latin typeface="Arial" pitchFamily="34" charset="0"/>
                <a:ea typeface="Arial" pitchFamily="34" charset="-122"/>
                <a:cs typeface="Arial" pitchFamily="34" charset="-120"/>
              </a:rPr>
              <a:t>Cheaper still, for content that has gone quiet.</a:t>
            </a:r>
            <a:endParaRPr lang="en-US" sz="1800" dirty="0"/>
          </a:p>
        </p:txBody>
      </p:sp>
      <p:sp>
        <p:nvSpPr>
          <p:cNvPr id="21" name="Shape 19"/>
          <p:cNvSpPr/>
          <p:nvPr/>
        </p:nvSpPr>
        <p:spPr>
          <a:xfrm>
            <a:off x="10994608" y="2126155"/>
            <a:ext cx="3188722" cy="3585096"/>
          </a:xfrm>
          <a:prstGeom prst="rect">
            <a:avLst/>
          </a:prstGeom>
          <a:ln w="8695">
            <a:solidFill>
              <a:srgbClr val="1F1F1F">
                <a:alpha val="16000"/>
              </a:srgbClr>
            </a:solidFill>
            <a:prstDash val="solid"/>
          </a:ln>
        </p:spPr>
        <p:txBody>
          <a:bodyPr/>
          <a:lstStyle/>
          <a:p>
            <a:endParaRPr lang="en-US"/>
          </a:p>
        </p:txBody>
      </p:sp>
      <p:sp>
        <p:nvSpPr>
          <p:cNvPr id="22" name="Text 20"/>
          <p:cNvSpPr/>
          <p:nvPr/>
        </p:nvSpPr>
        <p:spPr>
          <a:xfrm>
            <a:off x="11250910" y="2401545"/>
            <a:ext cx="2943731" cy="687719"/>
          </a:xfrm>
          <a:prstGeom prst="rect">
            <a:avLst/>
          </a:prstGeom>
          <a:noFill/>
          <a:ln/>
        </p:spPr>
        <p:txBody>
          <a:bodyPr wrap="square" lIns="25400" tIns="25400" rIns="25400" bIns="25400" rtlCol="0" anchor="t">
            <a:normAutofit/>
          </a:bodyPr>
          <a:lstStyle/>
          <a:p>
            <a:pPr marL="0" indent="0" algn="l">
              <a:lnSpc>
                <a:spcPct val="135835"/>
              </a:lnSpc>
              <a:buNone/>
            </a:pPr>
            <a:r>
              <a:rPr lang="en-US" sz="3300" dirty="0">
                <a:solidFill>
                  <a:srgbClr val="1D2D3D"/>
                </a:solidFill>
                <a:latin typeface="Arial" pitchFamily="34" charset="0"/>
                <a:ea typeface="Arial" pitchFamily="34" charset="-122"/>
                <a:cs typeface="Arial" pitchFamily="34" charset="-120"/>
              </a:rPr>
              <a:t>Archive</a:t>
            </a:r>
            <a:endParaRPr lang="en-US" sz="3300" dirty="0"/>
          </a:p>
        </p:txBody>
      </p:sp>
      <p:sp>
        <p:nvSpPr>
          <p:cNvPr id="23" name="Text 21"/>
          <p:cNvSpPr/>
          <p:nvPr/>
        </p:nvSpPr>
        <p:spPr>
          <a:xfrm>
            <a:off x="11250910" y="3146402"/>
            <a:ext cx="2943731" cy="838185"/>
          </a:xfrm>
          <a:prstGeom prst="rect">
            <a:avLst/>
          </a:prstGeom>
          <a:noFill/>
          <a:ln/>
        </p:spPr>
        <p:txBody>
          <a:bodyPr wrap="square" lIns="25400" tIns="25400" rIns="25400" bIns="25400" rtlCol="0" anchor="t">
            <a:normAutofit lnSpcReduction="10000"/>
          </a:bodyPr>
          <a:lstStyle/>
          <a:p>
            <a:pPr marL="0" indent="0" algn="l">
              <a:lnSpc>
                <a:spcPct val="86809"/>
              </a:lnSpc>
              <a:buNone/>
            </a:pPr>
            <a:r>
              <a:rPr lang="en-US" sz="6300" dirty="0">
                <a:solidFill>
                  <a:srgbClr val="749DC4"/>
                </a:solidFill>
                <a:latin typeface="Arial" pitchFamily="34" charset="0"/>
                <a:ea typeface="Arial" pitchFamily="34" charset="-122"/>
                <a:cs typeface="Arial" pitchFamily="34" charset="-120"/>
              </a:rPr>
              <a:t>180</a:t>
            </a:r>
            <a:endParaRPr lang="en-US" sz="6300" dirty="0"/>
          </a:p>
        </p:txBody>
      </p:sp>
      <p:sp>
        <p:nvSpPr>
          <p:cNvPr id="24" name="Text 22"/>
          <p:cNvSpPr/>
          <p:nvPr/>
        </p:nvSpPr>
        <p:spPr>
          <a:xfrm>
            <a:off x="11250910" y="3946486"/>
            <a:ext cx="2943731"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5D5D60"/>
                </a:solidFill>
                <a:latin typeface="Arial" pitchFamily="34" charset="0"/>
                <a:ea typeface="Arial" pitchFamily="34" charset="-122"/>
                <a:cs typeface="Arial" pitchFamily="34" charset="-120"/>
              </a:rPr>
              <a:t>DAYS</a:t>
            </a:r>
            <a:endParaRPr lang="en-US" sz="1800" dirty="0"/>
          </a:p>
        </p:txBody>
      </p:sp>
      <p:sp>
        <p:nvSpPr>
          <p:cNvPr id="25" name="Text 23"/>
          <p:cNvSpPr/>
          <p:nvPr/>
        </p:nvSpPr>
        <p:spPr>
          <a:xfrm>
            <a:off x="11250910" y="4491220"/>
            <a:ext cx="2756403" cy="963720"/>
          </a:xfrm>
          <a:prstGeom prst="rect">
            <a:avLst/>
          </a:prstGeom>
          <a:noFill/>
          <a:ln/>
        </p:spPr>
        <p:txBody>
          <a:bodyPr wrap="square" lIns="25400" tIns="25400" rIns="25400" bIns="25400" rtlCol="0" anchor="t">
            <a:normAutofit lnSpcReduction="10000"/>
          </a:bodyPr>
          <a:lstStyle/>
          <a:p>
            <a:pPr marL="0" indent="0" algn="l">
              <a:lnSpc>
                <a:spcPct val="116369"/>
              </a:lnSpc>
              <a:buNone/>
            </a:pPr>
            <a:r>
              <a:rPr lang="en-US" sz="1800" dirty="0">
                <a:solidFill>
                  <a:srgbClr val="5D5D60"/>
                </a:solidFill>
                <a:latin typeface="Arial" pitchFamily="34" charset="0"/>
                <a:ea typeface="Arial" pitchFamily="34" charset="-122"/>
                <a:cs typeface="Arial" pitchFamily="34" charset="-120"/>
              </a:rPr>
              <a:t>Lowest cost, for content almost certainly finished with.</a:t>
            </a:r>
            <a:endParaRPr lang="en-US" sz="1800" dirty="0"/>
          </a:p>
        </p:txBody>
      </p:sp>
      <p:sp>
        <p:nvSpPr>
          <p:cNvPr id="26" name="Shape 24"/>
          <p:cNvSpPr/>
          <p:nvPr/>
        </p:nvSpPr>
        <p:spPr>
          <a:xfrm>
            <a:off x="14430937" y="2126155"/>
            <a:ext cx="3171264" cy="3585096"/>
          </a:xfrm>
          <a:prstGeom prst="rect">
            <a:avLst/>
          </a:prstGeom>
          <a:solidFill>
            <a:srgbClr val="1D2D3D"/>
          </a:solidFill>
          <a:ln/>
        </p:spPr>
        <p:txBody>
          <a:bodyPr/>
          <a:lstStyle/>
          <a:p>
            <a:endParaRPr lang="en-US"/>
          </a:p>
        </p:txBody>
      </p:sp>
      <p:sp>
        <p:nvSpPr>
          <p:cNvPr id="27" name="Text 25"/>
          <p:cNvSpPr/>
          <p:nvPr/>
        </p:nvSpPr>
        <p:spPr>
          <a:xfrm>
            <a:off x="14678544" y="2392849"/>
            <a:ext cx="2943657" cy="687719"/>
          </a:xfrm>
          <a:prstGeom prst="rect">
            <a:avLst/>
          </a:prstGeom>
          <a:noFill/>
          <a:ln/>
        </p:spPr>
        <p:txBody>
          <a:bodyPr wrap="square" lIns="25400" tIns="25400" rIns="25400" bIns="25400" rtlCol="0" anchor="t">
            <a:normAutofit/>
          </a:bodyPr>
          <a:lstStyle/>
          <a:p>
            <a:pPr marL="0" indent="0" algn="l">
              <a:lnSpc>
                <a:spcPct val="135835"/>
              </a:lnSpc>
              <a:buNone/>
            </a:pPr>
            <a:r>
              <a:rPr lang="en-US" sz="3300" dirty="0">
                <a:solidFill>
                  <a:srgbClr val="F2F2F3"/>
                </a:solidFill>
                <a:latin typeface="Arial" pitchFamily="34" charset="0"/>
                <a:ea typeface="Arial" pitchFamily="34" charset="-122"/>
                <a:cs typeface="Arial" pitchFamily="34" charset="-120"/>
              </a:rPr>
              <a:t>Delete</a:t>
            </a:r>
            <a:endParaRPr lang="en-US" sz="3300" dirty="0"/>
          </a:p>
        </p:txBody>
      </p:sp>
      <p:sp>
        <p:nvSpPr>
          <p:cNvPr id="28" name="Text 26"/>
          <p:cNvSpPr/>
          <p:nvPr/>
        </p:nvSpPr>
        <p:spPr>
          <a:xfrm>
            <a:off x="14678544" y="3137707"/>
            <a:ext cx="2943657" cy="838185"/>
          </a:xfrm>
          <a:prstGeom prst="rect">
            <a:avLst/>
          </a:prstGeom>
          <a:noFill/>
          <a:ln/>
        </p:spPr>
        <p:txBody>
          <a:bodyPr wrap="square" lIns="25400" tIns="25400" rIns="25400" bIns="25400" rtlCol="0" anchor="t">
            <a:normAutofit lnSpcReduction="10000"/>
          </a:bodyPr>
          <a:lstStyle/>
          <a:p>
            <a:pPr marL="0" indent="0" algn="l">
              <a:lnSpc>
                <a:spcPct val="86809"/>
              </a:lnSpc>
              <a:buNone/>
            </a:pPr>
            <a:r>
              <a:rPr lang="en-US" sz="6300" dirty="0">
                <a:solidFill>
                  <a:srgbClr val="F2F2F3"/>
                </a:solidFill>
                <a:latin typeface="Arial" pitchFamily="34" charset="0"/>
                <a:ea typeface="Arial" pitchFamily="34" charset="-122"/>
                <a:cs typeface="Arial" pitchFamily="34" charset="-120"/>
              </a:rPr>
              <a:t>330</a:t>
            </a:r>
            <a:endParaRPr lang="en-US" sz="6300" dirty="0"/>
          </a:p>
        </p:txBody>
      </p:sp>
      <p:sp>
        <p:nvSpPr>
          <p:cNvPr id="29" name="Text 27"/>
          <p:cNvSpPr/>
          <p:nvPr/>
        </p:nvSpPr>
        <p:spPr>
          <a:xfrm>
            <a:off x="14678544" y="3937791"/>
            <a:ext cx="2943657"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B5D9FD"/>
                </a:solidFill>
                <a:latin typeface="Arial" pitchFamily="34" charset="0"/>
                <a:ea typeface="Arial" pitchFamily="34" charset="-122"/>
                <a:cs typeface="Arial" pitchFamily="34" charset="-120"/>
              </a:rPr>
              <a:t>DAYS TOTAL</a:t>
            </a:r>
            <a:endParaRPr lang="en-US" sz="1800" dirty="0"/>
          </a:p>
        </p:txBody>
      </p:sp>
      <p:sp>
        <p:nvSpPr>
          <p:cNvPr id="30" name="Text 28"/>
          <p:cNvSpPr/>
          <p:nvPr/>
        </p:nvSpPr>
        <p:spPr>
          <a:xfrm>
            <a:off x="14678544" y="4482525"/>
            <a:ext cx="2756333" cy="655180"/>
          </a:xfrm>
          <a:prstGeom prst="rect">
            <a:avLst/>
          </a:prstGeom>
          <a:noFill/>
          <a:ln/>
        </p:spPr>
        <p:txBody>
          <a:bodyPr wrap="square" lIns="25400" tIns="25400" rIns="25400" bIns="25400" rtlCol="0" anchor="t">
            <a:normAutofit lnSpcReduction="10000"/>
          </a:bodyPr>
          <a:lstStyle/>
          <a:p>
            <a:pPr marL="0" indent="0" algn="l">
              <a:lnSpc>
                <a:spcPct val="116369"/>
              </a:lnSpc>
              <a:buNone/>
            </a:pPr>
            <a:r>
              <a:rPr lang="en-US" sz="1800" dirty="0">
                <a:solidFill>
                  <a:srgbClr val="D6EBFF"/>
                </a:solidFill>
                <a:latin typeface="Arial" pitchFamily="34" charset="0"/>
                <a:ea typeface="Arial" pitchFamily="34" charset="-122"/>
                <a:cs typeface="Arial" pitchFamily="34" charset="-120"/>
              </a:rPr>
              <a:t>Permanent deletion of the AI transaction.</a:t>
            </a:r>
            <a:endParaRPr lang="en-US" sz="1800" dirty="0"/>
          </a:p>
        </p:txBody>
      </p:sp>
      <p:sp>
        <p:nvSpPr>
          <p:cNvPr id="31" name="Text 29"/>
          <p:cNvSpPr/>
          <p:nvPr/>
        </p:nvSpPr>
        <p:spPr>
          <a:xfrm>
            <a:off x="685758" y="6130314"/>
            <a:ext cx="15716214" cy="514360"/>
          </a:xfrm>
          <a:prstGeom prst="rect">
            <a:avLst/>
          </a:prstGeom>
          <a:noFill/>
          <a:ln/>
        </p:spPr>
        <p:txBody>
          <a:bodyPr wrap="square" lIns="25400" tIns="25400" rIns="25400" bIns="25400" rtlCol="0" anchor="t">
            <a:normAutofit fontScale="77500" lnSpcReduction="20000"/>
          </a:bodyPr>
          <a:lstStyle/>
          <a:p>
            <a:pPr marL="0" indent="0" algn="l">
              <a:lnSpc>
                <a:spcPct val="108460"/>
              </a:lnSpc>
              <a:buNone/>
            </a:pPr>
            <a:r>
              <a:rPr lang="en-US" sz="3000" dirty="0">
                <a:solidFill>
                  <a:srgbClr val="1D2D3D"/>
                </a:solidFill>
                <a:latin typeface="Arial" pitchFamily="34" charset="0"/>
                <a:ea typeface="Arial" pitchFamily="34" charset="-122"/>
                <a:cs typeface="Arial" pitchFamily="34" charset="-120"/>
              </a:rPr>
              <a:t>Each interval matches Azure's minimum retention for that tier, so the policy incurs no early-deletion charges.</a:t>
            </a:r>
            <a:endParaRPr lang="en-US" sz="3000" dirty="0"/>
          </a:p>
        </p:txBody>
      </p:sp>
      <p:sp>
        <p:nvSpPr>
          <p:cNvPr id="32" name="Text 30"/>
          <p:cNvSpPr/>
          <p:nvPr/>
        </p:nvSpPr>
        <p:spPr>
          <a:xfrm>
            <a:off x="685758" y="9098330"/>
            <a:ext cx="8356039" cy="731466"/>
          </a:xfrm>
          <a:prstGeom prst="rect">
            <a:avLst/>
          </a:prstGeom>
          <a:noFill/>
          <a:ln/>
        </p:spPr>
        <p:txBody>
          <a:bodyPr wrap="square" lIns="25400" tIns="25400" rIns="25400" bIns="25400" rtlCol="0" anchor="t">
            <a:normAutofit lnSpcReduction="10000"/>
          </a:bodyPr>
          <a:lstStyle/>
          <a:p>
            <a:pPr marL="0" indent="0" algn="l">
              <a:lnSpc>
                <a:spcPct val="119814"/>
              </a:lnSpc>
              <a:buNone/>
            </a:pPr>
            <a:r>
              <a:rPr lang="en-US" sz="2025" dirty="0">
                <a:solidFill>
                  <a:srgbClr val="1D2D3D"/>
                </a:solidFill>
                <a:latin typeface="Arial" pitchFamily="34" charset="0"/>
                <a:ea typeface="Arial" pitchFamily="34" charset="-122"/>
                <a:cs typeface="Arial" pitchFamily="34" charset="-120"/>
              </a:rPr>
              <a:t>PREMISE — </a:t>
            </a:r>
            <a:r>
              <a:rPr lang="en-US" sz="1875" dirty="0">
                <a:solidFill>
                  <a:srgbClr val="5D5D60"/>
                </a:solidFill>
                <a:latin typeface="Arial" pitchFamily="34" charset="0"/>
                <a:ea typeface="Arial" pitchFamily="34" charset="-122"/>
                <a:cs typeface="Arial" pitchFamily="34" charset="-120"/>
              </a:rPr>
              <a:t>the longer a file goes untouched, the less likely it is to be needed again, so storage cost should fall as that probability does.</a:t>
            </a:r>
            <a:endParaRPr lang="en-US" sz="1875" dirty="0"/>
          </a:p>
        </p:txBody>
      </p:sp>
      <p:sp>
        <p:nvSpPr>
          <p:cNvPr id="33" name="Shape 31"/>
          <p:cNvSpPr/>
          <p:nvPr/>
        </p:nvSpPr>
        <p:spPr>
          <a:xfrm>
            <a:off x="9255589" y="9098330"/>
            <a:ext cx="43475" cy="666669"/>
          </a:xfrm>
          <a:prstGeom prst="rect">
            <a:avLst/>
          </a:prstGeom>
          <a:solidFill>
            <a:srgbClr val="C8651B"/>
          </a:solidFill>
          <a:ln/>
        </p:spPr>
        <p:txBody>
          <a:bodyPr/>
          <a:lstStyle/>
          <a:p>
            <a:endParaRPr lang="en-US"/>
          </a:p>
        </p:txBody>
      </p:sp>
      <p:sp>
        <p:nvSpPr>
          <p:cNvPr id="34" name="Text 32"/>
          <p:cNvSpPr/>
          <p:nvPr/>
        </p:nvSpPr>
        <p:spPr>
          <a:xfrm>
            <a:off x="9489565" y="9098330"/>
            <a:ext cx="8363035" cy="704769"/>
          </a:xfrm>
          <a:prstGeom prst="rect">
            <a:avLst/>
          </a:prstGeom>
          <a:noFill/>
          <a:ln/>
        </p:spPr>
        <p:txBody>
          <a:bodyPr wrap="square" lIns="25400" tIns="25400" rIns="25400" bIns="25400" rtlCol="0" anchor="t">
            <a:normAutofit lnSpcReduction="10000"/>
          </a:bodyPr>
          <a:lstStyle/>
          <a:p>
            <a:pPr marL="0" indent="0" algn="l">
              <a:lnSpc>
                <a:spcPct val="119814"/>
              </a:lnSpc>
              <a:buNone/>
            </a:pPr>
            <a:r>
              <a:rPr lang="en-US" sz="1875" dirty="0">
                <a:solidFill>
                  <a:srgbClr val="C8651B"/>
                </a:solidFill>
                <a:latin typeface="Arial" pitchFamily="34" charset="0"/>
                <a:ea typeface="Arial" pitchFamily="34" charset="-122"/>
                <a:cs typeface="Arial" pitchFamily="34" charset="-120"/>
              </a:rPr>
              <a:t>Deletion at day 330 expires an AI transaction; it does not delete a document. The record remains in SharePoint throughout.</a:t>
            </a:r>
            <a:endParaRPr lang="en-US" sz="18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685758" y="609540"/>
            <a:ext cx="18608087"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88" dirty="0">
                <a:solidFill>
                  <a:srgbClr val="416180"/>
                </a:solidFill>
                <a:latin typeface="Arial" pitchFamily="34" charset="0"/>
                <a:ea typeface="Arial" pitchFamily="34" charset="-122"/>
                <a:cs typeface="Arial" pitchFamily="34" charset="-120"/>
              </a:rPr>
              <a:t>THE COST CASE · LIVE DEMONSTRATION</a:t>
            </a:r>
            <a:endParaRPr lang="en-US" sz="1800" dirty="0"/>
          </a:p>
        </p:txBody>
      </p:sp>
      <p:sp>
        <p:nvSpPr>
          <p:cNvPr id="3" name="Text 1"/>
          <p:cNvSpPr/>
          <p:nvPr/>
        </p:nvSpPr>
        <p:spPr>
          <a:xfrm>
            <a:off x="685758" y="1039947"/>
            <a:ext cx="18608087" cy="705245"/>
          </a:xfrm>
          <a:prstGeom prst="rect">
            <a:avLst/>
          </a:prstGeom>
          <a:noFill/>
          <a:ln/>
        </p:spPr>
        <p:txBody>
          <a:bodyPr wrap="square" lIns="25400" tIns="25400" rIns="25400" bIns="25400" rtlCol="0" anchor="t">
            <a:normAutofit lnSpcReduction="10000"/>
          </a:bodyPr>
          <a:lstStyle/>
          <a:p>
            <a:pPr marL="0" indent="0" algn="l">
              <a:lnSpc>
                <a:spcPct val="89215"/>
              </a:lnSpc>
              <a:buNone/>
            </a:pPr>
            <a:r>
              <a:rPr lang="en-US" sz="5100" dirty="0">
                <a:solidFill>
                  <a:srgbClr val="1D2D3D"/>
                </a:solidFill>
                <a:latin typeface="Arial" pitchFamily="34" charset="0"/>
                <a:ea typeface="Arial" pitchFamily="34" charset="-122"/>
                <a:cs typeface="Arial" pitchFamily="34" charset="-120"/>
              </a:rPr>
              <a:t>Lifecycle vs. hot-only retention</a:t>
            </a:r>
            <a:endParaRPr lang="en-US" sz="5100" dirty="0"/>
          </a:p>
        </p:txBody>
      </p:sp>
      <p:sp>
        <p:nvSpPr>
          <p:cNvPr id="4" name="Text 2"/>
          <p:cNvSpPr/>
          <p:nvPr/>
        </p:nvSpPr>
        <p:spPr>
          <a:xfrm>
            <a:off x="685758" y="2164264"/>
            <a:ext cx="8381957"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416180"/>
                </a:solidFill>
                <a:latin typeface="Arial" pitchFamily="34" charset="0"/>
                <a:ea typeface="Arial" pitchFamily="34" charset="-122"/>
                <a:cs typeface="Arial" pitchFamily="34" charset="-120"/>
              </a:rPr>
              <a:t>HEADLINE FIGURES</a:t>
            </a:r>
            <a:endParaRPr lang="en-US" sz="1800" dirty="0"/>
          </a:p>
        </p:txBody>
      </p:sp>
      <p:sp>
        <p:nvSpPr>
          <p:cNvPr id="5" name="Shape 3"/>
          <p:cNvSpPr/>
          <p:nvPr/>
        </p:nvSpPr>
        <p:spPr>
          <a:xfrm>
            <a:off x="685758" y="2728018"/>
            <a:ext cx="7619960" cy="1588281"/>
          </a:xfrm>
          <a:prstGeom prst="rect">
            <a:avLst/>
          </a:prstGeom>
          <a:ln w="8695">
            <a:solidFill>
              <a:srgbClr val="1F1F1F">
                <a:alpha val="16000"/>
              </a:srgbClr>
            </a:solidFill>
            <a:prstDash val="solid"/>
          </a:ln>
        </p:spPr>
        <p:txBody>
          <a:bodyPr/>
          <a:lstStyle/>
          <a:p>
            <a:endParaRPr lang="en-US"/>
          </a:p>
        </p:txBody>
      </p:sp>
      <p:sp>
        <p:nvSpPr>
          <p:cNvPr id="6" name="Text 4"/>
          <p:cNvSpPr/>
          <p:nvPr/>
        </p:nvSpPr>
        <p:spPr>
          <a:xfrm>
            <a:off x="999189" y="2984320"/>
            <a:ext cx="7692408" cy="687651"/>
          </a:xfrm>
          <a:prstGeom prst="rect">
            <a:avLst/>
          </a:prstGeom>
          <a:noFill/>
          <a:ln/>
        </p:spPr>
        <p:txBody>
          <a:bodyPr wrap="square" lIns="25400" tIns="25400" rIns="25400" bIns="25400" rtlCol="0" anchor="t">
            <a:normAutofit lnSpcReduction="10000"/>
          </a:bodyPr>
          <a:lstStyle/>
          <a:p>
            <a:pPr marL="0" indent="0" algn="l">
              <a:lnSpc>
                <a:spcPct val="95781"/>
              </a:lnSpc>
              <a:buNone/>
            </a:pPr>
            <a:r>
              <a:rPr lang="en-US" sz="4650" dirty="0">
                <a:solidFill>
                  <a:srgbClr val="7A7A7D"/>
                </a:solidFill>
                <a:latin typeface="Arial" pitchFamily="34" charset="0"/>
                <a:ea typeface="Arial" pitchFamily="34" charset="-122"/>
                <a:cs typeface="Arial" pitchFamily="34" charset="-120"/>
              </a:rPr>
              <a:t>$ __________</a:t>
            </a:r>
            <a:endParaRPr lang="en-US" sz="4650" dirty="0"/>
          </a:p>
        </p:txBody>
      </p:sp>
      <p:sp>
        <p:nvSpPr>
          <p:cNvPr id="7" name="Text 5"/>
          <p:cNvSpPr/>
          <p:nvPr/>
        </p:nvSpPr>
        <p:spPr>
          <a:xfrm>
            <a:off x="999189" y="3691000"/>
            <a:ext cx="7692408"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5D5D60"/>
                </a:solidFill>
                <a:latin typeface="Arial" pitchFamily="34" charset="0"/>
                <a:ea typeface="Arial" pitchFamily="34" charset="-122"/>
                <a:cs typeface="Arial" pitchFamily="34" charset="-120"/>
              </a:rPr>
              <a:t>Hot tier only — annual cost</a:t>
            </a:r>
            <a:endParaRPr lang="en-US" sz="1875" dirty="0"/>
          </a:p>
        </p:txBody>
      </p:sp>
      <p:sp>
        <p:nvSpPr>
          <p:cNvPr id="8" name="Shape 6"/>
          <p:cNvSpPr/>
          <p:nvPr/>
        </p:nvSpPr>
        <p:spPr>
          <a:xfrm>
            <a:off x="685758" y="4506777"/>
            <a:ext cx="7619960" cy="1588281"/>
          </a:xfrm>
          <a:prstGeom prst="rect">
            <a:avLst/>
          </a:prstGeom>
          <a:ln w="8695">
            <a:solidFill>
              <a:srgbClr val="1F1F1F">
                <a:alpha val="16000"/>
              </a:srgbClr>
            </a:solidFill>
            <a:prstDash val="solid"/>
          </a:ln>
        </p:spPr>
        <p:txBody>
          <a:bodyPr/>
          <a:lstStyle/>
          <a:p>
            <a:endParaRPr lang="en-US"/>
          </a:p>
        </p:txBody>
      </p:sp>
      <p:sp>
        <p:nvSpPr>
          <p:cNvPr id="9" name="Text 7"/>
          <p:cNvSpPr/>
          <p:nvPr/>
        </p:nvSpPr>
        <p:spPr>
          <a:xfrm>
            <a:off x="999189" y="4763078"/>
            <a:ext cx="7692408" cy="687651"/>
          </a:xfrm>
          <a:prstGeom prst="rect">
            <a:avLst/>
          </a:prstGeom>
          <a:noFill/>
          <a:ln/>
        </p:spPr>
        <p:txBody>
          <a:bodyPr wrap="square" lIns="25400" tIns="25400" rIns="25400" bIns="25400" rtlCol="0" anchor="t">
            <a:normAutofit lnSpcReduction="10000"/>
          </a:bodyPr>
          <a:lstStyle/>
          <a:p>
            <a:pPr marL="0" indent="0" algn="l">
              <a:lnSpc>
                <a:spcPct val="95781"/>
              </a:lnSpc>
              <a:buNone/>
            </a:pPr>
            <a:r>
              <a:rPr lang="en-US" sz="4650" dirty="0">
                <a:solidFill>
                  <a:srgbClr val="7A7A7D"/>
                </a:solidFill>
                <a:latin typeface="Arial" pitchFamily="34" charset="0"/>
                <a:ea typeface="Arial" pitchFamily="34" charset="-122"/>
                <a:cs typeface="Arial" pitchFamily="34" charset="-120"/>
              </a:rPr>
              <a:t>$ __________</a:t>
            </a:r>
            <a:endParaRPr lang="en-US" sz="4650" dirty="0"/>
          </a:p>
        </p:txBody>
      </p:sp>
      <p:sp>
        <p:nvSpPr>
          <p:cNvPr id="10" name="Text 8"/>
          <p:cNvSpPr/>
          <p:nvPr/>
        </p:nvSpPr>
        <p:spPr>
          <a:xfrm>
            <a:off x="999189" y="5469759"/>
            <a:ext cx="7692408"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5D5D60"/>
                </a:solidFill>
                <a:latin typeface="Arial" pitchFamily="34" charset="0"/>
                <a:ea typeface="Arial" pitchFamily="34" charset="-122"/>
                <a:cs typeface="Arial" pitchFamily="34" charset="-120"/>
              </a:rPr>
              <a:t>With lifecycle policy — annual cost</a:t>
            </a:r>
            <a:endParaRPr lang="en-US" sz="1875" dirty="0"/>
          </a:p>
        </p:txBody>
      </p:sp>
      <p:sp>
        <p:nvSpPr>
          <p:cNvPr id="11" name="Shape 9"/>
          <p:cNvSpPr/>
          <p:nvPr/>
        </p:nvSpPr>
        <p:spPr>
          <a:xfrm>
            <a:off x="685758" y="6285535"/>
            <a:ext cx="7619960" cy="1570891"/>
          </a:xfrm>
          <a:prstGeom prst="rect">
            <a:avLst/>
          </a:prstGeom>
          <a:solidFill>
            <a:srgbClr val="1D2D3D"/>
          </a:solidFill>
          <a:ln/>
        </p:spPr>
        <p:txBody>
          <a:bodyPr/>
          <a:lstStyle/>
          <a:p>
            <a:endParaRPr lang="en-US"/>
          </a:p>
        </p:txBody>
      </p:sp>
      <p:sp>
        <p:nvSpPr>
          <p:cNvPr id="12" name="Text 10"/>
          <p:cNvSpPr/>
          <p:nvPr/>
        </p:nvSpPr>
        <p:spPr>
          <a:xfrm>
            <a:off x="990494" y="6533141"/>
            <a:ext cx="7711537" cy="687651"/>
          </a:xfrm>
          <a:prstGeom prst="rect">
            <a:avLst/>
          </a:prstGeom>
          <a:noFill/>
          <a:ln/>
        </p:spPr>
        <p:txBody>
          <a:bodyPr wrap="square" lIns="25400" tIns="25400" rIns="25400" bIns="25400" rtlCol="0" anchor="t">
            <a:normAutofit lnSpcReduction="10000"/>
          </a:bodyPr>
          <a:lstStyle/>
          <a:p>
            <a:pPr marL="0" indent="0" algn="l">
              <a:lnSpc>
                <a:spcPct val="95781"/>
              </a:lnSpc>
              <a:buNone/>
            </a:pPr>
            <a:r>
              <a:rPr lang="en-US" sz="4650" dirty="0">
                <a:solidFill>
                  <a:srgbClr val="F2F2F3"/>
                </a:solidFill>
                <a:latin typeface="Arial" pitchFamily="34" charset="0"/>
                <a:ea typeface="Arial" pitchFamily="34" charset="-122"/>
                <a:cs typeface="Arial" pitchFamily="34" charset="-120"/>
              </a:rPr>
              <a:t>$ __________</a:t>
            </a:r>
            <a:endParaRPr lang="en-US" sz="4650" dirty="0"/>
          </a:p>
        </p:txBody>
      </p:sp>
      <p:sp>
        <p:nvSpPr>
          <p:cNvPr id="13" name="Text 11"/>
          <p:cNvSpPr/>
          <p:nvPr/>
        </p:nvSpPr>
        <p:spPr>
          <a:xfrm>
            <a:off x="990494" y="7239821"/>
            <a:ext cx="7711537"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B5D9FD"/>
                </a:solidFill>
                <a:latin typeface="Arial" pitchFamily="34" charset="0"/>
                <a:ea typeface="Arial" pitchFamily="34" charset="-122"/>
                <a:cs typeface="Arial" pitchFamily="34" charset="-120"/>
              </a:rPr>
              <a:t>Annual saving</a:t>
            </a:r>
            <a:endParaRPr lang="en-US" sz="1875" dirty="0"/>
          </a:p>
        </p:txBody>
      </p:sp>
      <p:sp>
        <p:nvSpPr>
          <p:cNvPr id="14" name="Shape 12"/>
          <p:cNvSpPr/>
          <p:nvPr/>
        </p:nvSpPr>
        <p:spPr>
          <a:xfrm>
            <a:off x="8724781" y="2164264"/>
            <a:ext cx="8877420" cy="7627433"/>
          </a:xfrm>
          <a:prstGeom prst="rect">
            <a:avLst/>
          </a:prstGeom>
          <a:ln w="8695">
            <a:solidFill>
              <a:srgbClr val="1F1F1F">
                <a:alpha val="16000"/>
              </a:srgbClr>
            </a:solidFill>
            <a:prstDash val="solid"/>
          </a:ln>
        </p:spPr>
        <p:txBody>
          <a:bodyPr/>
          <a:lstStyle/>
          <a:p>
            <a:endParaRPr lang="en-US"/>
          </a:p>
        </p:txBody>
      </p:sp>
      <p:sp>
        <p:nvSpPr>
          <p:cNvPr id="15" name="Text 13"/>
          <p:cNvSpPr/>
          <p:nvPr/>
        </p:nvSpPr>
        <p:spPr>
          <a:xfrm>
            <a:off x="9152538" y="2553912"/>
            <a:ext cx="8824095" cy="520066"/>
          </a:xfrm>
          <a:prstGeom prst="rect">
            <a:avLst/>
          </a:prstGeom>
          <a:noFill/>
          <a:ln/>
        </p:spPr>
        <p:txBody>
          <a:bodyPr wrap="square" lIns="25400" tIns="25400" rIns="25400" bIns="25400" rtlCol="0" anchor="t">
            <a:normAutofit lnSpcReduction="10000"/>
          </a:bodyPr>
          <a:lstStyle/>
          <a:p>
            <a:pPr marL="0" indent="0" algn="l">
              <a:lnSpc>
                <a:spcPct val="100781"/>
              </a:lnSpc>
              <a:buNone/>
            </a:pPr>
            <a:r>
              <a:rPr lang="en-US" sz="3300" dirty="0">
                <a:solidFill>
                  <a:srgbClr val="1D2D3D"/>
                </a:solidFill>
                <a:latin typeface="Arial" pitchFamily="34" charset="0"/>
                <a:ea typeface="Arial" pitchFamily="34" charset="-122"/>
                <a:cs typeface="Arial" pitchFamily="34" charset="-120"/>
              </a:rPr>
              <a:t>Live demo — interactive cost calculator</a:t>
            </a:r>
            <a:endParaRPr lang="en-US" sz="3300" dirty="0"/>
          </a:p>
        </p:txBody>
      </p:sp>
      <p:sp>
        <p:nvSpPr>
          <p:cNvPr id="16" name="Text 14"/>
          <p:cNvSpPr/>
          <p:nvPr/>
        </p:nvSpPr>
        <p:spPr>
          <a:xfrm>
            <a:off x="9152538" y="3226356"/>
            <a:ext cx="8824095" cy="398131"/>
          </a:xfrm>
          <a:prstGeom prst="rect">
            <a:avLst/>
          </a:prstGeom>
          <a:noFill/>
          <a:ln/>
        </p:spPr>
        <p:txBody>
          <a:bodyPr wrap="square" lIns="25400" tIns="25400" rIns="25400" bIns="25400" rtlCol="0" anchor="t">
            <a:normAutofit/>
          </a:bodyPr>
          <a:lstStyle/>
          <a:p>
            <a:pPr marL="0" indent="0" algn="l">
              <a:lnSpc>
                <a:spcPct val="120023"/>
              </a:lnSpc>
              <a:buNone/>
            </a:pPr>
            <a:r>
              <a:rPr lang="en-US" sz="2025" dirty="0">
                <a:solidFill>
                  <a:srgbClr val="5D5D60"/>
                </a:solidFill>
                <a:latin typeface="Arial" pitchFamily="34" charset="0"/>
                <a:ea typeface="Arial" pitchFamily="34" charset="-122"/>
                <a:cs typeface="Arial" pitchFamily="34" charset="-120"/>
              </a:rPr>
              <a:t>Switch to the browser here, or drop a screenshot into this frame.</a:t>
            </a:r>
            <a:endParaRPr lang="en-US" sz="2025" dirty="0"/>
          </a:p>
        </p:txBody>
      </p:sp>
      <p:sp>
        <p:nvSpPr>
          <p:cNvPr id="17" name="Shape 15"/>
          <p:cNvSpPr/>
          <p:nvPr/>
        </p:nvSpPr>
        <p:spPr>
          <a:xfrm>
            <a:off x="9152538" y="3891123"/>
            <a:ext cx="8021905" cy="9525"/>
          </a:xfrm>
          <a:prstGeom prst="rect">
            <a:avLst/>
          </a:prstGeom>
          <a:solidFill>
            <a:srgbClr val="1F1F1F">
              <a:alpha val="16000"/>
            </a:srgbClr>
          </a:solidFill>
          <a:ln/>
        </p:spPr>
        <p:txBody>
          <a:bodyPr/>
          <a:lstStyle/>
          <a:p>
            <a:endParaRPr lang="en-US"/>
          </a:p>
        </p:txBody>
      </p:sp>
      <p:sp>
        <p:nvSpPr>
          <p:cNvPr id="18" name="Text 16"/>
          <p:cNvSpPr/>
          <p:nvPr/>
        </p:nvSpPr>
        <p:spPr>
          <a:xfrm>
            <a:off x="9152538" y="4205369"/>
            <a:ext cx="8824095"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416180"/>
                </a:solidFill>
                <a:latin typeface="Arial" pitchFamily="34" charset="0"/>
                <a:ea typeface="Arial" pitchFamily="34" charset="-122"/>
                <a:cs typeface="Arial" pitchFamily="34" charset="-120"/>
              </a:rPr>
              <a:t>VARIABLES</a:t>
            </a:r>
            <a:endParaRPr lang="en-US" sz="1800" dirty="0"/>
          </a:p>
        </p:txBody>
      </p:sp>
      <p:sp>
        <p:nvSpPr>
          <p:cNvPr id="19" name="Text 17"/>
          <p:cNvSpPr/>
          <p:nvPr/>
        </p:nvSpPr>
        <p:spPr>
          <a:xfrm>
            <a:off x="9152538" y="4711994"/>
            <a:ext cx="8262562" cy="758163"/>
          </a:xfrm>
          <a:prstGeom prst="rect">
            <a:avLst/>
          </a:prstGeom>
          <a:noFill/>
          <a:ln/>
        </p:spPr>
        <p:txBody>
          <a:bodyPr wrap="square" lIns="25400" tIns="25400" rIns="25400" bIns="25400" rtlCol="0" anchor="t">
            <a:normAutofit lnSpcReduction="10000"/>
          </a:bodyPr>
          <a:lstStyle/>
          <a:p>
            <a:pPr marL="0" indent="0" algn="l">
              <a:lnSpc>
                <a:spcPct val="120023"/>
              </a:lnSpc>
              <a:buNone/>
            </a:pPr>
            <a:r>
              <a:rPr lang="en-US" sz="2025" dirty="0">
                <a:solidFill>
                  <a:srgbClr val="5D5D60"/>
                </a:solidFill>
                <a:latin typeface="Arial" pitchFamily="34" charset="0"/>
                <a:ea typeface="Arial" pitchFamily="34" charset="-122"/>
                <a:cs typeface="Arial" pitchFamily="34" charset="-120"/>
              </a:rPr>
              <a:t>Ingestion volume · average file size · growth rate · retention assumption per tier</a:t>
            </a:r>
            <a:endParaRPr lang="en-US" sz="20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609540" y="171388"/>
            <a:ext cx="6964153" cy="392357"/>
          </a:xfrm>
          <a:prstGeom prst="rect">
            <a:avLst/>
          </a:prstGeom>
          <a:noFill/>
          <a:ln/>
        </p:spPr>
        <p:txBody>
          <a:bodyPr wrap="square" lIns="25400" tIns="25400" rIns="25400" bIns="25400" rtlCol="0" anchor="t">
            <a:normAutofit fontScale="85000" lnSpcReduction="10000"/>
          </a:bodyPr>
          <a:lstStyle/>
          <a:p>
            <a:pPr marL="0" indent="0" algn="l">
              <a:lnSpc>
                <a:spcPct val="133608"/>
              </a:lnSpc>
              <a:buNone/>
            </a:pPr>
            <a:r>
              <a:rPr lang="en-US" sz="1800" kern="0" spc="288" dirty="0">
                <a:solidFill>
                  <a:srgbClr val="416180"/>
                </a:solidFill>
                <a:latin typeface="Arial" pitchFamily="34" charset="0"/>
                <a:ea typeface="Arial" pitchFamily="34" charset="-122"/>
                <a:cs typeface="Arial" pitchFamily="34" charset="-120"/>
              </a:rPr>
              <a:t>TARGET STATE · ALL THREE SOLUTIONS IN PLACE</a:t>
            </a:r>
            <a:endParaRPr lang="en-US" sz="1800" dirty="0"/>
          </a:p>
        </p:txBody>
      </p:sp>
      <p:sp>
        <p:nvSpPr>
          <p:cNvPr id="3" name="Text 1"/>
          <p:cNvSpPr/>
          <p:nvPr/>
        </p:nvSpPr>
        <p:spPr>
          <a:xfrm>
            <a:off x="609540" y="544666"/>
            <a:ext cx="6964153" cy="528626"/>
          </a:xfrm>
          <a:prstGeom prst="rect">
            <a:avLst/>
          </a:prstGeom>
          <a:noFill/>
          <a:ln/>
        </p:spPr>
        <p:txBody>
          <a:bodyPr wrap="none" lIns="25400" tIns="25400" rIns="25400" bIns="25400" rtlCol="0" anchor="t">
            <a:normAutofit lnSpcReduction="10000"/>
          </a:bodyPr>
          <a:lstStyle/>
          <a:p>
            <a:pPr marL="0" indent="0" algn="l">
              <a:lnSpc>
                <a:spcPct val="89548"/>
              </a:lnSpc>
              <a:buNone/>
            </a:pPr>
            <a:r>
              <a:rPr lang="en-US" sz="3750" dirty="0">
                <a:solidFill>
                  <a:srgbClr val="1D2D3D"/>
                </a:solidFill>
                <a:latin typeface="Arial" pitchFamily="34" charset="0"/>
                <a:ea typeface="Arial" pitchFamily="34" charset="-122"/>
                <a:cs typeface="Arial" pitchFamily="34" charset="-120"/>
              </a:rPr>
              <a:t>The same diagram, with less on the left</a:t>
            </a:r>
            <a:endParaRPr lang="en-US" sz="3750" dirty="0"/>
          </a:p>
        </p:txBody>
      </p:sp>
      <p:sp>
        <p:nvSpPr>
          <p:cNvPr id="4" name="Text 2"/>
          <p:cNvSpPr/>
          <p:nvPr/>
        </p:nvSpPr>
        <p:spPr>
          <a:xfrm>
            <a:off x="14048129" y="212486"/>
            <a:ext cx="3630291" cy="392357"/>
          </a:xfrm>
          <a:prstGeom prst="rect">
            <a:avLst/>
          </a:prstGeom>
          <a:noFill/>
          <a:ln/>
        </p:spPr>
        <p:txBody>
          <a:bodyPr wrap="square" lIns="25400" tIns="25400" rIns="25400" bIns="25400" rtlCol="0" anchor="t">
            <a:normAutofit fontScale="85000" lnSpcReduction="10000"/>
          </a:bodyPr>
          <a:lstStyle/>
          <a:p>
            <a:pPr marL="0" indent="0" algn="r">
              <a:lnSpc>
                <a:spcPct val="133608"/>
              </a:lnSpc>
              <a:buNone/>
            </a:pPr>
            <a:r>
              <a:rPr lang="en-US" sz="1800" kern="0" spc="216" dirty="0">
                <a:solidFill>
                  <a:srgbClr val="416180"/>
                </a:solidFill>
                <a:latin typeface="Arial" pitchFamily="34" charset="0"/>
                <a:ea typeface="Arial" pitchFamily="34" charset="-122"/>
                <a:cs typeface="Arial" pitchFamily="34" charset="-120"/>
              </a:rPr>
              <a:t>FOUR OF FIVE GAPS CLOSED</a:t>
            </a:r>
            <a:endParaRPr lang="en-US" sz="1800" dirty="0"/>
          </a:p>
        </p:txBody>
      </p:sp>
      <p:sp>
        <p:nvSpPr>
          <p:cNvPr id="5" name="Text 3"/>
          <p:cNvSpPr/>
          <p:nvPr/>
        </p:nvSpPr>
        <p:spPr>
          <a:xfrm>
            <a:off x="14048129" y="604785"/>
            <a:ext cx="3630291" cy="392357"/>
          </a:xfrm>
          <a:prstGeom prst="rect">
            <a:avLst/>
          </a:prstGeom>
          <a:noFill/>
          <a:ln/>
        </p:spPr>
        <p:txBody>
          <a:bodyPr wrap="square" lIns="25400" tIns="25400" rIns="25400" bIns="25400" rtlCol="0" anchor="t">
            <a:normAutofit/>
          </a:bodyPr>
          <a:lstStyle/>
          <a:p>
            <a:pPr marL="0" indent="0" algn="r">
              <a:lnSpc>
                <a:spcPct val="133608"/>
              </a:lnSpc>
              <a:buNone/>
            </a:pPr>
            <a:r>
              <a:rPr lang="en-US" sz="1800" dirty="0">
                <a:solidFill>
                  <a:srgbClr val="5D5D60"/>
                </a:solidFill>
                <a:latin typeface="Arial" pitchFamily="34" charset="0"/>
                <a:ea typeface="Arial" pitchFamily="34" charset="-122"/>
                <a:cs typeface="Arial" pitchFamily="34" charset="-120"/>
              </a:rPr>
              <a:t>Capability unchanged for the user</a:t>
            </a:r>
            <a:endParaRPr lang="en-US" sz="1800" dirty="0"/>
          </a:p>
        </p:txBody>
      </p:sp>
      <p:sp>
        <p:nvSpPr>
          <p:cNvPr id="6" name="Shape 4"/>
          <p:cNvSpPr/>
          <p:nvPr/>
        </p:nvSpPr>
        <p:spPr>
          <a:xfrm>
            <a:off x="609540" y="1724822"/>
            <a:ext cx="17068879" cy="9525"/>
          </a:xfrm>
          <a:prstGeom prst="rect">
            <a:avLst/>
          </a:prstGeom>
          <a:solidFill>
            <a:srgbClr val="1F1F1F">
              <a:alpha val="16000"/>
            </a:srgbClr>
          </a:solidFill>
          <a:ln/>
        </p:spPr>
        <p:txBody>
          <a:bodyPr/>
          <a:lstStyle/>
          <a:p>
            <a:endParaRPr lang="en-US"/>
          </a:p>
        </p:txBody>
      </p:sp>
      <p:sp>
        <p:nvSpPr>
          <p:cNvPr id="7" name="Shape 5"/>
          <p:cNvSpPr/>
          <p:nvPr/>
        </p:nvSpPr>
        <p:spPr>
          <a:xfrm>
            <a:off x="609540" y="1130430"/>
            <a:ext cx="17068879" cy="9525"/>
          </a:xfrm>
          <a:prstGeom prst="rect">
            <a:avLst/>
          </a:prstGeom>
          <a:solidFill>
            <a:srgbClr val="1F1F1F">
              <a:alpha val="16000"/>
            </a:srgbClr>
          </a:solidFill>
          <a:ln/>
        </p:spPr>
        <p:txBody>
          <a:bodyPr/>
          <a:lstStyle/>
          <a:p>
            <a:endParaRPr lang="en-US"/>
          </a:p>
        </p:txBody>
      </p:sp>
      <p:sp>
        <p:nvSpPr>
          <p:cNvPr id="8" name="Shape 6"/>
          <p:cNvSpPr/>
          <p:nvPr/>
        </p:nvSpPr>
        <p:spPr>
          <a:xfrm>
            <a:off x="609540" y="1303381"/>
            <a:ext cx="247606" cy="247606"/>
          </a:xfrm>
          <a:prstGeom prst="rect">
            <a:avLst/>
          </a:prstGeom>
          <a:solidFill>
            <a:srgbClr val="2F7A52"/>
          </a:solidFill>
          <a:ln/>
        </p:spPr>
        <p:txBody>
          <a:bodyPr/>
          <a:lstStyle/>
          <a:p>
            <a:endParaRPr lang="en-US"/>
          </a:p>
        </p:txBody>
      </p:sp>
      <p:sp>
        <p:nvSpPr>
          <p:cNvPr id="9" name="Text 7"/>
          <p:cNvSpPr/>
          <p:nvPr/>
        </p:nvSpPr>
        <p:spPr>
          <a:xfrm>
            <a:off x="952385" y="1250056"/>
            <a:ext cx="1004130"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1D1F20"/>
                </a:solidFill>
                <a:latin typeface="Arial" pitchFamily="34" charset="0"/>
                <a:ea typeface="Arial" pitchFamily="34" charset="-122"/>
                <a:cs typeface="Arial" pitchFamily="34" charset="-120"/>
              </a:rPr>
              <a:t>Improved</a:t>
            </a:r>
            <a:endParaRPr lang="en-US" sz="1800" dirty="0"/>
          </a:p>
        </p:txBody>
      </p:sp>
      <p:sp>
        <p:nvSpPr>
          <p:cNvPr id="10" name="Shape 8"/>
          <p:cNvSpPr/>
          <p:nvPr/>
        </p:nvSpPr>
        <p:spPr>
          <a:xfrm>
            <a:off x="2089812" y="1303381"/>
            <a:ext cx="247606" cy="247606"/>
          </a:xfrm>
          <a:prstGeom prst="rect">
            <a:avLst/>
          </a:prstGeom>
          <a:ln w="8695">
            <a:solidFill>
              <a:srgbClr val="749DC4"/>
            </a:solidFill>
            <a:prstDash val="solid"/>
          </a:ln>
        </p:spPr>
        <p:txBody>
          <a:bodyPr/>
          <a:lstStyle/>
          <a:p>
            <a:endParaRPr lang="en-US"/>
          </a:p>
        </p:txBody>
      </p:sp>
      <p:sp>
        <p:nvSpPr>
          <p:cNvPr id="11" name="Text 9"/>
          <p:cNvSpPr/>
          <p:nvPr/>
        </p:nvSpPr>
        <p:spPr>
          <a:xfrm>
            <a:off x="2432657" y="1250056"/>
            <a:ext cx="1197052" cy="392357"/>
          </a:xfrm>
          <a:prstGeom prst="rect">
            <a:avLst/>
          </a:prstGeom>
          <a:noFill/>
          <a:ln/>
        </p:spPr>
        <p:txBody>
          <a:bodyPr wrap="square" lIns="25400" tIns="25400" rIns="25400" bIns="25400" rtlCol="0" anchor="t">
            <a:normAutofit fontScale="92500"/>
          </a:bodyPr>
          <a:lstStyle/>
          <a:p>
            <a:pPr marL="0" indent="0" algn="l">
              <a:lnSpc>
                <a:spcPct val="133608"/>
              </a:lnSpc>
              <a:buNone/>
            </a:pPr>
            <a:r>
              <a:rPr lang="en-US" sz="1800" dirty="0">
                <a:solidFill>
                  <a:srgbClr val="1D1F20"/>
                </a:solidFill>
                <a:latin typeface="Arial" pitchFamily="34" charset="0"/>
                <a:ea typeface="Arial" pitchFamily="34" charset="-122"/>
                <a:cs typeface="Arial" pitchFamily="34" charset="-120"/>
              </a:rPr>
              <a:t>Unchanged</a:t>
            </a:r>
            <a:endParaRPr lang="en-US" sz="1800" dirty="0"/>
          </a:p>
        </p:txBody>
      </p:sp>
      <p:sp>
        <p:nvSpPr>
          <p:cNvPr id="12" name="Shape 10"/>
          <p:cNvSpPr/>
          <p:nvPr/>
        </p:nvSpPr>
        <p:spPr>
          <a:xfrm>
            <a:off x="3763006" y="1303381"/>
            <a:ext cx="247606" cy="247606"/>
          </a:xfrm>
          <a:prstGeom prst="rect">
            <a:avLst/>
          </a:prstGeom>
          <a:solidFill>
            <a:srgbClr val="D4D4D7"/>
          </a:solidFill>
          <a:ln/>
        </p:spPr>
        <p:txBody>
          <a:bodyPr/>
          <a:lstStyle/>
          <a:p>
            <a:endParaRPr lang="en-US"/>
          </a:p>
        </p:txBody>
      </p:sp>
      <p:sp>
        <p:nvSpPr>
          <p:cNvPr id="13" name="Text 11"/>
          <p:cNvSpPr/>
          <p:nvPr/>
        </p:nvSpPr>
        <p:spPr>
          <a:xfrm>
            <a:off x="4105851" y="1250056"/>
            <a:ext cx="805909"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strike="sngStrike" dirty="0">
                <a:solidFill>
                  <a:srgbClr val="1D1F20"/>
                </a:solidFill>
                <a:latin typeface="Arial" pitchFamily="34" charset="0"/>
                <a:ea typeface="Arial" pitchFamily="34" charset="-122"/>
                <a:cs typeface="Arial" pitchFamily="34" charset="-120"/>
              </a:rPr>
              <a:t>Retired</a:t>
            </a:r>
            <a:endParaRPr lang="en-US" sz="1800" dirty="0"/>
          </a:p>
        </p:txBody>
      </p:sp>
      <p:sp>
        <p:nvSpPr>
          <p:cNvPr id="14" name="Shape 12"/>
          <p:cNvSpPr/>
          <p:nvPr/>
        </p:nvSpPr>
        <p:spPr>
          <a:xfrm>
            <a:off x="5045057" y="1303381"/>
            <a:ext cx="247606" cy="247606"/>
          </a:xfrm>
          <a:prstGeom prst="rect">
            <a:avLst/>
          </a:prstGeom>
          <a:solidFill>
            <a:srgbClr val="C8651B"/>
          </a:solidFill>
          <a:ln/>
        </p:spPr>
        <p:txBody>
          <a:bodyPr/>
          <a:lstStyle/>
          <a:p>
            <a:endParaRPr lang="en-US"/>
          </a:p>
        </p:txBody>
      </p:sp>
      <p:sp>
        <p:nvSpPr>
          <p:cNvPr id="15" name="Text 13"/>
          <p:cNvSpPr/>
          <p:nvPr/>
        </p:nvSpPr>
        <p:spPr>
          <a:xfrm>
            <a:off x="5387902" y="1250056"/>
            <a:ext cx="996318"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1D1F20"/>
                </a:solidFill>
                <a:latin typeface="Arial" pitchFamily="34" charset="0"/>
                <a:ea typeface="Arial" pitchFamily="34" charset="-122"/>
                <a:cs typeface="Arial" pitchFamily="34" charset="-120"/>
              </a:rPr>
              <a:t>Still open</a:t>
            </a:r>
            <a:endParaRPr lang="en-US" sz="1800" dirty="0"/>
          </a:p>
        </p:txBody>
      </p:sp>
      <p:sp>
        <p:nvSpPr>
          <p:cNvPr id="16" name="Text 14"/>
          <p:cNvSpPr/>
          <p:nvPr/>
        </p:nvSpPr>
        <p:spPr>
          <a:xfrm>
            <a:off x="14196576" y="1205765"/>
            <a:ext cx="3830026" cy="481006"/>
          </a:xfrm>
          <a:prstGeom prst="rect">
            <a:avLst/>
          </a:prstGeom>
          <a:noFill/>
          <a:ln/>
        </p:spPr>
        <p:txBody>
          <a:bodyPr wrap="none" lIns="25400" tIns="25400" rIns="25400" bIns="25400" rtlCol="0" anchor="t">
            <a:normAutofit/>
          </a:bodyPr>
          <a:lstStyle/>
          <a:p>
            <a:pPr marL="0" indent="0" algn="l">
              <a:lnSpc>
                <a:spcPct val="135835"/>
              </a:lnSpc>
              <a:buNone/>
            </a:pPr>
            <a:r>
              <a:rPr lang="en-US" sz="2250" kern="0" spc="90" dirty="0">
                <a:solidFill>
                  <a:srgbClr val="2F7A52"/>
                </a:solidFill>
                <a:latin typeface="Arial" pitchFamily="34" charset="0"/>
                <a:ea typeface="Arial" pitchFamily="34" charset="-122"/>
                <a:cs typeface="Arial" pitchFamily="34" charset="-120"/>
              </a:rPr>
              <a:t>4 IMPROVED · 5 RETIRED · 1 OPEN</a:t>
            </a:r>
            <a:endParaRPr lang="en-US" sz="2250" dirty="0"/>
          </a:p>
        </p:txBody>
      </p:sp>
      <p:sp>
        <p:nvSpPr>
          <p:cNvPr id="17" name="Text 15"/>
          <p:cNvSpPr/>
          <p:nvPr/>
        </p:nvSpPr>
        <p:spPr>
          <a:xfrm>
            <a:off x="609540" y="1809667"/>
            <a:ext cx="2095470"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52" dirty="0">
                <a:solidFill>
                  <a:srgbClr val="416180"/>
                </a:solidFill>
                <a:latin typeface="Arial" pitchFamily="34" charset="0"/>
                <a:ea typeface="Arial" pitchFamily="34" charset="-122"/>
                <a:cs typeface="Arial" pitchFamily="34" charset="-120"/>
              </a:rPr>
              <a:t>ACCESS</a:t>
            </a:r>
            <a:endParaRPr lang="en-US" sz="1800" dirty="0"/>
          </a:p>
        </p:txBody>
      </p:sp>
      <p:sp>
        <p:nvSpPr>
          <p:cNvPr id="18" name="Shape 16"/>
          <p:cNvSpPr/>
          <p:nvPr/>
        </p:nvSpPr>
        <p:spPr>
          <a:xfrm>
            <a:off x="609540" y="2335312"/>
            <a:ext cx="1904973" cy="1098299"/>
          </a:xfrm>
          <a:prstGeom prst="rect">
            <a:avLst/>
          </a:prstGeom>
          <a:ln w="8695">
            <a:solidFill>
              <a:srgbClr val="1F1F1F">
                <a:alpha val="16000"/>
              </a:srgbClr>
            </a:solidFill>
            <a:prstDash val="solid"/>
          </a:ln>
        </p:spPr>
        <p:txBody>
          <a:bodyPr/>
          <a:lstStyle/>
          <a:p>
            <a:endParaRPr lang="en-US"/>
          </a:p>
        </p:txBody>
      </p:sp>
      <p:sp>
        <p:nvSpPr>
          <p:cNvPr id="19" name="Text 17"/>
          <p:cNvSpPr/>
          <p:nvPr/>
        </p:nvSpPr>
        <p:spPr>
          <a:xfrm>
            <a:off x="770603" y="2515396"/>
            <a:ext cx="1741132" cy="421975"/>
          </a:xfrm>
          <a:prstGeom prst="rect">
            <a:avLst/>
          </a:prstGeom>
          <a:noFill/>
          <a:ln/>
        </p:spPr>
        <p:txBody>
          <a:bodyPr wrap="square" lIns="25400" tIns="25400" rIns="25400" bIns="25400" rtlCol="0" anchor="t">
            <a:normAutofit/>
          </a:bodyPr>
          <a:lstStyle/>
          <a:p>
            <a:pPr marL="0" indent="0" algn="l">
              <a:lnSpc>
                <a:spcPct val="133777"/>
              </a:lnSpc>
              <a:buNone/>
            </a:pPr>
            <a:r>
              <a:rPr lang="en-US" sz="1950" dirty="0">
                <a:solidFill>
                  <a:srgbClr val="1D1F20"/>
                </a:solidFill>
                <a:latin typeface="Arial" pitchFamily="34" charset="0"/>
                <a:ea typeface="Arial" pitchFamily="34" charset="-122"/>
                <a:cs typeface="Arial" pitchFamily="34" charset="-120"/>
              </a:rPr>
              <a:t>User</a:t>
            </a:r>
            <a:endParaRPr lang="en-US" sz="1950" dirty="0"/>
          </a:p>
        </p:txBody>
      </p:sp>
      <p:sp>
        <p:nvSpPr>
          <p:cNvPr id="20" name="Text 18"/>
          <p:cNvSpPr/>
          <p:nvPr/>
        </p:nvSpPr>
        <p:spPr>
          <a:xfrm>
            <a:off x="770603" y="2899271"/>
            <a:ext cx="1741132"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Browser client</a:t>
            </a:r>
            <a:endParaRPr lang="en-US" sz="1800" dirty="0"/>
          </a:p>
        </p:txBody>
      </p:sp>
      <p:sp>
        <p:nvSpPr>
          <p:cNvPr id="21" name="Text 19"/>
          <p:cNvSpPr/>
          <p:nvPr/>
        </p:nvSpPr>
        <p:spPr>
          <a:xfrm>
            <a:off x="514291" y="3605000"/>
            <a:ext cx="2095470" cy="285774"/>
          </a:xfrm>
          <a:prstGeom prst="rect">
            <a:avLst/>
          </a:prstGeom>
          <a:noFill/>
          <a:ln/>
        </p:spPr>
        <p:txBody>
          <a:bodyPr wrap="square" lIns="25400" tIns="25400" rIns="25400" bIns="25400" rtlCol="0" anchor="t">
            <a:normAutofit lnSpcReduction="10000"/>
          </a:bodyPr>
          <a:lstStyle/>
          <a:p>
            <a:pPr marL="0" indent="0" algn="ctr">
              <a:lnSpc>
                <a:spcPct val="86308"/>
              </a:lnSpc>
              <a:buNone/>
            </a:pPr>
            <a:r>
              <a:rPr lang="en-US" sz="1950" dirty="0">
                <a:solidFill>
                  <a:srgbClr val="597EA3"/>
                </a:solidFill>
                <a:latin typeface="Arial" pitchFamily="34" charset="0"/>
                <a:ea typeface="Arial" pitchFamily="34" charset="-122"/>
                <a:cs typeface="Arial" pitchFamily="34" charset="-120"/>
              </a:rPr>
              <a:t>▼</a:t>
            </a:r>
            <a:endParaRPr lang="en-US" sz="1950" dirty="0"/>
          </a:p>
        </p:txBody>
      </p:sp>
      <p:sp>
        <p:nvSpPr>
          <p:cNvPr id="22" name="Shape 20"/>
          <p:cNvSpPr/>
          <p:nvPr/>
        </p:nvSpPr>
        <p:spPr>
          <a:xfrm>
            <a:off x="609540" y="4024063"/>
            <a:ext cx="1904973" cy="1482174"/>
          </a:xfrm>
          <a:prstGeom prst="rect">
            <a:avLst/>
          </a:prstGeom>
          <a:ln w="8695">
            <a:solidFill>
              <a:srgbClr val="1F1F1F">
                <a:alpha val="16000"/>
              </a:srgbClr>
            </a:solidFill>
            <a:prstDash val="solid"/>
          </a:ln>
        </p:spPr>
        <p:txBody>
          <a:bodyPr/>
          <a:lstStyle/>
          <a:p>
            <a:endParaRPr lang="en-US"/>
          </a:p>
        </p:txBody>
      </p:sp>
      <p:sp>
        <p:nvSpPr>
          <p:cNvPr id="23" name="Text 21"/>
          <p:cNvSpPr/>
          <p:nvPr/>
        </p:nvSpPr>
        <p:spPr>
          <a:xfrm>
            <a:off x="770603" y="4204147"/>
            <a:ext cx="1659047" cy="805850"/>
          </a:xfrm>
          <a:prstGeom prst="rect">
            <a:avLst/>
          </a:prstGeom>
          <a:noFill/>
          <a:ln/>
        </p:spPr>
        <p:txBody>
          <a:bodyPr wrap="square" lIns="25400" tIns="25400" rIns="25400" bIns="25400" rtlCol="0" anchor="t">
            <a:normAutofit lnSpcReduction="10000"/>
          </a:bodyPr>
          <a:lstStyle/>
          <a:p>
            <a:pPr marL="0" indent="0" algn="l">
              <a:lnSpc>
                <a:spcPct val="133777"/>
              </a:lnSpc>
              <a:buNone/>
            </a:pPr>
            <a:r>
              <a:rPr lang="en-US" sz="1950" dirty="0">
                <a:solidFill>
                  <a:srgbClr val="1D1F20"/>
                </a:solidFill>
                <a:latin typeface="Arial" pitchFamily="34" charset="0"/>
                <a:ea typeface="Arial" pitchFamily="34" charset="-122"/>
                <a:cs typeface="Arial" pitchFamily="34" charset="-120"/>
              </a:rPr>
              <a:t>WebSEAL junction</a:t>
            </a:r>
            <a:endParaRPr lang="en-US" sz="1950" dirty="0"/>
          </a:p>
        </p:txBody>
      </p:sp>
      <p:sp>
        <p:nvSpPr>
          <p:cNvPr id="24" name="Text 22"/>
          <p:cNvSpPr/>
          <p:nvPr/>
        </p:nvSpPr>
        <p:spPr>
          <a:xfrm>
            <a:off x="770603" y="4971896"/>
            <a:ext cx="1741132"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Enterprise SSO</a:t>
            </a:r>
            <a:endParaRPr lang="en-US" sz="1800" dirty="0"/>
          </a:p>
        </p:txBody>
      </p:sp>
      <p:sp>
        <p:nvSpPr>
          <p:cNvPr id="25" name="Text 23"/>
          <p:cNvSpPr/>
          <p:nvPr/>
        </p:nvSpPr>
        <p:spPr>
          <a:xfrm>
            <a:off x="609540" y="8934686"/>
            <a:ext cx="1981173" cy="655180"/>
          </a:xfrm>
          <a:prstGeom prst="rect">
            <a:avLst/>
          </a:prstGeom>
          <a:noFill/>
          <a:ln/>
        </p:spPr>
        <p:txBody>
          <a:bodyPr wrap="square" lIns="25400" tIns="25400" rIns="25400" bIns="25400" rtlCol="0" anchor="t">
            <a:normAutofit lnSpcReduction="10000"/>
          </a:bodyPr>
          <a:lstStyle/>
          <a:p>
            <a:pPr marL="0" indent="0" algn="l">
              <a:lnSpc>
                <a:spcPct val="116369"/>
              </a:lnSpc>
              <a:buNone/>
            </a:pPr>
            <a:r>
              <a:rPr lang="en-US" sz="1800" dirty="0">
                <a:solidFill>
                  <a:srgbClr val="5D5D60"/>
                </a:solidFill>
                <a:latin typeface="Arial" pitchFamily="34" charset="0"/>
                <a:ea typeface="Arial" pitchFamily="34" charset="-122"/>
                <a:cs typeface="Arial" pitchFamily="34" charset="-120"/>
              </a:rPr>
              <a:t>Unchanged for the user.</a:t>
            </a:r>
            <a:endParaRPr lang="en-US" sz="1800" dirty="0"/>
          </a:p>
        </p:txBody>
      </p:sp>
      <p:sp>
        <p:nvSpPr>
          <p:cNvPr id="26" name="Shape 24"/>
          <p:cNvSpPr/>
          <p:nvPr/>
        </p:nvSpPr>
        <p:spPr>
          <a:xfrm>
            <a:off x="2685901" y="1809667"/>
            <a:ext cx="7521461" cy="7742099"/>
          </a:xfrm>
          <a:prstGeom prst="rect">
            <a:avLst/>
          </a:prstGeom>
          <a:solidFill>
            <a:srgbClr val="1D2D3D"/>
          </a:solidFill>
          <a:ln/>
        </p:spPr>
        <p:txBody>
          <a:bodyPr/>
          <a:lstStyle/>
          <a:p>
            <a:endParaRPr lang="en-US"/>
          </a:p>
        </p:txBody>
      </p:sp>
      <p:sp>
        <p:nvSpPr>
          <p:cNvPr id="27" name="Text 25"/>
          <p:cNvSpPr/>
          <p:nvPr/>
        </p:nvSpPr>
        <p:spPr>
          <a:xfrm>
            <a:off x="2933508" y="2019164"/>
            <a:ext cx="3929259" cy="392357"/>
          </a:xfrm>
          <a:prstGeom prst="rect">
            <a:avLst/>
          </a:prstGeom>
          <a:noFill/>
          <a:ln/>
        </p:spPr>
        <p:txBody>
          <a:bodyPr wrap="square" lIns="25400" tIns="25400" rIns="25400" bIns="25400" rtlCol="0" anchor="t">
            <a:normAutofit fontScale="85000" lnSpcReduction="10000"/>
          </a:bodyPr>
          <a:lstStyle/>
          <a:p>
            <a:pPr marL="0" indent="0" algn="l">
              <a:lnSpc>
                <a:spcPct val="133608"/>
              </a:lnSpc>
              <a:buNone/>
            </a:pPr>
            <a:r>
              <a:rPr lang="en-US" sz="1800" kern="0" spc="252" dirty="0">
                <a:solidFill>
                  <a:srgbClr val="B5D9FD"/>
                </a:solidFill>
                <a:latin typeface="Arial" pitchFamily="34" charset="0"/>
                <a:ea typeface="Arial" pitchFamily="34" charset="-122"/>
                <a:cs typeface="Arial" pitchFamily="34" charset="-120"/>
              </a:rPr>
              <a:t>WE BUILT IT · WE MAINTAIN IT</a:t>
            </a:r>
            <a:endParaRPr lang="en-US" sz="1800" dirty="0"/>
          </a:p>
        </p:txBody>
      </p:sp>
      <p:sp>
        <p:nvSpPr>
          <p:cNvPr id="28" name="Text 26"/>
          <p:cNvSpPr/>
          <p:nvPr/>
        </p:nvSpPr>
        <p:spPr>
          <a:xfrm>
            <a:off x="2933508" y="2411462"/>
            <a:ext cx="3929259" cy="518096"/>
          </a:xfrm>
          <a:prstGeom prst="rect">
            <a:avLst/>
          </a:prstGeom>
          <a:noFill/>
          <a:ln/>
        </p:spPr>
        <p:txBody>
          <a:bodyPr wrap="square" lIns="25400" tIns="25400" rIns="25400" bIns="25400" rtlCol="0" anchor="t">
            <a:normAutofit fontScale="77500" lnSpcReduction="20000"/>
          </a:bodyPr>
          <a:lstStyle/>
          <a:p>
            <a:pPr marL="0" indent="0" algn="l">
              <a:lnSpc>
                <a:spcPct val="92017"/>
              </a:lnSpc>
              <a:buNone/>
            </a:pPr>
            <a:r>
              <a:rPr lang="en-US" sz="3600" dirty="0">
                <a:solidFill>
                  <a:srgbClr val="F2F2F3"/>
                </a:solidFill>
                <a:latin typeface="Arial" pitchFamily="34" charset="0"/>
                <a:ea typeface="Arial" pitchFamily="34" charset="-122"/>
                <a:cs typeface="Arial" pitchFamily="34" charset="-120"/>
              </a:rPr>
              <a:t>The AI Chat Application</a:t>
            </a:r>
            <a:endParaRPr lang="en-US" sz="3600" dirty="0"/>
          </a:p>
        </p:txBody>
      </p:sp>
      <p:sp>
        <p:nvSpPr>
          <p:cNvPr id="29" name="Text 27"/>
          <p:cNvSpPr/>
          <p:nvPr/>
        </p:nvSpPr>
        <p:spPr>
          <a:xfrm>
            <a:off x="9301732" y="2019164"/>
            <a:ext cx="658024" cy="632355"/>
          </a:xfrm>
          <a:prstGeom prst="rect">
            <a:avLst/>
          </a:prstGeom>
          <a:noFill/>
          <a:ln/>
        </p:spPr>
        <p:txBody>
          <a:bodyPr wrap="square" lIns="25400" tIns="25400" rIns="25400" bIns="25400" rtlCol="0" anchor="t">
            <a:normAutofit fontScale="77500" lnSpcReduction="20000"/>
          </a:bodyPr>
          <a:lstStyle/>
          <a:p>
            <a:pPr marL="0" indent="0" algn="r">
              <a:lnSpc>
                <a:spcPct val="112059"/>
              </a:lnSpc>
              <a:buNone/>
            </a:pPr>
            <a:r>
              <a:rPr lang="en-US" sz="1800" kern="0" spc="180" dirty="0">
                <a:solidFill>
                  <a:srgbClr val="7FC39A"/>
                </a:solidFill>
                <a:latin typeface="Arial" pitchFamily="34" charset="0"/>
                <a:ea typeface="Arial" pitchFamily="34" charset="-122"/>
                <a:cs typeface="Arial" pitchFamily="34" charset="-120"/>
              </a:rPr>
              <a:t>0 of 5 GAPS</a:t>
            </a:r>
            <a:endParaRPr lang="en-US" sz="1800" dirty="0"/>
          </a:p>
        </p:txBody>
      </p:sp>
      <p:sp>
        <p:nvSpPr>
          <p:cNvPr id="30" name="Shape 28"/>
          <p:cNvSpPr/>
          <p:nvPr/>
        </p:nvSpPr>
        <p:spPr>
          <a:xfrm>
            <a:off x="2933508" y="3024806"/>
            <a:ext cx="7026248" cy="9525"/>
          </a:xfrm>
          <a:prstGeom prst="rect">
            <a:avLst/>
          </a:prstGeom>
          <a:solidFill>
            <a:srgbClr val="416180"/>
          </a:solidFill>
          <a:ln/>
        </p:spPr>
        <p:txBody>
          <a:bodyPr/>
          <a:lstStyle/>
          <a:p>
            <a:endParaRPr lang="en-US"/>
          </a:p>
        </p:txBody>
      </p:sp>
      <p:sp>
        <p:nvSpPr>
          <p:cNvPr id="31" name="Text 29"/>
          <p:cNvSpPr/>
          <p:nvPr/>
        </p:nvSpPr>
        <p:spPr>
          <a:xfrm>
            <a:off x="2933508" y="3186685"/>
            <a:ext cx="3749176"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16" dirty="0">
                <a:solidFill>
                  <a:srgbClr val="B5D9FD"/>
                </a:solidFill>
                <a:latin typeface="Arial" pitchFamily="34" charset="0"/>
                <a:ea typeface="Arial" pitchFamily="34" charset="-122"/>
                <a:cs typeface="Arial" pitchFamily="34" charset="-120"/>
              </a:rPr>
              <a:t>RUNTIME</a:t>
            </a:r>
            <a:endParaRPr lang="en-US" sz="1800" dirty="0"/>
          </a:p>
        </p:txBody>
      </p:sp>
      <p:sp>
        <p:nvSpPr>
          <p:cNvPr id="32" name="Shape 30"/>
          <p:cNvSpPr/>
          <p:nvPr/>
        </p:nvSpPr>
        <p:spPr>
          <a:xfrm>
            <a:off x="2933508" y="3645690"/>
            <a:ext cx="3408341" cy="576865"/>
          </a:xfrm>
          <a:prstGeom prst="rect">
            <a:avLst/>
          </a:prstGeom>
          <a:ln w="8695">
            <a:solidFill>
              <a:srgbClr val="416180"/>
            </a:solidFill>
            <a:prstDash val="solid"/>
          </a:ln>
        </p:spPr>
        <p:txBody>
          <a:bodyPr/>
          <a:lstStyle/>
          <a:p>
            <a:endParaRPr lang="en-US"/>
          </a:p>
        </p:txBody>
      </p:sp>
      <p:sp>
        <p:nvSpPr>
          <p:cNvPr id="33" name="Text 31"/>
          <p:cNvSpPr/>
          <p:nvPr/>
        </p:nvSpPr>
        <p:spPr>
          <a:xfrm>
            <a:off x="3085061" y="3749624"/>
            <a:ext cx="3415759"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F2F2F3"/>
                </a:solidFill>
                <a:latin typeface="Arial" pitchFamily="34" charset="0"/>
                <a:ea typeface="Arial" pitchFamily="34" charset="-122"/>
                <a:cs typeface="Arial" pitchFamily="34" charset="-120"/>
              </a:rPr>
              <a:t>AI Chat frontend</a:t>
            </a:r>
            <a:endParaRPr lang="en-US" sz="1875" dirty="0"/>
          </a:p>
        </p:txBody>
      </p:sp>
      <p:sp>
        <p:nvSpPr>
          <p:cNvPr id="34" name="Shape 32"/>
          <p:cNvSpPr/>
          <p:nvPr/>
        </p:nvSpPr>
        <p:spPr>
          <a:xfrm>
            <a:off x="2933508" y="4327304"/>
            <a:ext cx="3408341" cy="931122"/>
          </a:xfrm>
          <a:prstGeom prst="rect">
            <a:avLst/>
          </a:prstGeom>
          <a:ln w="8695">
            <a:solidFill>
              <a:srgbClr val="416180"/>
            </a:solidFill>
            <a:prstDash val="solid"/>
          </a:ln>
        </p:spPr>
        <p:txBody>
          <a:bodyPr/>
          <a:lstStyle/>
          <a:p>
            <a:endParaRPr lang="en-US"/>
          </a:p>
        </p:txBody>
      </p:sp>
      <p:sp>
        <p:nvSpPr>
          <p:cNvPr id="35" name="Text 33"/>
          <p:cNvSpPr/>
          <p:nvPr/>
        </p:nvSpPr>
        <p:spPr>
          <a:xfrm>
            <a:off x="3085061" y="4431238"/>
            <a:ext cx="3415759"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F2F2F3"/>
                </a:solidFill>
                <a:latin typeface="Arial" pitchFamily="34" charset="0"/>
                <a:ea typeface="Arial" pitchFamily="34" charset="-122"/>
                <a:cs typeface="Arial" pitchFamily="34" charset="-120"/>
              </a:rPr>
              <a:t>Backend router</a:t>
            </a:r>
            <a:endParaRPr lang="en-US" sz="1875" dirty="0"/>
          </a:p>
        </p:txBody>
      </p:sp>
      <p:sp>
        <p:nvSpPr>
          <p:cNvPr id="36" name="Text 34"/>
          <p:cNvSpPr/>
          <p:nvPr/>
        </p:nvSpPr>
        <p:spPr>
          <a:xfrm>
            <a:off x="3085061" y="4800236"/>
            <a:ext cx="3415759"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B5D9FD"/>
                </a:solidFill>
                <a:latin typeface="Arial" pitchFamily="34" charset="0"/>
                <a:ea typeface="Arial" pitchFamily="34" charset="-122"/>
                <a:cs typeface="Arial" pitchFamily="34" charset="-120"/>
              </a:rPr>
              <a:t>AWS EC2 · Python · FastAPI</a:t>
            </a:r>
            <a:endParaRPr lang="en-US" sz="1800" dirty="0"/>
          </a:p>
        </p:txBody>
      </p:sp>
      <p:sp>
        <p:nvSpPr>
          <p:cNvPr id="37" name="Shape 35"/>
          <p:cNvSpPr/>
          <p:nvPr/>
        </p:nvSpPr>
        <p:spPr>
          <a:xfrm>
            <a:off x="2933508" y="5363176"/>
            <a:ext cx="3408341" cy="931122"/>
          </a:xfrm>
          <a:prstGeom prst="rect">
            <a:avLst/>
          </a:prstGeom>
          <a:ln w="8695">
            <a:solidFill>
              <a:srgbClr val="416180"/>
            </a:solidFill>
            <a:prstDash val="solid"/>
          </a:ln>
        </p:spPr>
        <p:txBody>
          <a:bodyPr/>
          <a:lstStyle/>
          <a:p>
            <a:endParaRPr lang="en-US"/>
          </a:p>
        </p:txBody>
      </p:sp>
      <p:sp>
        <p:nvSpPr>
          <p:cNvPr id="38" name="Text 36"/>
          <p:cNvSpPr/>
          <p:nvPr/>
        </p:nvSpPr>
        <p:spPr>
          <a:xfrm>
            <a:off x="3085061" y="5467109"/>
            <a:ext cx="3415759"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F2F2F3"/>
                </a:solidFill>
                <a:latin typeface="Arial" pitchFamily="34" charset="0"/>
                <a:ea typeface="Arial" pitchFamily="34" charset="-122"/>
                <a:cs typeface="Arial" pitchFamily="34" charset="-120"/>
              </a:rPr>
              <a:t>Ingestion worker 1</a:t>
            </a:r>
            <a:endParaRPr lang="en-US" sz="1875" dirty="0"/>
          </a:p>
        </p:txBody>
      </p:sp>
      <p:sp>
        <p:nvSpPr>
          <p:cNvPr id="39" name="Text 37"/>
          <p:cNvSpPr/>
          <p:nvPr/>
        </p:nvSpPr>
        <p:spPr>
          <a:xfrm>
            <a:off x="3085061" y="5836107"/>
            <a:ext cx="3415759"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B5D9FD"/>
                </a:solidFill>
                <a:latin typeface="Arial" pitchFamily="34" charset="0"/>
                <a:ea typeface="Arial" pitchFamily="34" charset="-122"/>
                <a:cs typeface="Arial" pitchFamily="34" charset="-120"/>
              </a:rPr>
              <a:t>Ingesting from Azure Blob</a:t>
            </a:r>
            <a:endParaRPr lang="en-US" sz="1800" dirty="0"/>
          </a:p>
        </p:txBody>
      </p:sp>
      <p:sp>
        <p:nvSpPr>
          <p:cNvPr id="40" name="Shape 38"/>
          <p:cNvSpPr/>
          <p:nvPr/>
        </p:nvSpPr>
        <p:spPr>
          <a:xfrm>
            <a:off x="2933508" y="7675731"/>
            <a:ext cx="3408341" cy="9525"/>
          </a:xfrm>
          <a:prstGeom prst="rect">
            <a:avLst/>
          </a:prstGeom>
          <a:solidFill>
            <a:srgbClr val="416180"/>
          </a:solidFill>
          <a:ln/>
        </p:spPr>
        <p:txBody>
          <a:bodyPr/>
          <a:lstStyle/>
          <a:p>
            <a:endParaRPr lang="en-US"/>
          </a:p>
        </p:txBody>
      </p:sp>
      <p:sp>
        <p:nvSpPr>
          <p:cNvPr id="41" name="Shape 39"/>
          <p:cNvSpPr/>
          <p:nvPr/>
        </p:nvSpPr>
        <p:spPr>
          <a:xfrm>
            <a:off x="2933508" y="6399047"/>
            <a:ext cx="3408341" cy="9525"/>
          </a:xfrm>
          <a:prstGeom prst="rect">
            <a:avLst/>
          </a:prstGeom>
          <a:solidFill>
            <a:srgbClr val="416180"/>
          </a:solidFill>
          <a:ln/>
        </p:spPr>
        <p:txBody>
          <a:bodyPr/>
          <a:lstStyle/>
          <a:p>
            <a:endParaRPr lang="en-US"/>
          </a:p>
        </p:txBody>
      </p:sp>
      <p:sp>
        <p:nvSpPr>
          <p:cNvPr id="42" name="Shape 40"/>
          <p:cNvSpPr/>
          <p:nvPr/>
        </p:nvSpPr>
        <p:spPr>
          <a:xfrm>
            <a:off x="2933508" y="6399047"/>
            <a:ext cx="43475" cy="1285380"/>
          </a:xfrm>
          <a:prstGeom prst="rect">
            <a:avLst/>
          </a:prstGeom>
          <a:solidFill>
            <a:srgbClr val="7FC39A"/>
          </a:solidFill>
          <a:ln/>
        </p:spPr>
        <p:txBody>
          <a:bodyPr/>
          <a:lstStyle/>
          <a:p>
            <a:endParaRPr lang="en-US"/>
          </a:p>
        </p:txBody>
      </p:sp>
      <p:sp>
        <p:nvSpPr>
          <p:cNvPr id="43" name="Shape 41"/>
          <p:cNvSpPr/>
          <p:nvPr/>
        </p:nvSpPr>
        <p:spPr>
          <a:xfrm>
            <a:off x="6333154" y="6399047"/>
            <a:ext cx="9525" cy="1285380"/>
          </a:xfrm>
          <a:prstGeom prst="rect">
            <a:avLst/>
          </a:prstGeom>
          <a:solidFill>
            <a:srgbClr val="416180"/>
          </a:solidFill>
          <a:ln/>
        </p:spPr>
        <p:txBody>
          <a:bodyPr/>
          <a:lstStyle/>
          <a:p>
            <a:endParaRPr lang="en-US"/>
          </a:p>
        </p:txBody>
      </p:sp>
      <p:sp>
        <p:nvSpPr>
          <p:cNvPr id="44" name="Text 42"/>
          <p:cNvSpPr/>
          <p:nvPr/>
        </p:nvSpPr>
        <p:spPr>
          <a:xfrm>
            <a:off x="3119841" y="6502980"/>
            <a:ext cx="2847487"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F2F2F3"/>
                </a:solidFill>
                <a:latin typeface="Arial" pitchFamily="34" charset="0"/>
                <a:ea typeface="Arial" pitchFamily="34" charset="-122"/>
                <a:cs typeface="Arial" pitchFamily="34" charset="-120"/>
              </a:rPr>
              <a:t>Ingestion worker 2</a:t>
            </a:r>
            <a:endParaRPr lang="en-US" sz="1875" dirty="0"/>
          </a:p>
        </p:txBody>
      </p:sp>
      <p:sp>
        <p:nvSpPr>
          <p:cNvPr id="45" name="Text 43"/>
          <p:cNvSpPr/>
          <p:nvPr/>
        </p:nvSpPr>
        <p:spPr>
          <a:xfrm>
            <a:off x="5803704" y="6537761"/>
            <a:ext cx="462792" cy="362875"/>
          </a:xfrm>
          <a:prstGeom prst="rect">
            <a:avLst/>
          </a:prstGeom>
          <a:noFill/>
          <a:ln/>
        </p:spPr>
        <p:txBody>
          <a:bodyPr wrap="square" lIns="25400" tIns="25400" rIns="25400" bIns="25400" rtlCol="0" anchor="t">
            <a:normAutofit fontScale="62500" lnSpcReduction="20000"/>
          </a:bodyPr>
          <a:lstStyle/>
          <a:p>
            <a:pPr marL="0" indent="0" algn="l">
              <a:lnSpc>
                <a:spcPct val="133410"/>
              </a:lnSpc>
              <a:buNone/>
            </a:pPr>
            <a:r>
              <a:rPr lang="en-US" sz="1650" kern="0" spc="165" dirty="0">
                <a:solidFill>
                  <a:srgbClr val="7FC39A"/>
                </a:solidFill>
                <a:latin typeface="Arial" pitchFamily="34" charset="0"/>
                <a:ea typeface="Arial" pitchFamily="34" charset="-122"/>
                <a:cs typeface="Arial" pitchFamily="34" charset="-120"/>
              </a:rPr>
              <a:t>NEW</a:t>
            </a:r>
            <a:endParaRPr lang="en-US" sz="1650" dirty="0"/>
          </a:p>
        </p:txBody>
      </p:sp>
      <p:sp>
        <p:nvSpPr>
          <p:cNvPr id="46" name="Text 44"/>
          <p:cNvSpPr/>
          <p:nvPr/>
        </p:nvSpPr>
        <p:spPr>
          <a:xfrm>
            <a:off x="3119841" y="6871978"/>
            <a:ext cx="3377501"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7FC39A"/>
                </a:solidFill>
                <a:latin typeface="Arial" pitchFamily="34" charset="0"/>
                <a:ea typeface="Arial" pitchFamily="34" charset="-122"/>
                <a:cs typeface="Arial" pitchFamily="34" charset="-120"/>
              </a:rPr>
              <a:t>Ingesting from SharePoint</a:t>
            </a:r>
            <a:endParaRPr lang="en-US" sz="1800" dirty="0"/>
          </a:p>
        </p:txBody>
      </p:sp>
      <p:sp>
        <p:nvSpPr>
          <p:cNvPr id="47" name="Text 45"/>
          <p:cNvSpPr/>
          <p:nvPr/>
        </p:nvSpPr>
        <p:spPr>
          <a:xfrm>
            <a:off x="3119841" y="7226236"/>
            <a:ext cx="3377501"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B5D9FD"/>
                </a:solidFill>
                <a:latin typeface="Arial" pitchFamily="34" charset="0"/>
                <a:ea typeface="Arial" pitchFamily="34" charset="-122"/>
                <a:cs typeface="Arial" pitchFamily="34" charset="-120"/>
              </a:rPr>
              <a:t>No copy into Blob</a:t>
            </a:r>
            <a:endParaRPr lang="en-US" sz="1800" dirty="0"/>
          </a:p>
        </p:txBody>
      </p:sp>
      <p:sp>
        <p:nvSpPr>
          <p:cNvPr id="48" name="Shape 46"/>
          <p:cNvSpPr/>
          <p:nvPr/>
        </p:nvSpPr>
        <p:spPr>
          <a:xfrm>
            <a:off x="2933508" y="7789175"/>
            <a:ext cx="3408341" cy="931122"/>
          </a:xfrm>
          <a:prstGeom prst="rect">
            <a:avLst/>
          </a:prstGeom>
          <a:ln w="8695">
            <a:solidFill>
              <a:srgbClr val="2C455D"/>
            </a:solidFill>
            <a:prstDash val="solid"/>
          </a:ln>
        </p:spPr>
        <p:txBody>
          <a:bodyPr/>
          <a:lstStyle/>
          <a:p>
            <a:endParaRPr lang="en-US"/>
          </a:p>
        </p:txBody>
      </p:sp>
      <p:sp>
        <p:nvSpPr>
          <p:cNvPr id="49" name="Text 47"/>
          <p:cNvSpPr/>
          <p:nvPr/>
        </p:nvSpPr>
        <p:spPr>
          <a:xfrm>
            <a:off x="3085061" y="7893108"/>
            <a:ext cx="3415759"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strike="sngStrike" dirty="0">
                <a:solidFill>
                  <a:srgbClr val="749DC4"/>
                </a:solidFill>
                <a:latin typeface="Arial" pitchFamily="34" charset="0"/>
                <a:ea typeface="Arial" pitchFamily="34" charset="-122"/>
                <a:cs typeface="Arial" pitchFamily="34" charset="-120"/>
              </a:rPr>
              <a:t>SharePoint migration hop</a:t>
            </a:r>
            <a:endParaRPr lang="en-US" sz="1875" dirty="0"/>
          </a:p>
        </p:txBody>
      </p:sp>
      <p:sp>
        <p:nvSpPr>
          <p:cNvPr id="50" name="Text 48"/>
          <p:cNvSpPr/>
          <p:nvPr/>
        </p:nvSpPr>
        <p:spPr>
          <a:xfrm>
            <a:off x="3085061" y="8262107"/>
            <a:ext cx="3415759"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749DC4"/>
                </a:solidFill>
                <a:latin typeface="Arial" pitchFamily="34" charset="0"/>
                <a:ea typeface="Arial" pitchFamily="34" charset="-122"/>
                <a:cs typeface="Arial" pitchFamily="34" charset="-120"/>
              </a:rPr>
              <a:t>Eliminated — no duplicate copy</a:t>
            </a:r>
            <a:endParaRPr lang="en-US" sz="1800" dirty="0"/>
          </a:p>
        </p:txBody>
      </p:sp>
      <p:sp>
        <p:nvSpPr>
          <p:cNvPr id="51" name="Text 49"/>
          <p:cNvSpPr/>
          <p:nvPr/>
        </p:nvSpPr>
        <p:spPr>
          <a:xfrm>
            <a:off x="6551347" y="3186685"/>
            <a:ext cx="3749250" cy="392357"/>
          </a:xfrm>
          <a:prstGeom prst="rect">
            <a:avLst/>
          </a:prstGeom>
          <a:noFill/>
          <a:ln/>
        </p:spPr>
        <p:txBody>
          <a:bodyPr wrap="square" lIns="25400" tIns="25400" rIns="25400" bIns="25400" rtlCol="0" anchor="t">
            <a:normAutofit fontScale="70000" lnSpcReduction="20000"/>
          </a:bodyPr>
          <a:lstStyle/>
          <a:p>
            <a:pPr marL="0" indent="0" algn="l">
              <a:lnSpc>
                <a:spcPct val="133608"/>
              </a:lnSpc>
              <a:buNone/>
            </a:pPr>
            <a:r>
              <a:rPr lang="en-US" sz="1800" kern="0" spc="216" dirty="0">
                <a:solidFill>
                  <a:srgbClr val="7FC39A"/>
                </a:solidFill>
                <a:latin typeface="Arial" pitchFamily="34" charset="0"/>
                <a:ea typeface="Arial" pitchFamily="34" charset="-122"/>
                <a:cs typeface="Arial" pitchFamily="34" charset="-120"/>
              </a:rPr>
              <a:t>ORCHESTRATION SCREENS ONLY</a:t>
            </a:r>
            <a:endParaRPr lang="en-US" sz="1800" dirty="0"/>
          </a:p>
        </p:txBody>
      </p:sp>
      <p:sp>
        <p:nvSpPr>
          <p:cNvPr id="52" name="Shape 50"/>
          <p:cNvSpPr/>
          <p:nvPr/>
        </p:nvSpPr>
        <p:spPr>
          <a:xfrm>
            <a:off x="6551347" y="6496459"/>
            <a:ext cx="3408409" cy="9525"/>
          </a:xfrm>
          <a:prstGeom prst="rect">
            <a:avLst/>
          </a:prstGeom>
          <a:solidFill>
            <a:srgbClr val="416180"/>
          </a:solidFill>
          <a:ln/>
        </p:spPr>
        <p:txBody>
          <a:bodyPr/>
          <a:lstStyle/>
          <a:p>
            <a:endParaRPr lang="en-US"/>
          </a:p>
        </p:txBody>
      </p:sp>
      <p:sp>
        <p:nvSpPr>
          <p:cNvPr id="53" name="Shape 51"/>
          <p:cNvSpPr/>
          <p:nvPr/>
        </p:nvSpPr>
        <p:spPr>
          <a:xfrm>
            <a:off x="6551347" y="3645690"/>
            <a:ext cx="3408409" cy="9525"/>
          </a:xfrm>
          <a:prstGeom prst="rect">
            <a:avLst/>
          </a:prstGeom>
          <a:solidFill>
            <a:srgbClr val="416180"/>
          </a:solidFill>
          <a:ln/>
        </p:spPr>
        <p:txBody>
          <a:bodyPr/>
          <a:lstStyle/>
          <a:p>
            <a:endParaRPr lang="en-US"/>
          </a:p>
        </p:txBody>
      </p:sp>
      <p:sp>
        <p:nvSpPr>
          <p:cNvPr id="54" name="Shape 52"/>
          <p:cNvSpPr/>
          <p:nvPr/>
        </p:nvSpPr>
        <p:spPr>
          <a:xfrm>
            <a:off x="6551347" y="3645690"/>
            <a:ext cx="43475" cy="2859464"/>
          </a:xfrm>
          <a:prstGeom prst="rect">
            <a:avLst/>
          </a:prstGeom>
          <a:solidFill>
            <a:srgbClr val="7FC39A"/>
          </a:solidFill>
          <a:ln/>
        </p:spPr>
        <p:txBody>
          <a:bodyPr/>
          <a:lstStyle/>
          <a:p>
            <a:endParaRPr lang="en-US"/>
          </a:p>
        </p:txBody>
      </p:sp>
      <p:sp>
        <p:nvSpPr>
          <p:cNvPr id="55" name="Shape 53"/>
          <p:cNvSpPr/>
          <p:nvPr/>
        </p:nvSpPr>
        <p:spPr>
          <a:xfrm>
            <a:off x="9951061" y="3645690"/>
            <a:ext cx="9525" cy="2859464"/>
          </a:xfrm>
          <a:prstGeom prst="rect">
            <a:avLst/>
          </a:prstGeom>
          <a:solidFill>
            <a:srgbClr val="416180"/>
          </a:solidFill>
          <a:ln/>
        </p:spPr>
        <p:txBody>
          <a:bodyPr/>
          <a:lstStyle/>
          <a:p>
            <a:endParaRPr lang="en-US" sz="1600"/>
          </a:p>
        </p:txBody>
      </p:sp>
      <p:sp>
        <p:nvSpPr>
          <p:cNvPr id="56" name="Shape 54"/>
          <p:cNvSpPr/>
          <p:nvPr/>
        </p:nvSpPr>
        <p:spPr>
          <a:xfrm>
            <a:off x="6737680" y="3793371"/>
            <a:ext cx="266695" cy="266695"/>
          </a:xfrm>
          <a:prstGeom prst="rect">
            <a:avLst/>
          </a:prstGeom>
          <a:solidFill>
            <a:srgbClr val="7FC39A"/>
          </a:solidFill>
          <a:ln/>
        </p:spPr>
        <p:txBody>
          <a:bodyPr/>
          <a:lstStyle/>
          <a:p>
            <a:endParaRPr lang="en-US"/>
          </a:p>
        </p:txBody>
      </p:sp>
      <p:sp>
        <p:nvSpPr>
          <p:cNvPr id="57" name="Text 55"/>
          <p:cNvSpPr/>
          <p:nvPr/>
        </p:nvSpPr>
        <p:spPr>
          <a:xfrm>
            <a:off x="6699580" y="3793371"/>
            <a:ext cx="342895" cy="304795"/>
          </a:xfrm>
          <a:prstGeom prst="rect">
            <a:avLst/>
          </a:prstGeom>
          <a:noFill/>
          <a:ln/>
        </p:spPr>
        <p:txBody>
          <a:bodyPr wrap="square" lIns="25400" tIns="25400" rIns="25400" bIns="25400" rtlCol="0" anchor="ctr">
            <a:normAutofit fontScale="92500" lnSpcReduction="10000"/>
          </a:bodyPr>
          <a:lstStyle/>
          <a:p>
            <a:pPr marL="0" indent="0" algn="ctr">
              <a:lnSpc>
                <a:spcPct val="135835"/>
              </a:lnSpc>
              <a:buNone/>
            </a:pPr>
            <a:r>
              <a:rPr lang="en-US" sz="1500" dirty="0">
                <a:solidFill>
                  <a:srgbClr val="1D2D3D"/>
                </a:solidFill>
                <a:latin typeface="Arial" pitchFamily="34" charset="0"/>
                <a:ea typeface="Arial" pitchFamily="34" charset="-122"/>
                <a:cs typeface="Arial" pitchFamily="34" charset="-120"/>
              </a:rPr>
              <a:t>1</a:t>
            </a:r>
            <a:endParaRPr lang="en-US" sz="1500" dirty="0"/>
          </a:p>
        </p:txBody>
      </p:sp>
      <p:sp>
        <p:nvSpPr>
          <p:cNvPr id="58" name="Text 56"/>
          <p:cNvSpPr/>
          <p:nvPr/>
        </p:nvSpPr>
        <p:spPr>
          <a:xfrm>
            <a:off x="7099613" y="3749624"/>
            <a:ext cx="2979449" cy="392357"/>
          </a:xfrm>
          <a:prstGeom prst="rect">
            <a:avLst/>
          </a:prstGeom>
          <a:noFill/>
          <a:ln/>
        </p:spPr>
        <p:txBody>
          <a:bodyPr wrap="square" lIns="25400" tIns="25400" rIns="25400" bIns="25400" rtlCol="0" anchor="t">
            <a:normAutofit/>
          </a:bodyPr>
          <a:lstStyle/>
          <a:p>
            <a:pPr marL="0" indent="0" algn="l">
              <a:lnSpc>
                <a:spcPct val="133608"/>
              </a:lnSpc>
              <a:buNone/>
            </a:pPr>
            <a:r>
              <a:rPr lang="en-US" sz="1600" dirty="0">
                <a:solidFill>
                  <a:srgbClr val="F2F2F3"/>
                </a:solidFill>
                <a:latin typeface="Arial" pitchFamily="34" charset="0"/>
                <a:ea typeface="Arial" pitchFamily="34" charset="-122"/>
                <a:cs typeface="Arial" pitchFamily="34" charset="-120"/>
              </a:rPr>
              <a:t>Team space interface</a:t>
            </a:r>
            <a:endParaRPr lang="en-US" sz="1600" dirty="0"/>
          </a:p>
        </p:txBody>
      </p:sp>
      <p:sp>
        <p:nvSpPr>
          <p:cNvPr id="59" name="Shape 57"/>
          <p:cNvSpPr/>
          <p:nvPr/>
        </p:nvSpPr>
        <p:spPr>
          <a:xfrm>
            <a:off x="7099613" y="4141922"/>
            <a:ext cx="633519" cy="287821"/>
          </a:xfrm>
          <a:prstGeom prst="rect">
            <a:avLst/>
          </a:prstGeom>
          <a:ln w="8695">
            <a:solidFill>
              <a:srgbClr val="2C455D"/>
            </a:solidFill>
            <a:prstDash val="solid"/>
          </a:ln>
        </p:spPr>
        <p:txBody>
          <a:bodyPr/>
          <a:lstStyle/>
          <a:p>
            <a:endParaRPr lang="en-US" sz="1600"/>
          </a:p>
        </p:txBody>
      </p:sp>
      <p:sp>
        <p:nvSpPr>
          <p:cNvPr id="60" name="Text 58"/>
          <p:cNvSpPr/>
          <p:nvPr/>
        </p:nvSpPr>
        <p:spPr>
          <a:xfrm>
            <a:off x="7184508" y="4160142"/>
            <a:ext cx="527081" cy="289481"/>
          </a:xfrm>
          <a:prstGeom prst="rect">
            <a:avLst/>
          </a:prstGeom>
          <a:noFill/>
          <a:ln/>
        </p:spPr>
        <p:txBody>
          <a:bodyPr wrap="none" lIns="25400" tIns="25400" rIns="25400" bIns="25400" rtlCol="0" anchor="ctr">
            <a:normAutofit/>
          </a:bodyPr>
          <a:lstStyle/>
          <a:p>
            <a:pPr marL="0" indent="0" algn="ctr">
              <a:lnSpc>
                <a:spcPct val="94819"/>
              </a:lnSpc>
              <a:buNone/>
            </a:pPr>
            <a:r>
              <a:rPr lang="en-US" sz="1200" strike="sngStrike" kern="0" spc="108" dirty="0">
                <a:solidFill>
                  <a:srgbClr val="597EA3"/>
                </a:solidFill>
                <a:latin typeface="Arial" pitchFamily="34" charset="0"/>
                <a:ea typeface="Arial" pitchFamily="34" charset="-122"/>
                <a:cs typeface="Arial" pitchFamily="34" charset="-120"/>
              </a:rPr>
              <a:t>CODE</a:t>
            </a:r>
            <a:endParaRPr lang="en-US" sz="1200" dirty="0"/>
          </a:p>
        </p:txBody>
      </p:sp>
      <p:sp>
        <p:nvSpPr>
          <p:cNvPr id="61" name="Shape 59"/>
          <p:cNvSpPr/>
          <p:nvPr/>
        </p:nvSpPr>
        <p:spPr>
          <a:xfrm>
            <a:off x="7809283" y="4141922"/>
            <a:ext cx="588753" cy="287821"/>
          </a:xfrm>
          <a:prstGeom prst="rect">
            <a:avLst/>
          </a:prstGeom>
          <a:ln w="8695">
            <a:solidFill>
              <a:srgbClr val="2C455D"/>
            </a:solidFill>
            <a:prstDash val="solid"/>
          </a:ln>
        </p:spPr>
        <p:txBody>
          <a:bodyPr/>
          <a:lstStyle/>
          <a:p>
            <a:endParaRPr lang="en-US" sz="1600"/>
          </a:p>
        </p:txBody>
      </p:sp>
      <p:sp>
        <p:nvSpPr>
          <p:cNvPr id="62" name="Text 60"/>
          <p:cNvSpPr/>
          <p:nvPr/>
        </p:nvSpPr>
        <p:spPr>
          <a:xfrm>
            <a:off x="7894178" y="4160142"/>
            <a:ext cx="477838" cy="289481"/>
          </a:xfrm>
          <a:prstGeom prst="rect">
            <a:avLst/>
          </a:prstGeom>
          <a:noFill/>
          <a:ln/>
        </p:spPr>
        <p:txBody>
          <a:bodyPr wrap="none" lIns="25400" tIns="25400" rIns="25400" bIns="25400" rtlCol="0" anchor="ctr">
            <a:normAutofit/>
          </a:bodyPr>
          <a:lstStyle/>
          <a:p>
            <a:pPr marL="0" indent="0" algn="ctr">
              <a:lnSpc>
                <a:spcPct val="94819"/>
              </a:lnSpc>
              <a:buNone/>
            </a:pPr>
            <a:r>
              <a:rPr lang="en-US" sz="1200" strike="sngStrike" kern="0" spc="108" dirty="0">
                <a:solidFill>
                  <a:srgbClr val="597EA3"/>
                </a:solidFill>
                <a:latin typeface="Arial" pitchFamily="34" charset="0"/>
                <a:ea typeface="Arial" pitchFamily="34" charset="-122"/>
                <a:cs typeface="Arial" pitchFamily="34" charset="-120"/>
              </a:rPr>
              <a:t>DATA</a:t>
            </a:r>
            <a:endParaRPr lang="en-US" sz="1200" dirty="0"/>
          </a:p>
        </p:txBody>
      </p:sp>
      <p:sp>
        <p:nvSpPr>
          <p:cNvPr id="63" name="Shape 61"/>
          <p:cNvSpPr/>
          <p:nvPr/>
        </p:nvSpPr>
        <p:spPr>
          <a:xfrm>
            <a:off x="8474186" y="4141922"/>
            <a:ext cx="967533" cy="287821"/>
          </a:xfrm>
          <a:prstGeom prst="rect">
            <a:avLst/>
          </a:prstGeom>
          <a:ln w="8695">
            <a:solidFill>
              <a:srgbClr val="7FC39A"/>
            </a:solidFill>
            <a:prstDash val="solid"/>
          </a:ln>
        </p:spPr>
        <p:txBody>
          <a:bodyPr/>
          <a:lstStyle/>
          <a:p>
            <a:endParaRPr lang="en-US" sz="1400"/>
          </a:p>
        </p:txBody>
      </p:sp>
      <p:sp>
        <p:nvSpPr>
          <p:cNvPr id="64" name="Text 62"/>
          <p:cNvSpPr/>
          <p:nvPr/>
        </p:nvSpPr>
        <p:spPr>
          <a:xfrm>
            <a:off x="8474176" y="4160142"/>
            <a:ext cx="967543" cy="326527"/>
          </a:xfrm>
          <a:prstGeom prst="rect">
            <a:avLst/>
          </a:prstGeom>
          <a:noFill/>
          <a:ln/>
        </p:spPr>
        <p:txBody>
          <a:bodyPr wrap="none" lIns="25400" tIns="25400" rIns="25400" bIns="25400" rtlCol="0" anchor="ctr">
            <a:normAutofit/>
          </a:bodyPr>
          <a:lstStyle/>
          <a:p>
            <a:pPr marL="0" indent="0" algn="ctr">
              <a:lnSpc>
                <a:spcPct val="94819"/>
              </a:lnSpc>
              <a:buNone/>
            </a:pPr>
            <a:r>
              <a:rPr lang="en-US" sz="1200" kern="0" spc="108" dirty="0">
                <a:solidFill>
                  <a:srgbClr val="7FC39A"/>
                </a:solidFill>
                <a:latin typeface="Arial" pitchFamily="34" charset="0"/>
                <a:ea typeface="Arial" pitchFamily="34" charset="-122"/>
                <a:cs typeface="Arial" pitchFamily="34" charset="-120"/>
              </a:rPr>
              <a:t>API ONLY</a:t>
            </a:r>
            <a:endParaRPr lang="en-US" sz="1200" dirty="0"/>
          </a:p>
        </p:txBody>
      </p:sp>
      <p:sp>
        <p:nvSpPr>
          <p:cNvPr id="65" name="Shape 63"/>
          <p:cNvSpPr/>
          <p:nvPr/>
        </p:nvSpPr>
        <p:spPr>
          <a:xfrm>
            <a:off x="6737680" y="4559151"/>
            <a:ext cx="266695" cy="266695"/>
          </a:xfrm>
          <a:prstGeom prst="rect">
            <a:avLst/>
          </a:prstGeom>
          <a:solidFill>
            <a:srgbClr val="7FC39A"/>
          </a:solidFill>
          <a:ln/>
        </p:spPr>
        <p:txBody>
          <a:bodyPr/>
          <a:lstStyle/>
          <a:p>
            <a:endParaRPr lang="en-US"/>
          </a:p>
        </p:txBody>
      </p:sp>
      <p:sp>
        <p:nvSpPr>
          <p:cNvPr id="66" name="Text 64"/>
          <p:cNvSpPr/>
          <p:nvPr/>
        </p:nvSpPr>
        <p:spPr>
          <a:xfrm>
            <a:off x="6699580" y="4559151"/>
            <a:ext cx="342895" cy="304795"/>
          </a:xfrm>
          <a:prstGeom prst="rect">
            <a:avLst/>
          </a:prstGeom>
          <a:noFill/>
          <a:ln/>
        </p:spPr>
        <p:txBody>
          <a:bodyPr wrap="square" lIns="25400" tIns="25400" rIns="25400" bIns="25400" rtlCol="0" anchor="ctr">
            <a:normAutofit fontScale="92500" lnSpcReduction="10000"/>
          </a:bodyPr>
          <a:lstStyle/>
          <a:p>
            <a:pPr marL="0" indent="0" algn="ctr">
              <a:lnSpc>
                <a:spcPct val="135835"/>
              </a:lnSpc>
              <a:buNone/>
            </a:pPr>
            <a:r>
              <a:rPr lang="en-US" sz="1500" dirty="0">
                <a:solidFill>
                  <a:srgbClr val="1D2D3D"/>
                </a:solidFill>
                <a:latin typeface="Arial" pitchFamily="34" charset="0"/>
                <a:ea typeface="Arial" pitchFamily="34" charset="-122"/>
                <a:cs typeface="Arial" pitchFamily="34" charset="-120"/>
              </a:rPr>
              <a:t>2</a:t>
            </a:r>
            <a:endParaRPr lang="en-US" sz="1500" dirty="0"/>
          </a:p>
        </p:txBody>
      </p:sp>
      <p:sp>
        <p:nvSpPr>
          <p:cNvPr id="67" name="Text 65"/>
          <p:cNvSpPr/>
          <p:nvPr/>
        </p:nvSpPr>
        <p:spPr>
          <a:xfrm>
            <a:off x="7099613" y="4515404"/>
            <a:ext cx="2979449" cy="392357"/>
          </a:xfrm>
          <a:prstGeom prst="rect">
            <a:avLst/>
          </a:prstGeom>
          <a:noFill/>
          <a:ln/>
        </p:spPr>
        <p:txBody>
          <a:bodyPr wrap="square" lIns="25400" tIns="25400" rIns="25400" bIns="25400" rtlCol="0" anchor="t">
            <a:normAutofit/>
          </a:bodyPr>
          <a:lstStyle/>
          <a:p>
            <a:pPr marL="0" indent="0" algn="l">
              <a:lnSpc>
                <a:spcPct val="133608"/>
              </a:lnSpc>
              <a:buNone/>
            </a:pPr>
            <a:r>
              <a:rPr lang="en-US" sz="1600" dirty="0">
                <a:solidFill>
                  <a:srgbClr val="F2F2F3"/>
                </a:solidFill>
                <a:latin typeface="Arial" pitchFamily="34" charset="0"/>
                <a:ea typeface="Arial" pitchFamily="34" charset="-122"/>
                <a:cs typeface="Arial" pitchFamily="34" charset="-120"/>
              </a:rPr>
              <a:t>Shared document interface</a:t>
            </a:r>
            <a:endParaRPr lang="en-US" sz="1600" dirty="0"/>
          </a:p>
        </p:txBody>
      </p:sp>
      <p:sp>
        <p:nvSpPr>
          <p:cNvPr id="68" name="Shape 66"/>
          <p:cNvSpPr/>
          <p:nvPr/>
        </p:nvSpPr>
        <p:spPr>
          <a:xfrm>
            <a:off x="7099613" y="4907702"/>
            <a:ext cx="633519" cy="287821"/>
          </a:xfrm>
          <a:prstGeom prst="rect">
            <a:avLst/>
          </a:prstGeom>
          <a:ln w="8695">
            <a:solidFill>
              <a:srgbClr val="2C455D"/>
            </a:solidFill>
            <a:prstDash val="solid"/>
          </a:ln>
        </p:spPr>
        <p:txBody>
          <a:bodyPr/>
          <a:lstStyle/>
          <a:p>
            <a:endParaRPr lang="en-US" sz="1200"/>
          </a:p>
        </p:txBody>
      </p:sp>
      <p:sp>
        <p:nvSpPr>
          <p:cNvPr id="69" name="Text 67"/>
          <p:cNvSpPr/>
          <p:nvPr/>
        </p:nvSpPr>
        <p:spPr>
          <a:xfrm>
            <a:off x="7184508" y="4925922"/>
            <a:ext cx="527081" cy="289481"/>
          </a:xfrm>
          <a:prstGeom prst="rect">
            <a:avLst/>
          </a:prstGeom>
          <a:noFill/>
          <a:ln/>
        </p:spPr>
        <p:txBody>
          <a:bodyPr wrap="none" lIns="25400" tIns="25400" rIns="25400" bIns="25400" rtlCol="0" anchor="ctr">
            <a:normAutofit/>
          </a:bodyPr>
          <a:lstStyle/>
          <a:p>
            <a:pPr marL="0" indent="0" algn="ctr">
              <a:lnSpc>
                <a:spcPct val="94819"/>
              </a:lnSpc>
              <a:buNone/>
            </a:pPr>
            <a:r>
              <a:rPr lang="en-US" sz="1200" strike="sngStrike" kern="0" spc="108" dirty="0">
                <a:solidFill>
                  <a:srgbClr val="597EA3"/>
                </a:solidFill>
                <a:latin typeface="Arial" pitchFamily="34" charset="0"/>
                <a:ea typeface="Arial" pitchFamily="34" charset="-122"/>
                <a:cs typeface="Arial" pitchFamily="34" charset="-120"/>
              </a:rPr>
              <a:t>CODE</a:t>
            </a:r>
            <a:endParaRPr lang="en-US" sz="1200" dirty="0"/>
          </a:p>
        </p:txBody>
      </p:sp>
      <p:sp>
        <p:nvSpPr>
          <p:cNvPr id="70" name="Shape 68"/>
          <p:cNvSpPr/>
          <p:nvPr/>
        </p:nvSpPr>
        <p:spPr>
          <a:xfrm>
            <a:off x="7809283" y="4907702"/>
            <a:ext cx="588753" cy="287821"/>
          </a:xfrm>
          <a:prstGeom prst="rect">
            <a:avLst/>
          </a:prstGeom>
          <a:ln w="8695">
            <a:solidFill>
              <a:srgbClr val="2C455D"/>
            </a:solidFill>
            <a:prstDash val="solid"/>
          </a:ln>
        </p:spPr>
        <p:txBody>
          <a:bodyPr/>
          <a:lstStyle/>
          <a:p>
            <a:endParaRPr lang="en-US" sz="1200"/>
          </a:p>
        </p:txBody>
      </p:sp>
      <p:sp>
        <p:nvSpPr>
          <p:cNvPr id="71" name="Text 69"/>
          <p:cNvSpPr/>
          <p:nvPr/>
        </p:nvSpPr>
        <p:spPr>
          <a:xfrm>
            <a:off x="7894178" y="4925922"/>
            <a:ext cx="477838" cy="289481"/>
          </a:xfrm>
          <a:prstGeom prst="rect">
            <a:avLst/>
          </a:prstGeom>
          <a:noFill/>
          <a:ln/>
        </p:spPr>
        <p:txBody>
          <a:bodyPr wrap="none" lIns="25400" tIns="25400" rIns="25400" bIns="25400" rtlCol="0" anchor="ctr">
            <a:normAutofit/>
          </a:bodyPr>
          <a:lstStyle/>
          <a:p>
            <a:pPr marL="0" indent="0" algn="ctr">
              <a:lnSpc>
                <a:spcPct val="94819"/>
              </a:lnSpc>
              <a:buNone/>
            </a:pPr>
            <a:r>
              <a:rPr lang="en-US" sz="1200" strike="sngStrike" kern="0" spc="108" dirty="0">
                <a:solidFill>
                  <a:srgbClr val="597EA3"/>
                </a:solidFill>
                <a:latin typeface="Arial" pitchFamily="34" charset="0"/>
                <a:ea typeface="Arial" pitchFamily="34" charset="-122"/>
                <a:cs typeface="Arial" pitchFamily="34" charset="-120"/>
              </a:rPr>
              <a:t>DATA</a:t>
            </a:r>
            <a:endParaRPr lang="en-US" sz="1200" dirty="0"/>
          </a:p>
        </p:txBody>
      </p:sp>
      <p:sp>
        <p:nvSpPr>
          <p:cNvPr id="72" name="Shape 70"/>
          <p:cNvSpPr/>
          <p:nvPr/>
        </p:nvSpPr>
        <p:spPr>
          <a:xfrm>
            <a:off x="8474186" y="4907702"/>
            <a:ext cx="967533" cy="287821"/>
          </a:xfrm>
          <a:prstGeom prst="rect">
            <a:avLst/>
          </a:prstGeom>
          <a:ln w="8695">
            <a:solidFill>
              <a:srgbClr val="7FC39A"/>
            </a:solidFill>
            <a:prstDash val="solid"/>
          </a:ln>
        </p:spPr>
        <p:txBody>
          <a:bodyPr/>
          <a:lstStyle/>
          <a:p>
            <a:endParaRPr lang="en-US" sz="1200"/>
          </a:p>
        </p:txBody>
      </p:sp>
      <p:sp>
        <p:nvSpPr>
          <p:cNvPr id="73" name="Text 71"/>
          <p:cNvSpPr/>
          <p:nvPr/>
        </p:nvSpPr>
        <p:spPr>
          <a:xfrm>
            <a:off x="8559081" y="4925922"/>
            <a:ext cx="894496" cy="289481"/>
          </a:xfrm>
          <a:prstGeom prst="rect">
            <a:avLst/>
          </a:prstGeom>
          <a:noFill/>
          <a:ln/>
        </p:spPr>
        <p:txBody>
          <a:bodyPr wrap="none" lIns="25400" tIns="25400" rIns="25400" bIns="25400" rtlCol="0" anchor="ctr">
            <a:normAutofit/>
          </a:bodyPr>
          <a:lstStyle/>
          <a:p>
            <a:pPr marL="0" indent="0" algn="ctr">
              <a:lnSpc>
                <a:spcPct val="94819"/>
              </a:lnSpc>
              <a:buNone/>
            </a:pPr>
            <a:r>
              <a:rPr lang="en-US" sz="1200" kern="0" spc="108" dirty="0">
                <a:solidFill>
                  <a:srgbClr val="7FC39A"/>
                </a:solidFill>
                <a:latin typeface="Arial" pitchFamily="34" charset="0"/>
                <a:ea typeface="Arial" pitchFamily="34" charset="-122"/>
                <a:cs typeface="Arial" pitchFamily="34" charset="-120"/>
              </a:rPr>
              <a:t>API ONLY</a:t>
            </a:r>
            <a:endParaRPr lang="en-US" sz="1200" dirty="0"/>
          </a:p>
        </p:txBody>
      </p:sp>
      <p:sp>
        <p:nvSpPr>
          <p:cNvPr id="74" name="Shape 72"/>
          <p:cNvSpPr/>
          <p:nvPr/>
        </p:nvSpPr>
        <p:spPr>
          <a:xfrm>
            <a:off x="6737680" y="5324931"/>
            <a:ext cx="266695" cy="266695"/>
          </a:xfrm>
          <a:prstGeom prst="rect">
            <a:avLst/>
          </a:prstGeom>
          <a:ln w="8695">
            <a:solidFill>
              <a:srgbClr val="597EA3"/>
            </a:solidFill>
            <a:prstDash val="solid"/>
          </a:ln>
        </p:spPr>
        <p:txBody>
          <a:bodyPr/>
          <a:lstStyle/>
          <a:p>
            <a:endParaRPr lang="en-US"/>
          </a:p>
        </p:txBody>
      </p:sp>
      <p:sp>
        <p:nvSpPr>
          <p:cNvPr id="75" name="Text 73"/>
          <p:cNvSpPr/>
          <p:nvPr/>
        </p:nvSpPr>
        <p:spPr>
          <a:xfrm>
            <a:off x="6708275" y="5333626"/>
            <a:ext cx="325505" cy="287405"/>
          </a:xfrm>
          <a:prstGeom prst="rect">
            <a:avLst/>
          </a:prstGeom>
          <a:noFill/>
          <a:ln/>
        </p:spPr>
        <p:txBody>
          <a:bodyPr wrap="square" lIns="25400" tIns="25400" rIns="25400" bIns="25400" rtlCol="0" anchor="ctr">
            <a:normAutofit fontScale="92500"/>
          </a:bodyPr>
          <a:lstStyle/>
          <a:p>
            <a:pPr marL="0" indent="0" algn="ctr">
              <a:lnSpc>
                <a:spcPct val="135835"/>
              </a:lnSpc>
              <a:buNone/>
            </a:pPr>
            <a:r>
              <a:rPr lang="en-US" sz="1350" dirty="0">
                <a:solidFill>
                  <a:srgbClr val="B5D9FD"/>
                </a:solidFill>
                <a:latin typeface="Arial" pitchFamily="34" charset="0"/>
                <a:ea typeface="Arial" pitchFamily="34" charset="-122"/>
                <a:cs typeface="Arial" pitchFamily="34" charset="-120"/>
              </a:rPr>
              <a:t>·</a:t>
            </a:r>
            <a:endParaRPr lang="en-US" sz="1350" dirty="0"/>
          </a:p>
        </p:txBody>
      </p:sp>
      <p:sp>
        <p:nvSpPr>
          <p:cNvPr id="76" name="Text 74"/>
          <p:cNvSpPr/>
          <p:nvPr/>
        </p:nvSpPr>
        <p:spPr>
          <a:xfrm>
            <a:off x="7099613" y="5281183"/>
            <a:ext cx="2979449" cy="392357"/>
          </a:xfrm>
          <a:prstGeom prst="rect">
            <a:avLst/>
          </a:prstGeom>
          <a:noFill/>
          <a:ln/>
        </p:spPr>
        <p:txBody>
          <a:bodyPr wrap="square" lIns="25400" tIns="25400" rIns="25400" bIns="25400" rtlCol="0" anchor="t">
            <a:normAutofit/>
          </a:bodyPr>
          <a:lstStyle/>
          <a:p>
            <a:pPr marL="0" indent="0" algn="l">
              <a:lnSpc>
                <a:spcPct val="133608"/>
              </a:lnSpc>
              <a:buNone/>
            </a:pPr>
            <a:r>
              <a:rPr lang="en-US" sz="1600" dirty="0">
                <a:solidFill>
                  <a:srgbClr val="F2F2F3"/>
                </a:solidFill>
                <a:latin typeface="Arial" pitchFamily="34" charset="0"/>
                <a:ea typeface="Arial" pitchFamily="34" charset="-122"/>
                <a:cs typeface="Arial" pitchFamily="34" charset="-120"/>
              </a:rPr>
              <a:t>Personal document mgmt</a:t>
            </a:r>
            <a:endParaRPr lang="en-US" sz="1600" dirty="0"/>
          </a:p>
        </p:txBody>
      </p:sp>
      <p:sp>
        <p:nvSpPr>
          <p:cNvPr id="77" name="Shape 75"/>
          <p:cNvSpPr/>
          <p:nvPr/>
        </p:nvSpPr>
        <p:spPr>
          <a:xfrm>
            <a:off x="6737680" y="5764848"/>
            <a:ext cx="266695" cy="266695"/>
          </a:xfrm>
          <a:prstGeom prst="rect">
            <a:avLst/>
          </a:prstGeom>
          <a:ln w="8695">
            <a:solidFill>
              <a:srgbClr val="597EA3"/>
            </a:solidFill>
            <a:prstDash val="solid"/>
          </a:ln>
        </p:spPr>
        <p:txBody>
          <a:bodyPr/>
          <a:lstStyle/>
          <a:p>
            <a:endParaRPr lang="en-US"/>
          </a:p>
        </p:txBody>
      </p:sp>
      <p:sp>
        <p:nvSpPr>
          <p:cNvPr id="78" name="Text 76"/>
          <p:cNvSpPr/>
          <p:nvPr/>
        </p:nvSpPr>
        <p:spPr>
          <a:xfrm>
            <a:off x="6708275" y="5773543"/>
            <a:ext cx="325505" cy="287405"/>
          </a:xfrm>
          <a:prstGeom prst="rect">
            <a:avLst/>
          </a:prstGeom>
          <a:noFill/>
          <a:ln/>
        </p:spPr>
        <p:txBody>
          <a:bodyPr wrap="square" lIns="25400" tIns="25400" rIns="25400" bIns="25400" rtlCol="0" anchor="ctr">
            <a:normAutofit fontScale="92500"/>
          </a:bodyPr>
          <a:lstStyle/>
          <a:p>
            <a:pPr marL="0" indent="0" algn="ctr">
              <a:lnSpc>
                <a:spcPct val="135835"/>
              </a:lnSpc>
              <a:buNone/>
            </a:pPr>
            <a:r>
              <a:rPr lang="en-US" sz="1350" dirty="0">
                <a:solidFill>
                  <a:srgbClr val="B5D9FD"/>
                </a:solidFill>
                <a:latin typeface="Arial" pitchFamily="34" charset="0"/>
                <a:ea typeface="Arial" pitchFamily="34" charset="-122"/>
                <a:cs typeface="Arial" pitchFamily="34" charset="-120"/>
              </a:rPr>
              <a:t>·</a:t>
            </a:r>
            <a:endParaRPr lang="en-US" sz="1350" dirty="0"/>
          </a:p>
        </p:txBody>
      </p:sp>
      <p:sp>
        <p:nvSpPr>
          <p:cNvPr id="79" name="Text 77"/>
          <p:cNvSpPr/>
          <p:nvPr/>
        </p:nvSpPr>
        <p:spPr>
          <a:xfrm>
            <a:off x="7099613" y="5721101"/>
            <a:ext cx="2979449" cy="392357"/>
          </a:xfrm>
          <a:prstGeom prst="rect">
            <a:avLst/>
          </a:prstGeom>
          <a:noFill/>
          <a:ln/>
        </p:spPr>
        <p:txBody>
          <a:bodyPr wrap="square" lIns="25400" tIns="25400" rIns="25400" bIns="25400" rtlCol="0" anchor="t">
            <a:normAutofit/>
          </a:bodyPr>
          <a:lstStyle/>
          <a:p>
            <a:pPr marL="0" indent="0" algn="l">
              <a:lnSpc>
                <a:spcPct val="133608"/>
              </a:lnSpc>
              <a:buNone/>
            </a:pPr>
            <a:r>
              <a:rPr lang="en-US" sz="1600" dirty="0">
                <a:solidFill>
                  <a:srgbClr val="F2F2F3"/>
                </a:solidFill>
                <a:latin typeface="Arial" pitchFamily="34" charset="0"/>
                <a:ea typeface="Arial" pitchFamily="34" charset="-122"/>
                <a:cs typeface="Arial" pitchFamily="34" charset="-120"/>
              </a:rPr>
              <a:t>SharePoint interface</a:t>
            </a:r>
            <a:endParaRPr lang="en-US" sz="1600" dirty="0"/>
          </a:p>
        </p:txBody>
      </p:sp>
      <p:sp>
        <p:nvSpPr>
          <p:cNvPr id="80" name="Shape 78"/>
          <p:cNvSpPr/>
          <p:nvPr/>
        </p:nvSpPr>
        <p:spPr>
          <a:xfrm>
            <a:off x="7099613" y="6113399"/>
            <a:ext cx="1235179" cy="287821"/>
          </a:xfrm>
          <a:prstGeom prst="rect">
            <a:avLst/>
          </a:prstGeom>
          <a:ln w="8695">
            <a:solidFill>
              <a:srgbClr val="597EA3"/>
            </a:solidFill>
            <a:prstDash val="solid"/>
          </a:ln>
        </p:spPr>
        <p:txBody>
          <a:bodyPr/>
          <a:lstStyle/>
          <a:p>
            <a:endParaRPr lang="en-US" sz="1400"/>
          </a:p>
        </p:txBody>
      </p:sp>
      <p:sp>
        <p:nvSpPr>
          <p:cNvPr id="81" name="Text 79"/>
          <p:cNvSpPr/>
          <p:nvPr/>
        </p:nvSpPr>
        <p:spPr>
          <a:xfrm>
            <a:off x="7184508" y="6131619"/>
            <a:ext cx="1188907" cy="289481"/>
          </a:xfrm>
          <a:prstGeom prst="rect">
            <a:avLst/>
          </a:prstGeom>
          <a:noFill/>
          <a:ln/>
        </p:spPr>
        <p:txBody>
          <a:bodyPr wrap="none" lIns="25400" tIns="25400" rIns="25400" bIns="25400" rtlCol="0" anchor="ctr">
            <a:normAutofit/>
          </a:bodyPr>
          <a:lstStyle/>
          <a:p>
            <a:pPr marL="0" indent="0" algn="ctr">
              <a:lnSpc>
                <a:spcPct val="94819"/>
              </a:lnSpc>
              <a:buNone/>
            </a:pPr>
            <a:r>
              <a:rPr lang="en-US" sz="1200" kern="0" spc="108" dirty="0">
                <a:solidFill>
                  <a:srgbClr val="B5D9FD"/>
                </a:solidFill>
                <a:latin typeface="Arial" pitchFamily="34" charset="0"/>
                <a:ea typeface="Arial" pitchFamily="34" charset="-122"/>
                <a:cs typeface="Arial" pitchFamily="34" charset="-120"/>
              </a:rPr>
              <a:t>UNCHANGED</a:t>
            </a:r>
            <a:endParaRPr lang="en-US" sz="1200" dirty="0"/>
          </a:p>
        </p:txBody>
      </p:sp>
      <p:sp>
        <p:nvSpPr>
          <p:cNvPr id="82" name="Shape 80"/>
          <p:cNvSpPr/>
          <p:nvPr/>
        </p:nvSpPr>
        <p:spPr>
          <a:xfrm>
            <a:off x="8410942" y="6113399"/>
            <a:ext cx="967533" cy="287821"/>
          </a:xfrm>
          <a:prstGeom prst="rect">
            <a:avLst/>
          </a:prstGeom>
          <a:ln w="8695">
            <a:solidFill>
              <a:srgbClr val="597EA3"/>
            </a:solidFill>
            <a:prstDash val="solid"/>
          </a:ln>
        </p:spPr>
        <p:txBody>
          <a:bodyPr/>
          <a:lstStyle/>
          <a:p>
            <a:endParaRPr lang="en-US" sz="1400"/>
          </a:p>
        </p:txBody>
      </p:sp>
      <p:sp>
        <p:nvSpPr>
          <p:cNvPr id="83" name="Text 81"/>
          <p:cNvSpPr/>
          <p:nvPr/>
        </p:nvSpPr>
        <p:spPr>
          <a:xfrm>
            <a:off x="8495838" y="6131619"/>
            <a:ext cx="894496" cy="289481"/>
          </a:xfrm>
          <a:prstGeom prst="rect">
            <a:avLst/>
          </a:prstGeom>
          <a:noFill/>
          <a:ln/>
        </p:spPr>
        <p:txBody>
          <a:bodyPr wrap="none" lIns="25400" tIns="25400" rIns="25400" bIns="25400" rtlCol="0" anchor="ctr">
            <a:normAutofit/>
          </a:bodyPr>
          <a:lstStyle/>
          <a:p>
            <a:pPr marL="0" indent="0" algn="ctr">
              <a:lnSpc>
                <a:spcPct val="94819"/>
              </a:lnSpc>
              <a:buNone/>
            </a:pPr>
            <a:r>
              <a:rPr lang="en-US" sz="1200" kern="0" spc="108" dirty="0">
                <a:solidFill>
                  <a:srgbClr val="B5D9FD"/>
                </a:solidFill>
                <a:latin typeface="Arial" pitchFamily="34" charset="0"/>
                <a:ea typeface="Arial" pitchFamily="34" charset="-122"/>
                <a:cs typeface="Arial" pitchFamily="34" charset="-120"/>
              </a:rPr>
              <a:t>API ONLY</a:t>
            </a:r>
            <a:endParaRPr lang="en-US" sz="1200" dirty="0"/>
          </a:p>
        </p:txBody>
      </p:sp>
      <p:sp>
        <p:nvSpPr>
          <p:cNvPr id="84" name="Shape 82"/>
          <p:cNvSpPr/>
          <p:nvPr/>
        </p:nvSpPr>
        <p:spPr>
          <a:xfrm>
            <a:off x="6551347" y="6609903"/>
            <a:ext cx="43475" cy="967465"/>
          </a:xfrm>
          <a:prstGeom prst="rect">
            <a:avLst/>
          </a:prstGeom>
          <a:solidFill>
            <a:srgbClr val="7FC39A"/>
          </a:solidFill>
          <a:ln/>
        </p:spPr>
        <p:txBody>
          <a:bodyPr/>
          <a:lstStyle/>
          <a:p>
            <a:endParaRPr lang="en-US"/>
          </a:p>
        </p:txBody>
      </p:sp>
      <p:sp>
        <p:nvSpPr>
          <p:cNvPr id="85" name="Text 83"/>
          <p:cNvSpPr/>
          <p:nvPr/>
        </p:nvSpPr>
        <p:spPr>
          <a:xfrm>
            <a:off x="6728170" y="6647944"/>
            <a:ext cx="3328534" cy="929483"/>
          </a:xfrm>
          <a:prstGeom prst="rect">
            <a:avLst/>
          </a:prstGeom>
          <a:noFill/>
          <a:ln/>
        </p:spPr>
        <p:txBody>
          <a:bodyPr wrap="square" lIns="25400" tIns="25400" rIns="25400" bIns="25400" rtlCol="0" anchor="t">
            <a:normAutofit lnSpcReduction="10000"/>
          </a:bodyPr>
          <a:lstStyle/>
          <a:p>
            <a:pPr marL="0" indent="0" algn="l">
              <a:lnSpc>
                <a:spcPct val="112059"/>
              </a:lnSpc>
              <a:buNone/>
            </a:pPr>
            <a:r>
              <a:rPr lang="en-US" sz="1800" dirty="0">
                <a:solidFill>
                  <a:srgbClr val="7FC39A"/>
                </a:solidFill>
                <a:latin typeface="Arial" pitchFamily="34" charset="0"/>
                <a:ea typeface="Arial" pitchFamily="34" charset="-122"/>
                <a:cs typeface="Arial" pitchFamily="34" charset="-120"/>
              </a:rPr>
              <a:t>The screens remain. The codebases and databases behind them do not.</a:t>
            </a:r>
            <a:endParaRPr lang="en-US" sz="1800" dirty="0"/>
          </a:p>
        </p:txBody>
      </p:sp>
      <p:sp>
        <p:nvSpPr>
          <p:cNvPr id="86" name="Shape 84"/>
          <p:cNvSpPr/>
          <p:nvPr/>
        </p:nvSpPr>
        <p:spPr>
          <a:xfrm>
            <a:off x="6551347" y="7682117"/>
            <a:ext cx="3408409" cy="931122"/>
          </a:xfrm>
          <a:prstGeom prst="rect">
            <a:avLst/>
          </a:prstGeom>
          <a:ln w="8695">
            <a:solidFill>
              <a:srgbClr val="416180"/>
            </a:solidFill>
            <a:prstDash val="solid"/>
          </a:ln>
        </p:spPr>
        <p:txBody>
          <a:bodyPr/>
          <a:lstStyle/>
          <a:p>
            <a:endParaRPr lang="en-US"/>
          </a:p>
        </p:txBody>
      </p:sp>
      <p:sp>
        <p:nvSpPr>
          <p:cNvPr id="87" name="Text 85"/>
          <p:cNvSpPr/>
          <p:nvPr/>
        </p:nvSpPr>
        <p:spPr>
          <a:xfrm>
            <a:off x="6702900" y="7786050"/>
            <a:ext cx="3415834"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F2F2F3"/>
                </a:solidFill>
                <a:latin typeface="Arial" pitchFamily="34" charset="0"/>
                <a:ea typeface="Arial" pitchFamily="34" charset="-122"/>
                <a:cs typeface="Arial" pitchFamily="34" charset="-120"/>
              </a:rPr>
              <a:t>Chat sessions</a:t>
            </a:r>
            <a:endParaRPr lang="en-US" sz="1875" dirty="0"/>
          </a:p>
        </p:txBody>
      </p:sp>
      <p:sp>
        <p:nvSpPr>
          <p:cNvPr id="88" name="Text 86"/>
          <p:cNvSpPr/>
          <p:nvPr/>
        </p:nvSpPr>
        <p:spPr>
          <a:xfrm>
            <a:off x="6702900" y="8155048"/>
            <a:ext cx="3415834"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B5D9FD"/>
                </a:solidFill>
                <a:latin typeface="Arial" pitchFamily="34" charset="0"/>
                <a:ea typeface="Arial" pitchFamily="34" charset="-122"/>
                <a:cs typeface="Arial" pitchFamily="34" charset="-120"/>
              </a:rPr>
              <a:t>MongoDB</a:t>
            </a:r>
            <a:endParaRPr lang="en-US" sz="1800" dirty="0"/>
          </a:p>
        </p:txBody>
      </p:sp>
      <p:sp>
        <p:nvSpPr>
          <p:cNvPr id="89" name="Text 87"/>
          <p:cNvSpPr/>
          <p:nvPr/>
        </p:nvSpPr>
        <p:spPr>
          <a:xfrm>
            <a:off x="10728534" y="4282606"/>
            <a:ext cx="443364" cy="342904"/>
          </a:xfrm>
          <a:prstGeom prst="rect">
            <a:avLst/>
          </a:prstGeom>
          <a:noFill/>
          <a:ln/>
        </p:spPr>
        <p:txBody>
          <a:bodyPr wrap="square" lIns="25400" tIns="25400" rIns="25400" bIns="25400" rtlCol="0" anchor="t">
            <a:normAutofit fontScale="92500" lnSpcReduction="10000"/>
          </a:bodyPr>
          <a:lstStyle/>
          <a:p>
            <a:pPr marL="0" indent="0" algn="ctr">
              <a:lnSpc>
                <a:spcPct val="87636"/>
              </a:lnSpc>
              <a:buNone/>
            </a:pPr>
            <a:r>
              <a:rPr lang="en-US" sz="2400" dirty="0">
                <a:solidFill>
                  <a:srgbClr val="597EA3"/>
                </a:solidFill>
                <a:latin typeface="Arial" pitchFamily="34" charset="0"/>
                <a:ea typeface="Arial" pitchFamily="34" charset="-122"/>
                <a:cs typeface="Arial" pitchFamily="34" charset="-120"/>
              </a:rPr>
              <a:t>▶</a:t>
            </a:r>
            <a:endParaRPr lang="en-US" sz="2400" dirty="0"/>
          </a:p>
        </p:txBody>
      </p:sp>
      <p:sp>
        <p:nvSpPr>
          <p:cNvPr id="90" name="Text 88"/>
          <p:cNvSpPr/>
          <p:nvPr/>
        </p:nvSpPr>
        <p:spPr>
          <a:xfrm>
            <a:off x="10728534" y="4644539"/>
            <a:ext cx="443364" cy="392357"/>
          </a:xfrm>
          <a:prstGeom prst="rect">
            <a:avLst/>
          </a:prstGeom>
          <a:noFill/>
          <a:ln/>
        </p:spPr>
        <p:txBody>
          <a:bodyPr wrap="none" lIns="25400" tIns="25400" rIns="25400" bIns="25400" rtlCol="0" anchor="t">
            <a:normAutofit/>
          </a:bodyPr>
          <a:lstStyle/>
          <a:p>
            <a:pPr marL="0" indent="0" algn="ctr">
              <a:lnSpc>
                <a:spcPct val="133608"/>
              </a:lnSpc>
              <a:buNone/>
            </a:pPr>
            <a:r>
              <a:rPr lang="en-US" sz="1800" kern="0" spc="180" dirty="0">
                <a:solidFill>
                  <a:srgbClr val="416180"/>
                </a:solidFill>
                <a:latin typeface="Arial" pitchFamily="34" charset="0"/>
                <a:ea typeface="Arial" pitchFamily="34" charset="-122"/>
                <a:cs typeface="Arial" pitchFamily="34" charset="-120"/>
              </a:rPr>
              <a:t>RAG</a:t>
            </a:r>
            <a:endParaRPr lang="en-US" sz="1800" dirty="0"/>
          </a:p>
        </p:txBody>
      </p:sp>
      <p:sp>
        <p:nvSpPr>
          <p:cNvPr id="91" name="Text 89"/>
          <p:cNvSpPr/>
          <p:nvPr/>
        </p:nvSpPr>
        <p:spPr>
          <a:xfrm>
            <a:off x="10400429" y="5322621"/>
            <a:ext cx="1099640" cy="342904"/>
          </a:xfrm>
          <a:prstGeom prst="rect">
            <a:avLst/>
          </a:prstGeom>
          <a:noFill/>
          <a:ln/>
        </p:spPr>
        <p:txBody>
          <a:bodyPr wrap="square" lIns="25400" tIns="25400" rIns="25400" bIns="25400" rtlCol="0" anchor="t">
            <a:normAutofit fontScale="92500" lnSpcReduction="10000"/>
          </a:bodyPr>
          <a:lstStyle/>
          <a:p>
            <a:pPr marL="0" indent="0" algn="ctr">
              <a:lnSpc>
                <a:spcPct val="87636"/>
              </a:lnSpc>
              <a:buNone/>
            </a:pPr>
            <a:r>
              <a:rPr lang="en-US" sz="2400" dirty="0">
                <a:solidFill>
                  <a:srgbClr val="597EA3"/>
                </a:solidFill>
                <a:latin typeface="Arial" pitchFamily="34" charset="0"/>
                <a:ea typeface="Arial" pitchFamily="34" charset="-122"/>
                <a:cs typeface="Arial" pitchFamily="34" charset="-120"/>
              </a:rPr>
              <a:t>▶</a:t>
            </a:r>
            <a:endParaRPr lang="en-US" sz="2400" dirty="0"/>
          </a:p>
        </p:txBody>
      </p:sp>
      <p:sp>
        <p:nvSpPr>
          <p:cNvPr id="92" name="Text 90"/>
          <p:cNvSpPr/>
          <p:nvPr/>
        </p:nvSpPr>
        <p:spPr>
          <a:xfrm>
            <a:off x="10400429" y="5684554"/>
            <a:ext cx="1099640" cy="392357"/>
          </a:xfrm>
          <a:prstGeom prst="rect">
            <a:avLst/>
          </a:prstGeom>
          <a:noFill/>
          <a:ln/>
        </p:spPr>
        <p:txBody>
          <a:bodyPr wrap="none" lIns="25400" tIns="25400" rIns="25400" bIns="25400" rtlCol="0" anchor="t">
            <a:normAutofit/>
          </a:bodyPr>
          <a:lstStyle/>
          <a:p>
            <a:pPr marL="0" indent="0" algn="ctr">
              <a:lnSpc>
                <a:spcPct val="133608"/>
              </a:lnSpc>
              <a:buNone/>
            </a:pPr>
            <a:r>
              <a:rPr lang="en-US" sz="1800" kern="0" spc="180" dirty="0">
                <a:solidFill>
                  <a:srgbClr val="416180"/>
                </a:solidFill>
                <a:latin typeface="Arial" pitchFamily="34" charset="0"/>
                <a:ea typeface="Arial" pitchFamily="34" charset="-122"/>
                <a:cs typeface="Arial" pitchFamily="34" charset="-120"/>
              </a:rPr>
              <a:t>INGESTION</a:t>
            </a:r>
            <a:endParaRPr lang="en-US" sz="1800" dirty="0"/>
          </a:p>
        </p:txBody>
      </p:sp>
      <p:sp>
        <p:nvSpPr>
          <p:cNvPr id="93" name="Text 91"/>
          <p:cNvSpPr/>
          <p:nvPr/>
        </p:nvSpPr>
        <p:spPr>
          <a:xfrm>
            <a:off x="10409465" y="6362636"/>
            <a:ext cx="1081570" cy="342904"/>
          </a:xfrm>
          <a:prstGeom prst="rect">
            <a:avLst/>
          </a:prstGeom>
          <a:noFill/>
          <a:ln/>
        </p:spPr>
        <p:txBody>
          <a:bodyPr wrap="square" lIns="25400" tIns="25400" rIns="25400" bIns="25400" rtlCol="0" anchor="t">
            <a:normAutofit fontScale="92500" lnSpcReduction="10000"/>
          </a:bodyPr>
          <a:lstStyle/>
          <a:p>
            <a:pPr marL="0" indent="0" algn="ctr">
              <a:lnSpc>
                <a:spcPct val="87636"/>
              </a:lnSpc>
              <a:buNone/>
            </a:pPr>
            <a:r>
              <a:rPr lang="en-US" sz="2400" dirty="0">
                <a:solidFill>
                  <a:srgbClr val="597EA3"/>
                </a:solidFill>
                <a:latin typeface="Arial" pitchFamily="34" charset="0"/>
                <a:ea typeface="Arial" pitchFamily="34" charset="-122"/>
                <a:cs typeface="Arial" pitchFamily="34" charset="-120"/>
              </a:rPr>
              <a:t>▶</a:t>
            </a:r>
            <a:endParaRPr lang="en-US" sz="2400" dirty="0"/>
          </a:p>
        </p:txBody>
      </p:sp>
      <p:sp>
        <p:nvSpPr>
          <p:cNvPr id="94" name="Text 92"/>
          <p:cNvSpPr/>
          <p:nvPr/>
        </p:nvSpPr>
        <p:spPr>
          <a:xfrm>
            <a:off x="10409465" y="6724569"/>
            <a:ext cx="1081570" cy="392357"/>
          </a:xfrm>
          <a:prstGeom prst="rect">
            <a:avLst/>
          </a:prstGeom>
          <a:noFill/>
          <a:ln/>
        </p:spPr>
        <p:txBody>
          <a:bodyPr wrap="none" lIns="25400" tIns="25400" rIns="25400" bIns="25400" rtlCol="0" anchor="t">
            <a:normAutofit/>
          </a:bodyPr>
          <a:lstStyle/>
          <a:p>
            <a:pPr marL="0" indent="0" algn="ctr">
              <a:lnSpc>
                <a:spcPct val="133608"/>
              </a:lnSpc>
              <a:buNone/>
            </a:pPr>
            <a:r>
              <a:rPr lang="en-US" sz="1800" kern="0" spc="180" dirty="0">
                <a:solidFill>
                  <a:srgbClr val="416180"/>
                </a:solidFill>
                <a:latin typeface="Arial" pitchFamily="34" charset="0"/>
                <a:ea typeface="Arial" pitchFamily="34" charset="-122"/>
                <a:cs typeface="Arial" pitchFamily="34" charset="-120"/>
              </a:rPr>
              <a:t>GRAPH API</a:t>
            </a:r>
            <a:endParaRPr lang="en-US" sz="1800" dirty="0"/>
          </a:p>
        </p:txBody>
      </p:sp>
      <p:sp>
        <p:nvSpPr>
          <p:cNvPr id="95" name="Text 93"/>
          <p:cNvSpPr/>
          <p:nvPr/>
        </p:nvSpPr>
        <p:spPr>
          <a:xfrm>
            <a:off x="11693136" y="1809667"/>
            <a:ext cx="6583811" cy="518096"/>
          </a:xfrm>
          <a:prstGeom prst="rect">
            <a:avLst/>
          </a:prstGeom>
          <a:noFill/>
          <a:ln/>
        </p:spPr>
        <p:txBody>
          <a:bodyPr wrap="square" lIns="25400" tIns="25400" rIns="25400" bIns="25400" rtlCol="0" anchor="t">
            <a:normAutofit lnSpcReduction="10000"/>
          </a:bodyPr>
          <a:lstStyle/>
          <a:p>
            <a:pPr marL="0" indent="0" algn="l">
              <a:lnSpc>
                <a:spcPct val="92017"/>
              </a:lnSpc>
              <a:buNone/>
            </a:pPr>
            <a:r>
              <a:rPr lang="en-US" sz="3600" dirty="0">
                <a:solidFill>
                  <a:srgbClr val="1D2D3D"/>
                </a:solidFill>
                <a:latin typeface="Arial" pitchFamily="34" charset="0"/>
                <a:ea typeface="Arial" pitchFamily="34" charset="-122"/>
                <a:cs typeface="Arial" pitchFamily="34" charset="-120"/>
              </a:rPr>
              <a:t>Platform services</a:t>
            </a:r>
            <a:endParaRPr lang="en-US" sz="3600" dirty="0"/>
          </a:p>
        </p:txBody>
      </p:sp>
      <p:sp>
        <p:nvSpPr>
          <p:cNvPr id="96" name="Shape 94"/>
          <p:cNvSpPr/>
          <p:nvPr/>
        </p:nvSpPr>
        <p:spPr>
          <a:xfrm>
            <a:off x="11693136" y="2384902"/>
            <a:ext cx="5985282" cy="3233081"/>
          </a:xfrm>
          <a:prstGeom prst="rect">
            <a:avLst/>
          </a:prstGeom>
          <a:ln w="8695">
            <a:solidFill>
              <a:srgbClr val="1F1F1F">
                <a:alpha val="16000"/>
              </a:srgbClr>
            </a:solidFill>
            <a:prstDash val="solid"/>
          </a:ln>
        </p:spPr>
        <p:txBody>
          <a:bodyPr/>
          <a:lstStyle/>
          <a:p>
            <a:endParaRPr lang="en-US"/>
          </a:p>
        </p:txBody>
      </p:sp>
      <p:sp>
        <p:nvSpPr>
          <p:cNvPr id="97" name="Text 95"/>
          <p:cNvSpPr/>
          <p:nvPr/>
        </p:nvSpPr>
        <p:spPr>
          <a:xfrm>
            <a:off x="11854200" y="2460236"/>
            <a:ext cx="6229472"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16" dirty="0">
                <a:solidFill>
                  <a:srgbClr val="416180"/>
                </a:solidFill>
                <a:latin typeface="Arial" pitchFamily="34" charset="0"/>
                <a:ea typeface="Arial" pitchFamily="34" charset="-122"/>
                <a:cs typeface="Arial" pitchFamily="34" charset="-120"/>
              </a:rPr>
              <a:t>MICROSOFT AZURE · AI FOUNDRY</a:t>
            </a:r>
            <a:endParaRPr lang="en-US" sz="1800" dirty="0"/>
          </a:p>
        </p:txBody>
      </p:sp>
      <p:sp>
        <p:nvSpPr>
          <p:cNvPr id="98" name="Text 96"/>
          <p:cNvSpPr/>
          <p:nvPr/>
        </p:nvSpPr>
        <p:spPr>
          <a:xfrm>
            <a:off x="11854200" y="2881133"/>
            <a:ext cx="6229472"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1D1F20"/>
                </a:solidFill>
                <a:latin typeface="Arial" pitchFamily="34" charset="0"/>
                <a:ea typeface="Arial" pitchFamily="34" charset="-122"/>
                <a:cs typeface="Arial" pitchFamily="34" charset="-120"/>
              </a:rPr>
              <a:t>Model deployments</a:t>
            </a:r>
            <a:endParaRPr lang="en-US" sz="1875" dirty="0"/>
          </a:p>
        </p:txBody>
      </p:sp>
      <p:sp>
        <p:nvSpPr>
          <p:cNvPr id="99" name="Text 97"/>
          <p:cNvSpPr/>
          <p:nvPr/>
        </p:nvSpPr>
        <p:spPr>
          <a:xfrm>
            <a:off x="11854200" y="3250132"/>
            <a:ext cx="6229472"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GPT-5.4 · embeddings</a:t>
            </a:r>
            <a:endParaRPr lang="en-US" sz="1800" dirty="0"/>
          </a:p>
        </p:txBody>
      </p:sp>
      <p:sp>
        <p:nvSpPr>
          <p:cNvPr id="100" name="Text 98"/>
          <p:cNvSpPr/>
          <p:nvPr/>
        </p:nvSpPr>
        <p:spPr>
          <a:xfrm>
            <a:off x="11854200" y="3671029"/>
            <a:ext cx="6229472"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1D1F20"/>
                </a:solidFill>
                <a:latin typeface="Arial" pitchFamily="34" charset="0"/>
                <a:ea typeface="Arial" pitchFamily="34" charset="-122"/>
                <a:cs typeface="Arial" pitchFamily="34" charset="-120"/>
              </a:rPr>
              <a:t>Indexer &amp; skillset</a:t>
            </a:r>
            <a:endParaRPr lang="en-US" sz="1875" dirty="0"/>
          </a:p>
        </p:txBody>
      </p:sp>
      <p:sp>
        <p:nvSpPr>
          <p:cNvPr id="101" name="Text 99"/>
          <p:cNvSpPr/>
          <p:nvPr/>
        </p:nvSpPr>
        <p:spPr>
          <a:xfrm>
            <a:off x="11854200" y="4040027"/>
            <a:ext cx="6229472"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2F7A52"/>
                </a:solidFill>
                <a:latin typeface="Arial" pitchFamily="34" charset="0"/>
                <a:ea typeface="Arial" pitchFamily="34" charset="-122"/>
                <a:cs typeface="Arial" pitchFamily="34" charset="-120"/>
              </a:rPr>
              <a:t>Separate Indexers for Blob &amp; SharePoint</a:t>
            </a:r>
            <a:endParaRPr lang="en-US" sz="1800" dirty="0"/>
          </a:p>
        </p:txBody>
      </p:sp>
      <p:sp>
        <p:nvSpPr>
          <p:cNvPr id="102" name="Text 100"/>
          <p:cNvSpPr/>
          <p:nvPr/>
        </p:nvSpPr>
        <p:spPr>
          <a:xfrm>
            <a:off x="11854200" y="4460923"/>
            <a:ext cx="5768577"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1D1F20"/>
                </a:solidFill>
                <a:latin typeface="Arial" pitchFamily="34" charset="0"/>
                <a:ea typeface="Arial" pitchFamily="34" charset="-122"/>
                <a:cs typeface="Arial" pitchFamily="34" charset="-120"/>
              </a:rPr>
              <a:t>Search indexes</a:t>
            </a:r>
            <a:endParaRPr lang="en-US" sz="1875" dirty="0"/>
          </a:p>
        </p:txBody>
      </p:sp>
      <p:sp>
        <p:nvSpPr>
          <p:cNvPr id="103" name="Text 101"/>
          <p:cNvSpPr/>
          <p:nvPr/>
        </p:nvSpPr>
        <p:spPr>
          <a:xfrm>
            <a:off x="11854200" y="4867963"/>
            <a:ext cx="5768577"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C8651B"/>
                </a:solidFill>
                <a:latin typeface="Arial" pitchFamily="34" charset="0"/>
                <a:ea typeface="Arial" pitchFamily="34" charset="-122"/>
                <a:cs typeface="Arial" pitchFamily="34" charset="-120"/>
              </a:rPr>
              <a:t>Gap 5 — vector storage growth still open</a:t>
            </a:r>
            <a:endParaRPr lang="en-US" sz="1800" dirty="0"/>
          </a:p>
        </p:txBody>
      </p:sp>
      <p:sp>
        <p:nvSpPr>
          <p:cNvPr id="104" name="Shape 102"/>
          <p:cNvSpPr/>
          <p:nvPr/>
        </p:nvSpPr>
        <p:spPr>
          <a:xfrm>
            <a:off x="17212620" y="4460923"/>
            <a:ext cx="304736" cy="304736"/>
          </a:xfrm>
          <a:prstGeom prst="rect">
            <a:avLst/>
          </a:prstGeom>
          <a:solidFill>
            <a:srgbClr val="C8651B"/>
          </a:solidFill>
          <a:ln/>
        </p:spPr>
        <p:txBody>
          <a:bodyPr/>
          <a:lstStyle/>
          <a:p>
            <a:endParaRPr lang="en-US"/>
          </a:p>
        </p:txBody>
      </p:sp>
      <p:sp>
        <p:nvSpPr>
          <p:cNvPr id="105" name="Text 103"/>
          <p:cNvSpPr/>
          <p:nvPr/>
        </p:nvSpPr>
        <p:spPr>
          <a:xfrm>
            <a:off x="17174520" y="4460923"/>
            <a:ext cx="380936" cy="342836"/>
          </a:xfrm>
          <a:prstGeom prst="rect">
            <a:avLst/>
          </a:prstGeom>
          <a:noFill/>
          <a:ln/>
        </p:spPr>
        <p:txBody>
          <a:bodyPr wrap="square" lIns="25400" tIns="25400" rIns="25400" bIns="25400" rtlCol="0" anchor="ctr">
            <a:normAutofit lnSpcReduction="10000"/>
          </a:bodyPr>
          <a:lstStyle/>
          <a:p>
            <a:pPr marL="0" indent="0" algn="ctr">
              <a:lnSpc>
                <a:spcPct val="133410"/>
              </a:lnSpc>
              <a:buNone/>
            </a:pPr>
            <a:r>
              <a:rPr lang="en-US" sz="1650" dirty="0">
                <a:solidFill>
                  <a:srgbClr val="F2F2F3"/>
                </a:solidFill>
                <a:latin typeface="Arial" pitchFamily="34" charset="0"/>
                <a:ea typeface="Arial" pitchFamily="34" charset="-122"/>
                <a:cs typeface="Arial" pitchFamily="34" charset="-120"/>
              </a:rPr>
              <a:t>5</a:t>
            </a:r>
            <a:endParaRPr lang="en-US" sz="1650" dirty="0"/>
          </a:p>
        </p:txBody>
      </p:sp>
      <p:sp>
        <p:nvSpPr>
          <p:cNvPr id="106" name="Shape 104"/>
          <p:cNvSpPr/>
          <p:nvPr/>
        </p:nvSpPr>
        <p:spPr>
          <a:xfrm>
            <a:off x="11693136" y="5713221"/>
            <a:ext cx="5985282" cy="1677610"/>
          </a:xfrm>
          <a:prstGeom prst="rect">
            <a:avLst/>
          </a:prstGeom>
          <a:ln w="8695">
            <a:solidFill>
              <a:srgbClr val="1F1F1F">
                <a:alpha val="16000"/>
              </a:srgbClr>
            </a:solidFill>
            <a:prstDash val="solid"/>
          </a:ln>
        </p:spPr>
        <p:txBody>
          <a:bodyPr/>
          <a:lstStyle/>
          <a:p>
            <a:endParaRPr lang="en-US"/>
          </a:p>
        </p:txBody>
      </p:sp>
      <p:sp>
        <p:nvSpPr>
          <p:cNvPr id="107" name="Text 105"/>
          <p:cNvSpPr/>
          <p:nvPr/>
        </p:nvSpPr>
        <p:spPr>
          <a:xfrm>
            <a:off x="11854200" y="5788556"/>
            <a:ext cx="6229472"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16" dirty="0">
                <a:solidFill>
                  <a:srgbClr val="416180"/>
                </a:solidFill>
                <a:latin typeface="Arial" pitchFamily="34" charset="0"/>
                <a:ea typeface="Arial" pitchFamily="34" charset="-122"/>
                <a:cs typeface="Arial" pitchFamily="34" charset="-120"/>
              </a:rPr>
              <a:t>MICROSOFT AZURE · STORAGE</a:t>
            </a:r>
            <a:endParaRPr lang="en-US" sz="1800" dirty="0"/>
          </a:p>
        </p:txBody>
      </p:sp>
      <p:sp>
        <p:nvSpPr>
          <p:cNvPr id="108" name="Text 106"/>
          <p:cNvSpPr/>
          <p:nvPr/>
        </p:nvSpPr>
        <p:spPr>
          <a:xfrm>
            <a:off x="11854200" y="6199942"/>
            <a:ext cx="6229472"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1D1F20"/>
                </a:solidFill>
                <a:latin typeface="Arial" pitchFamily="34" charset="0"/>
                <a:ea typeface="Arial" pitchFamily="34" charset="-122"/>
                <a:cs typeface="Arial" pitchFamily="34" charset="-120"/>
              </a:rPr>
              <a:t>Azure Blob Storage</a:t>
            </a:r>
            <a:endParaRPr lang="en-US" sz="1875" dirty="0"/>
          </a:p>
        </p:txBody>
      </p:sp>
      <p:sp>
        <p:nvSpPr>
          <p:cNvPr id="109" name="Text 107"/>
          <p:cNvSpPr/>
          <p:nvPr/>
        </p:nvSpPr>
        <p:spPr>
          <a:xfrm>
            <a:off x="11854200" y="6568941"/>
            <a:ext cx="6229472"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5D5D60"/>
                </a:solidFill>
                <a:latin typeface="Arial" pitchFamily="34" charset="0"/>
                <a:ea typeface="Arial" pitchFamily="34" charset="-122"/>
                <a:cs typeface="Arial" pitchFamily="34" charset="-120"/>
              </a:rPr>
              <a:t>Live uploads + enterprise corpus</a:t>
            </a:r>
            <a:endParaRPr lang="en-US" sz="1800" dirty="0"/>
          </a:p>
        </p:txBody>
      </p:sp>
      <p:sp>
        <p:nvSpPr>
          <p:cNvPr id="110" name="Text 108"/>
          <p:cNvSpPr/>
          <p:nvPr/>
        </p:nvSpPr>
        <p:spPr>
          <a:xfrm>
            <a:off x="11854200" y="6961239"/>
            <a:ext cx="6229472"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2F7A52"/>
                </a:solidFill>
                <a:latin typeface="Arial" pitchFamily="34" charset="0"/>
                <a:ea typeface="Arial" pitchFamily="34" charset="-122"/>
                <a:cs typeface="Arial" pitchFamily="34" charset="-120"/>
              </a:rPr>
              <a:t>Hot → Cool → Cold → Archive → deleted at day 330</a:t>
            </a:r>
            <a:endParaRPr lang="en-US" sz="1800" dirty="0"/>
          </a:p>
        </p:txBody>
      </p:sp>
      <p:sp>
        <p:nvSpPr>
          <p:cNvPr id="111" name="Shape 109"/>
          <p:cNvSpPr/>
          <p:nvPr/>
        </p:nvSpPr>
        <p:spPr>
          <a:xfrm>
            <a:off x="11693136" y="7486069"/>
            <a:ext cx="5985282" cy="2065696"/>
          </a:xfrm>
          <a:prstGeom prst="rect">
            <a:avLst/>
          </a:prstGeom>
          <a:ln w="8695">
            <a:solidFill>
              <a:srgbClr val="1F1F1F">
                <a:alpha val="16000"/>
              </a:srgbClr>
            </a:solidFill>
            <a:prstDash val="solid"/>
          </a:ln>
        </p:spPr>
        <p:txBody>
          <a:bodyPr/>
          <a:lstStyle/>
          <a:p>
            <a:endParaRPr lang="en-US"/>
          </a:p>
        </p:txBody>
      </p:sp>
      <p:sp>
        <p:nvSpPr>
          <p:cNvPr id="112" name="Text 110"/>
          <p:cNvSpPr/>
          <p:nvPr/>
        </p:nvSpPr>
        <p:spPr>
          <a:xfrm>
            <a:off x="11854200" y="7561404"/>
            <a:ext cx="6229472"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16" dirty="0">
                <a:solidFill>
                  <a:srgbClr val="416180"/>
                </a:solidFill>
                <a:latin typeface="Arial" pitchFamily="34" charset="0"/>
                <a:ea typeface="Arial" pitchFamily="34" charset="-122"/>
                <a:cs typeface="Arial" pitchFamily="34" charset="-120"/>
              </a:rPr>
              <a:t>MICROSOFT 365</a:t>
            </a:r>
            <a:endParaRPr lang="en-US" sz="1800" dirty="0"/>
          </a:p>
        </p:txBody>
      </p:sp>
      <p:sp>
        <p:nvSpPr>
          <p:cNvPr id="113" name="Text 111"/>
          <p:cNvSpPr/>
          <p:nvPr/>
        </p:nvSpPr>
        <p:spPr>
          <a:xfrm>
            <a:off x="11854200" y="7972791"/>
            <a:ext cx="6229472"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1D1F20"/>
                </a:solidFill>
                <a:latin typeface="Arial" pitchFamily="34" charset="0"/>
                <a:ea typeface="Arial" pitchFamily="34" charset="-122"/>
                <a:cs typeface="Arial" pitchFamily="34" charset="-120"/>
              </a:rPr>
              <a:t>SharePoint</a:t>
            </a:r>
            <a:endParaRPr lang="en-US" sz="1875" dirty="0"/>
          </a:p>
        </p:txBody>
      </p:sp>
      <p:sp>
        <p:nvSpPr>
          <p:cNvPr id="114" name="Text 112"/>
          <p:cNvSpPr/>
          <p:nvPr/>
        </p:nvSpPr>
        <p:spPr>
          <a:xfrm>
            <a:off x="11854200" y="8341789"/>
            <a:ext cx="6229472"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2F7A52"/>
                </a:solidFill>
                <a:latin typeface="Arial" pitchFamily="34" charset="0"/>
                <a:ea typeface="Arial" pitchFamily="34" charset="-122"/>
                <a:cs typeface="Arial" pitchFamily="34" charset="-120"/>
              </a:rPr>
              <a:t>System of record — indexed in place, no copy</a:t>
            </a:r>
            <a:endParaRPr lang="en-US" sz="1800" dirty="0"/>
          </a:p>
        </p:txBody>
      </p:sp>
      <p:sp>
        <p:nvSpPr>
          <p:cNvPr id="115" name="Text 113"/>
          <p:cNvSpPr/>
          <p:nvPr/>
        </p:nvSpPr>
        <p:spPr>
          <a:xfrm>
            <a:off x="11854200" y="8753176"/>
            <a:ext cx="6229472" cy="407098"/>
          </a:xfrm>
          <a:prstGeom prst="rect">
            <a:avLst/>
          </a:prstGeom>
          <a:noFill/>
          <a:ln/>
        </p:spPr>
        <p:txBody>
          <a:bodyPr wrap="square" lIns="25400" tIns="25400" rIns="25400" bIns="25400" rtlCol="0" anchor="t">
            <a:normAutofit/>
          </a:bodyPr>
          <a:lstStyle/>
          <a:p>
            <a:pPr marL="0" indent="0" algn="l">
              <a:lnSpc>
                <a:spcPct val="132652"/>
              </a:lnSpc>
              <a:buNone/>
            </a:pPr>
            <a:r>
              <a:rPr lang="en-US" sz="1875" dirty="0">
                <a:solidFill>
                  <a:srgbClr val="1D1F20"/>
                </a:solidFill>
                <a:latin typeface="Arial" pitchFamily="34" charset="0"/>
                <a:ea typeface="Arial" pitchFamily="34" charset="-122"/>
                <a:cs typeface="Arial" pitchFamily="34" charset="-120"/>
              </a:rPr>
              <a:t>MS Teams</a:t>
            </a:r>
            <a:endParaRPr lang="en-US" sz="1875" dirty="0"/>
          </a:p>
        </p:txBody>
      </p:sp>
      <p:sp>
        <p:nvSpPr>
          <p:cNvPr id="116" name="Text 114"/>
          <p:cNvSpPr/>
          <p:nvPr/>
        </p:nvSpPr>
        <p:spPr>
          <a:xfrm>
            <a:off x="11854200" y="9122174"/>
            <a:ext cx="6229472"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dirty="0">
                <a:solidFill>
                  <a:srgbClr val="2F7A52"/>
                </a:solidFill>
                <a:latin typeface="Arial" pitchFamily="34" charset="0"/>
                <a:ea typeface="Arial" pitchFamily="34" charset="-122"/>
                <a:cs typeface="Arial" pitchFamily="34" charset="-120"/>
              </a:rPr>
              <a:t>Teams, members, projects and shared files</a:t>
            </a:r>
            <a:endParaRPr lang="en-US" sz="1800" dirty="0"/>
          </a:p>
        </p:txBody>
      </p:sp>
      <p:sp>
        <p:nvSpPr>
          <p:cNvPr id="117" name="Shape 115"/>
          <p:cNvSpPr/>
          <p:nvPr/>
        </p:nvSpPr>
        <p:spPr>
          <a:xfrm>
            <a:off x="609540" y="9647004"/>
            <a:ext cx="17068879" cy="487605"/>
          </a:xfrm>
          <a:prstGeom prst="rect">
            <a:avLst/>
          </a:prstGeom>
          <a:solidFill>
            <a:srgbClr val="1D2D3D"/>
          </a:solidFill>
          <a:ln/>
        </p:spPr>
        <p:txBody>
          <a:bodyPr/>
          <a:lstStyle/>
          <a:p>
            <a:endParaRPr lang="en-US"/>
          </a:p>
        </p:txBody>
      </p:sp>
      <p:sp>
        <p:nvSpPr>
          <p:cNvPr id="118" name="Text 116"/>
          <p:cNvSpPr/>
          <p:nvPr/>
        </p:nvSpPr>
        <p:spPr>
          <a:xfrm>
            <a:off x="819090" y="9742254"/>
            <a:ext cx="17161845" cy="335205"/>
          </a:xfrm>
          <a:prstGeom prst="rect">
            <a:avLst/>
          </a:prstGeom>
          <a:noFill/>
          <a:ln/>
        </p:spPr>
        <p:txBody>
          <a:bodyPr wrap="square" lIns="25400" tIns="25400" rIns="25400" bIns="25400" rtlCol="0" anchor="t">
            <a:normAutofit lnSpcReduction="10000"/>
          </a:bodyPr>
          <a:lstStyle/>
          <a:p>
            <a:pPr marL="0" indent="0" algn="l">
              <a:lnSpc>
                <a:spcPct val="112059"/>
              </a:lnSpc>
              <a:buNone/>
            </a:pPr>
            <a:r>
              <a:rPr lang="en-US" sz="1800" dirty="0">
                <a:solidFill>
                  <a:srgbClr val="F2F2F3"/>
                </a:solidFill>
                <a:latin typeface="Arial" pitchFamily="34" charset="0"/>
                <a:ea typeface="Arial" pitchFamily="34" charset="-122"/>
                <a:cs typeface="Arial" pitchFamily="34" charset="-120"/>
              </a:rPr>
              <a:t>One system of record, one retention clock on Blob, and an application that does only what it was built to do.</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D2D3D"/>
        </a:solidFill>
        <a:effectLst/>
      </p:bgPr>
    </p:bg>
    <p:spTree>
      <p:nvGrpSpPr>
        <p:cNvPr id="1" name=""/>
        <p:cNvGrpSpPr/>
        <p:nvPr/>
      </p:nvGrpSpPr>
      <p:grpSpPr>
        <a:xfrm>
          <a:off x="0" y="0"/>
          <a:ext cx="0" cy="0"/>
          <a:chOff x="0" y="0"/>
          <a:chExt cx="0" cy="0"/>
        </a:xfrm>
      </p:grpSpPr>
      <p:sp>
        <p:nvSpPr>
          <p:cNvPr id="2" name="Text 0"/>
          <p:cNvSpPr/>
          <p:nvPr/>
        </p:nvSpPr>
        <p:spPr>
          <a:xfrm>
            <a:off x="685758" y="533390"/>
            <a:ext cx="6209894"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88" dirty="0">
                <a:solidFill>
                  <a:srgbClr val="B5D9FD"/>
                </a:solidFill>
                <a:latin typeface="Arial" pitchFamily="34" charset="0"/>
                <a:ea typeface="Arial" pitchFamily="34" charset="-122"/>
                <a:cs typeface="Arial" pitchFamily="34" charset="-120"/>
              </a:rPr>
              <a:t>NEXT STEPS · SEQUENCING</a:t>
            </a:r>
            <a:endParaRPr lang="en-US" sz="1800" dirty="0"/>
          </a:p>
        </p:txBody>
      </p:sp>
      <p:sp>
        <p:nvSpPr>
          <p:cNvPr id="3" name="Text 1"/>
          <p:cNvSpPr/>
          <p:nvPr/>
        </p:nvSpPr>
        <p:spPr>
          <a:xfrm>
            <a:off x="685758" y="963797"/>
            <a:ext cx="6209894" cy="705245"/>
          </a:xfrm>
          <a:prstGeom prst="rect">
            <a:avLst/>
          </a:prstGeom>
          <a:noFill/>
          <a:ln/>
        </p:spPr>
        <p:txBody>
          <a:bodyPr wrap="square" lIns="25400" tIns="25400" rIns="25400" bIns="25400" rtlCol="0" anchor="t">
            <a:normAutofit fontScale="77500" lnSpcReduction="20000"/>
          </a:bodyPr>
          <a:lstStyle/>
          <a:p>
            <a:pPr marL="0" indent="0" algn="l">
              <a:lnSpc>
                <a:spcPct val="89215"/>
              </a:lnSpc>
              <a:buNone/>
            </a:pPr>
            <a:r>
              <a:rPr lang="en-US" sz="5100" dirty="0">
                <a:solidFill>
                  <a:srgbClr val="F2F2F3"/>
                </a:solidFill>
                <a:latin typeface="Arial" pitchFamily="34" charset="0"/>
                <a:ea typeface="Arial" pitchFamily="34" charset="-122"/>
                <a:cs typeface="Arial" pitchFamily="34" charset="-120"/>
              </a:rPr>
              <a:t>What we do first, and why</a:t>
            </a:r>
            <a:endParaRPr lang="en-US" sz="5100" dirty="0"/>
          </a:p>
        </p:txBody>
      </p:sp>
      <p:sp>
        <p:nvSpPr>
          <p:cNvPr id="4" name="Text 2"/>
          <p:cNvSpPr/>
          <p:nvPr/>
        </p:nvSpPr>
        <p:spPr>
          <a:xfrm>
            <a:off x="13997432" y="918623"/>
            <a:ext cx="3604769" cy="655169"/>
          </a:xfrm>
          <a:prstGeom prst="rect">
            <a:avLst/>
          </a:prstGeom>
          <a:noFill/>
          <a:ln/>
        </p:spPr>
        <p:txBody>
          <a:bodyPr wrap="square" lIns="25400" tIns="25400" rIns="25400" bIns="25400" rtlCol="0" anchor="t">
            <a:normAutofit lnSpcReduction="10000"/>
          </a:bodyPr>
          <a:lstStyle/>
          <a:p>
            <a:pPr marL="0" indent="0" algn="r">
              <a:lnSpc>
                <a:spcPct val="116369"/>
              </a:lnSpc>
              <a:buNone/>
            </a:pPr>
            <a:r>
              <a:rPr lang="en-US" sz="1800" dirty="0">
                <a:solidFill>
                  <a:srgbClr val="B5D9FD"/>
                </a:solidFill>
                <a:latin typeface="Arial" pitchFamily="34" charset="0"/>
                <a:ea typeface="Arial" pitchFamily="34" charset="-122"/>
                <a:cs typeface="Arial" pitchFamily="34" charset="-120"/>
              </a:rPr>
              <a:t>All three approved together. The order is what changes the cost.</a:t>
            </a:r>
            <a:endParaRPr lang="en-US" sz="1800" dirty="0"/>
          </a:p>
        </p:txBody>
      </p:sp>
      <p:sp>
        <p:nvSpPr>
          <p:cNvPr id="5" name="Shape 3"/>
          <p:cNvSpPr/>
          <p:nvPr/>
        </p:nvSpPr>
        <p:spPr>
          <a:xfrm>
            <a:off x="685758" y="4207679"/>
            <a:ext cx="16916443" cy="9525"/>
          </a:xfrm>
          <a:prstGeom prst="rect">
            <a:avLst/>
          </a:prstGeom>
          <a:solidFill>
            <a:srgbClr val="416180"/>
          </a:solidFill>
          <a:ln/>
        </p:spPr>
        <p:txBody>
          <a:bodyPr/>
          <a:lstStyle/>
          <a:p>
            <a:endParaRPr lang="en-US"/>
          </a:p>
        </p:txBody>
      </p:sp>
      <p:sp>
        <p:nvSpPr>
          <p:cNvPr id="6" name="Text 4"/>
          <p:cNvSpPr/>
          <p:nvPr/>
        </p:nvSpPr>
        <p:spPr>
          <a:xfrm>
            <a:off x="685758" y="2297611"/>
            <a:ext cx="3143243"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88" dirty="0">
                <a:solidFill>
                  <a:srgbClr val="B5D9FD"/>
                </a:solidFill>
                <a:latin typeface="Arial" pitchFamily="34" charset="0"/>
                <a:ea typeface="Arial" pitchFamily="34" charset="-122"/>
                <a:cs typeface="Arial" pitchFamily="34" charset="-120"/>
              </a:rPr>
              <a:t>PRIORITY 1</a:t>
            </a:r>
            <a:endParaRPr lang="en-US" sz="1800" dirty="0"/>
          </a:p>
        </p:txBody>
      </p:sp>
      <p:sp>
        <p:nvSpPr>
          <p:cNvPr id="7" name="Text 5"/>
          <p:cNvSpPr/>
          <p:nvPr/>
        </p:nvSpPr>
        <p:spPr>
          <a:xfrm>
            <a:off x="685758" y="2708998"/>
            <a:ext cx="3143243" cy="478153"/>
          </a:xfrm>
          <a:prstGeom prst="rect">
            <a:avLst/>
          </a:prstGeom>
          <a:noFill/>
          <a:ln/>
        </p:spPr>
        <p:txBody>
          <a:bodyPr wrap="square" lIns="25400" tIns="25400" rIns="25400" bIns="25400" rtlCol="0" anchor="t">
            <a:normAutofit lnSpcReduction="10000"/>
          </a:bodyPr>
          <a:lstStyle/>
          <a:p>
            <a:pPr marL="0" indent="0" algn="l">
              <a:lnSpc>
                <a:spcPct val="92017"/>
              </a:lnSpc>
              <a:buNone/>
            </a:pPr>
            <a:r>
              <a:rPr lang="en-US" sz="3300" dirty="0">
                <a:solidFill>
                  <a:srgbClr val="F2F2F3"/>
                </a:solidFill>
                <a:latin typeface="Arial" pitchFamily="34" charset="0"/>
                <a:ea typeface="Arial" pitchFamily="34" charset="-122"/>
                <a:cs typeface="Arial" pitchFamily="34" charset="-120"/>
              </a:rPr>
              <a:t>Solution 1</a:t>
            </a:r>
            <a:endParaRPr lang="en-US" sz="3300" dirty="0"/>
          </a:p>
        </p:txBody>
      </p:sp>
      <p:sp>
        <p:nvSpPr>
          <p:cNvPr id="8" name="Text 6"/>
          <p:cNvSpPr/>
          <p:nvPr/>
        </p:nvSpPr>
        <p:spPr>
          <a:xfrm>
            <a:off x="4000423" y="2306917"/>
            <a:ext cx="11665754" cy="410495"/>
          </a:xfrm>
          <a:prstGeom prst="rect">
            <a:avLst/>
          </a:prstGeom>
          <a:noFill/>
          <a:ln/>
        </p:spPr>
        <p:txBody>
          <a:bodyPr wrap="square" lIns="25400" tIns="25400" rIns="25400" bIns="25400" rtlCol="0" anchor="t">
            <a:normAutofit lnSpcReduction="10000"/>
          </a:bodyPr>
          <a:lstStyle/>
          <a:p>
            <a:pPr marL="0" indent="0" algn="l">
              <a:lnSpc>
                <a:spcPct val="100781"/>
              </a:lnSpc>
              <a:buNone/>
            </a:pPr>
            <a:r>
              <a:rPr lang="en-US" sz="2550" dirty="0">
                <a:solidFill>
                  <a:srgbClr val="F2F2F3"/>
                </a:solidFill>
                <a:latin typeface="Arial" pitchFamily="34" charset="0"/>
                <a:ea typeface="Arial" pitchFamily="34" charset="-122"/>
                <a:cs typeface="Arial" pitchFamily="34" charset="-120"/>
              </a:rPr>
              <a:t>Integrate with Microsoft Teams via MS Graph API</a:t>
            </a:r>
            <a:endParaRPr lang="en-US" sz="2550" dirty="0"/>
          </a:p>
        </p:txBody>
      </p:sp>
      <p:sp>
        <p:nvSpPr>
          <p:cNvPr id="9" name="Shape 7"/>
          <p:cNvSpPr/>
          <p:nvPr/>
        </p:nvSpPr>
        <p:spPr>
          <a:xfrm>
            <a:off x="13997432" y="2297611"/>
            <a:ext cx="3604769" cy="468516"/>
          </a:xfrm>
          <a:prstGeom prst="rect">
            <a:avLst/>
          </a:prstGeom>
          <a:solidFill>
            <a:srgbClr val="C8651B"/>
          </a:solidFill>
          <a:ln/>
        </p:spPr>
        <p:txBody>
          <a:bodyPr/>
          <a:lstStyle/>
          <a:p>
            <a:endParaRPr lang="en-US" sz="2400"/>
          </a:p>
        </p:txBody>
      </p:sp>
      <p:sp>
        <p:nvSpPr>
          <p:cNvPr id="10" name="Text 8"/>
          <p:cNvSpPr/>
          <p:nvPr/>
        </p:nvSpPr>
        <p:spPr>
          <a:xfrm>
            <a:off x="14180990" y="2354761"/>
            <a:ext cx="3372615" cy="392316"/>
          </a:xfrm>
          <a:prstGeom prst="rect">
            <a:avLst/>
          </a:prstGeom>
          <a:noFill/>
          <a:ln/>
        </p:spPr>
        <p:txBody>
          <a:bodyPr wrap="none" lIns="25400" tIns="25400" rIns="25400" bIns="25400" rtlCol="0" anchor="t">
            <a:normAutofit/>
          </a:bodyPr>
          <a:lstStyle/>
          <a:p>
            <a:pPr marL="0" indent="0" algn="l">
              <a:lnSpc>
                <a:spcPct val="133608"/>
              </a:lnSpc>
              <a:buNone/>
            </a:pPr>
            <a:r>
              <a:rPr lang="en-US" sz="1600" kern="0" spc="144" dirty="0">
                <a:solidFill>
                  <a:srgbClr val="F2F2F3"/>
                </a:solidFill>
                <a:latin typeface="Arial" pitchFamily="34" charset="0"/>
                <a:ea typeface="Arial" pitchFamily="34" charset="-122"/>
                <a:cs typeface="Arial" pitchFamily="34" charset="-120"/>
              </a:rPr>
              <a:t>IRREVERSIBLE IF DEFERRED</a:t>
            </a:r>
            <a:endParaRPr lang="en-US" sz="1600" dirty="0"/>
          </a:p>
        </p:txBody>
      </p:sp>
      <p:sp>
        <p:nvSpPr>
          <p:cNvPr id="11" name="Text 9"/>
          <p:cNvSpPr/>
          <p:nvPr/>
        </p:nvSpPr>
        <p:spPr>
          <a:xfrm>
            <a:off x="4000423" y="2880386"/>
            <a:ext cx="11969065" cy="1079677"/>
          </a:xfrm>
          <a:prstGeom prst="rect">
            <a:avLst/>
          </a:prstGeom>
          <a:noFill/>
          <a:ln/>
        </p:spPr>
        <p:txBody>
          <a:bodyPr wrap="square" lIns="25400" tIns="25400" rIns="25400" bIns="25400" rtlCol="0" anchor="t">
            <a:normAutofit lnSpcReduction="10000"/>
          </a:bodyPr>
          <a:lstStyle/>
          <a:p>
            <a:pPr marL="0" indent="0" algn="l">
              <a:lnSpc>
                <a:spcPct val="115736"/>
              </a:lnSpc>
              <a:buNone/>
            </a:pPr>
            <a:r>
              <a:rPr lang="en-US" sz="2025" dirty="0">
                <a:solidFill>
                  <a:srgbClr val="D6EBFF"/>
                </a:solidFill>
                <a:latin typeface="Arial" pitchFamily="34" charset="0"/>
                <a:ea typeface="Arial" pitchFamily="34" charset="-122"/>
                <a:cs typeface="Arial" pitchFamily="34" charset="-120"/>
              </a:rPr>
              <a:t>This one closes behind us. Once users start creating teams, adding members and managing projects in our parallel system, migrating to MS Teams costs more and asks them to abandon more of their existing work — until it is no longer viable at all.</a:t>
            </a:r>
            <a:endParaRPr lang="en-US" sz="2025" dirty="0"/>
          </a:p>
        </p:txBody>
      </p:sp>
      <p:sp>
        <p:nvSpPr>
          <p:cNvPr id="12" name="Shape 10"/>
          <p:cNvSpPr/>
          <p:nvPr/>
        </p:nvSpPr>
        <p:spPr>
          <a:xfrm>
            <a:off x="685758" y="7183915"/>
            <a:ext cx="16916443" cy="9525"/>
          </a:xfrm>
          <a:prstGeom prst="rect">
            <a:avLst/>
          </a:prstGeom>
          <a:solidFill>
            <a:srgbClr val="416180"/>
          </a:solidFill>
          <a:ln/>
        </p:spPr>
        <p:txBody>
          <a:bodyPr/>
          <a:lstStyle/>
          <a:p>
            <a:endParaRPr lang="en-US"/>
          </a:p>
        </p:txBody>
      </p:sp>
      <p:sp>
        <p:nvSpPr>
          <p:cNvPr id="13" name="Text 11"/>
          <p:cNvSpPr/>
          <p:nvPr/>
        </p:nvSpPr>
        <p:spPr>
          <a:xfrm>
            <a:off x="685758" y="4502089"/>
            <a:ext cx="3143243"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88" dirty="0">
                <a:solidFill>
                  <a:srgbClr val="B5D9FD"/>
                </a:solidFill>
                <a:latin typeface="Arial" pitchFamily="34" charset="0"/>
                <a:ea typeface="Arial" pitchFamily="34" charset="-122"/>
                <a:cs typeface="Arial" pitchFamily="34" charset="-120"/>
              </a:rPr>
              <a:t>PRIORITY 2</a:t>
            </a:r>
            <a:endParaRPr lang="en-US" sz="1800" dirty="0"/>
          </a:p>
        </p:txBody>
      </p:sp>
      <p:sp>
        <p:nvSpPr>
          <p:cNvPr id="14" name="Text 12"/>
          <p:cNvSpPr/>
          <p:nvPr/>
        </p:nvSpPr>
        <p:spPr>
          <a:xfrm>
            <a:off x="685758" y="4913476"/>
            <a:ext cx="3143243" cy="478153"/>
          </a:xfrm>
          <a:prstGeom prst="rect">
            <a:avLst/>
          </a:prstGeom>
          <a:noFill/>
          <a:ln/>
        </p:spPr>
        <p:txBody>
          <a:bodyPr wrap="square" lIns="25400" tIns="25400" rIns="25400" bIns="25400" rtlCol="0" anchor="t">
            <a:normAutofit lnSpcReduction="10000"/>
          </a:bodyPr>
          <a:lstStyle/>
          <a:p>
            <a:pPr marL="0" indent="0" algn="l">
              <a:lnSpc>
                <a:spcPct val="92017"/>
              </a:lnSpc>
              <a:buNone/>
            </a:pPr>
            <a:r>
              <a:rPr lang="en-US" sz="3300" dirty="0">
                <a:solidFill>
                  <a:srgbClr val="F2F2F3"/>
                </a:solidFill>
                <a:latin typeface="Arial" pitchFamily="34" charset="0"/>
                <a:ea typeface="Arial" pitchFamily="34" charset="-122"/>
                <a:cs typeface="Arial" pitchFamily="34" charset="-120"/>
              </a:rPr>
              <a:t>Solution 2</a:t>
            </a:r>
            <a:endParaRPr lang="en-US" sz="3300" dirty="0"/>
          </a:p>
        </p:txBody>
      </p:sp>
      <p:sp>
        <p:nvSpPr>
          <p:cNvPr id="15" name="Text 13"/>
          <p:cNvSpPr/>
          <p:nvPr/>
        </p:nvSpPr>
        <p:spPr>
          <a:xfrm>
            <a:off x="4000423" y="4502089"/>
            <a:ext cx="14961956" cy="410495"/>
          </a:xfrm>
          <a:prstGeom prst="rect">
            <a:avLst/>
          </a:prstGeom>
          <a:noFill/>
          <a:ln/>
        </p:spPr>
        <p:txBody>
          <a:bodyPr wrap="square" lIns="25400" tIns="25400" rIns="25400" bIns="25400" rtlCol="0" anchor="t">
            <a:normAutofit lnSpcReduction="10000"/>
          </a:bodyPr>
          <a:lstStyle/>
          <a:p>
            <a:pPr marL="0" indent="0" algn="l">
              <a:lnSpc>
                <a:spcPct val="100781"/>
              </a:lnSpc>
              <a:buNone/>
            </a:pPr>
            <a:r>
              <a:rPr lang="en-US" sz="2550" dirty="0">
                <a:solidFill>
                  <a:srgbClr val="F2F2F3"/>
                </a:solidFill>
                <a:latin typeface="Arial" pitchFamily="34" charset="0"/>
                <a:ea typeface="Arial" pitchFamily="34" charset="-122"/>
                <a:cs typeface="Arial" pitchFamily="34" charset="-120"/>
              </a:rPr>
              <a:t>Index SharePoint directly</a:t>
            </a:r>
            <a:endParaRPr lang="en-US" sz="2550" dirty="0"/>
          </a:p>
        </p:txBody>
      </p:sp>
      <p:sp>
        <p:nvSpPr>
          <p:cNvPr id="16" name="Text 14"/>
          <p:cNvSpPr/>
          <p:nvPr/>
        </p:nvSpPr>
        <p:spPr>
          <a:xfrm>
            <a:off x="4000423" y="4988743"/>
            <a:ext cx="11969065" cy="732485"/>
          </a:xfrm>
          <a:prstGeom prst="rect">
            <a:avLst/>
          </a:prstGeom>
          <a:noFill/>
          <a:ln/>
        </p:spPr>
        <p:txBody>
          <a:bodyPr wrap="square" lIns="25400" tIns="25400" rIns="25400" bIns="25400" rtlCol="0" anchor="t">
            <a:normAutofit lnSpcReduction="10000"/>
          </a:bodyPr>
          <a:lstStyle/>
          <a:p>
            <a:pPr marL="0" indent="0" algn="l">
              <a:lnSpc>
                <a:spcPct val="115736"/>
              </a:lnSpc>
              <a:buNone/>
            </a:pPr>
            <a:r>
              <a:rPr lang="en-US" sz="2025" dirty="0">
                <a:solidFill>
                  <a:srgbClr val="D6EBFF"/>
                </a:solidFill>
                <a:latin typeface="Arial" pitchFamily="34" charset="0"/>
                <a:ea typeface="Arial" pitchFamily="34" charset="-122"/>
                <a:cs typeface="Arial" pitchFamily="34" charset="-120"/>
              </a:rPr>
              <a:t>The largest return for the effort — but reversible, which is why it is not first. The migrate path we run today can be reworked into an index path later with nothing lost.</a:t>
            </a:r>
            <a:endParaRPr lang="en-US" sz="2025" dirty="0"/>
          </a:p>
        </p:txBody>
      </p:sp>
      <p:sp>
        <p:nvSpPr>
          <p:cNvPr id="17" name="Shape 15"/>
          <p:cNvSpPr/>
          <p:nvPr/>
        </p:nvSpPr>
        <p:spPr>
          <a:xfrm>
            <a:off x="4000423" y="5854516"/>
            <a:ext cx="34780" cy="1043683"/>
          </a:xfrm>
          <a:prstGeom prst="rect">
            <a:avLst/>
          </a:prstGeom>
          <a:solidFill>
            <a:srgbClr val="749DC4"/>
          </a:solidFill>
          <a:ln/>
        </p:spPr>
        <p:txBody>
          <a:bodyPr/>
          <a:lstStyle/>
          <a:p>
            <a:endParaRPr lang="en-US"/>
          </a:p>
        </p:txBody>
      </p:sp>
      <p:sp>
        <p:nvSpPr>
          <p:cNvPr id="18" name="Text 16"/>
          <p:cNvSpPr/>
          <p:nvPr/>
        </p:nvSpPr>
        <p:spPr>
          <a:xfrm>
            <a:off x="4187571" y="5873537"/>
            <a:ext cx="7170315"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180" dirty="0">
                <a:solidFill>
                  <a:srgbClr val="B5D9FD"/>
                </a:solidFill>
                <a:latin typeface="Arial" pitchFamily="34" charset="0"/>
                <a:ea typeface="Arial" pitchFamily="34" charset="-122"/>
                <a:cs typeface="Arial" pitchFamily="34" charset="-120"/>
              </a:rPr>
              <a:t>MIGRATE · TODAY</a:t>
            </a:r>
            <a:endParaRPr lang="en-US" sz="1800" dirty="0"/>
          </a:p>
        </p:txBody>
      </p:sp>
      <p:sp>
        <p:nvSpPr>
          <p:cNvPr id="19" name="Text 17"/>
          <p:cNvSpPr/>
          <p:nvPr/>
        </p:nvSpPr>
        <p:spPr>
          <a:xfrm>
            <a:off x="4187571" y="6284923"/>
            <a:ext cx="6714022" cy="632355"/>
          </a:xfrm>
          <a:prstGeom prst="rect">
            <a:avLst/>
          </a:prstGeom>
          <a:noFill/>
          <a:ln/>
        </p:spPr>
        <p:txBody>
          <a:bodyPr wrap="square" lIns="25400" tIns="25400" rIns="25400" bIns="25400" rtlCol="0" anchor="t">
            <a:normAutofit lnSpcReduction="10000"/>
          </a:bodyPr>
          <a:lstStyle/>
          <a:p>
            <a:pPr marL="0" indent="0" algn="l">
              <a:lnSpc>
                <a:spcPct val="112059"/>
              </a:lnSpc>
              <a:buNone/>
            </a:pPr>
            <a:r>
              <a:rPr lang="en-US" sz="1800" dirty="0">
                <a:solidFill>
                  <a:srgbClr val="D6EBFF"/>
                </a:solidFill>
                <a:latin typeface="Arial" pitchFamily="34" charset="0"/>
                <a:ea typeface="Arial" pitchFamily="34" charset="-122"/>
                <a:cs typeface="Arial" pitchFamily="34" charset="-120"/>
              </a:rPr>
              <a:t>Files move from SharePoint into Azure Blob and are auto-indexed there.</a:t>
            </a:r>
            <a:endParaRPr lang="en-US" sz="1800" dirty="0"/>
          </a:p>
        </p:txBody>
      </p:sp>
      <p:sp>
        <p:nvSpPr>
          <p:cNvPr id="20" name="Shape 18"/>
          <p:cNvSpPr/>
          <p:nvPr/>
        </p:nvSpPr>
        <p:spPr>
          <a:xfrm>
            <a:off x="10896516" y="5854516"/>
            <a:ext cx="34780" cy="1043683"/>
          </a:xfrm>
          <a:prstGeom prst="rect">
            <a:avLst/>
          </a:prstGeom>
          <a:solidFill>
            <a:srgbClr val="5980A6"/>
          </a:solidFill>
          <a:ln/>
        </p:spPr>
        <p:txBody>
          <a:bodyPr/>
          <a:lstStyle/>
          <a:p>
            <a:endParaRPr lang="en-US"/>
          </a:p>
        </p:txBody>
      </p:sp>
      <p:sp>
        <p:nvSpPr>
          <p:cNvPr id="21" name="Text 19"/>
          <p:cNvSpPr/>
          <p:nvPr/>
        </p:nvSpPr>
        <p:spPr>
          <a:xfrm>
            <a:off x="11083665" y="5873537"/>
            <a:ext cx="7170390"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180" dirty="0">
                <a:solidFill>
                  <a:srgbClr val="B5D9FD"/>
                </a:solidFill>
                <a:latin typeface="Arial" pitchFamily="34" charset="0"/>
                <a:ea typeface="Arial" pitchFamily="34" charset="-122"/>
                <a:cs typeface="Arial" pitchFamily="34" charset="-120"/>
              </a:rPr>
              <a:t>INDEX · FUTURE</a:t>
            </a:r>
            <a:endParaRPr lang="en-US" sz="1800" dirty="0"/>
          </a:p>
        </p:txBody>
      </p:sp>
      <p:sp>
        <p:nvSpPr>
          <p:cNvPr id="22" name="Text 20"/>
          <p:cNvSpPr/>
          <p:nvPr/>
        </p:nvSpPr>
        <p:spPr>
          <a:xfrm>
            <a:off x="11083665" y="6284923"/>
            <a:ext cx="7170390" cy="335228"/>
          </a:xfrm>
          <a:prstGeom prst="rect">
            <a:avLst/>
          </a:prstGeom>
          <a:noFill/>
          <a:ln/>
        </p:spPr>
        <p:txBody>
          <a:bodyPr wrap="square" lIns="25400" tIns="25400" rIns="25400" bIns="25400" rtlCol="0" anchor="t">
            <a:normAutofit lnSpcReduction="10000"/>
          </a:bodyPr>
          <a:lstStyle/>
          <a:p>
            <a:pPr marL="0" indent="0" algn="l">
              <a:lnSpc>
                <a:spcPct val="112059"/>
              </a:lnSpc>
              <a:buNone/>
            </a:pPr>
            <a:r>
              <a:rPr lang="en-US" sz="1800" dirty="0">
                <a:solidFill>
                  <a:srgbClr val="D6EBFF"/>
                </a:solidFill>
                <a:latin typeface="Arial" pitchFamily="34" charset="0"/>
                <a:ea typeface="Arial" pitchFamily="34" charset="-122"/>
                <a:cs typeface="Arial" pitchFamily="34" charset="-120"/>
              </a:rPr>
              <a:t>The file is indexed where it sits — no Blob hop, no second copy.</a:t>
            </a:r>
            <a:endParaRPr lang="en-US" sz="1800" dirty="0"/>
          </a:p>
        </p:txBody>
      </p:sp>
      <p:sp>
        <p:nvSpPr>
          <p:cNvPr id="23" name="Shape 21"/>
          <p:cNvSpPr/>
          <p:nvPr/>
        </p:nvSpPr>
        <p:spPr>
          <a:xfrm>
            <a:off x="685758" y="8945079"/>
            <a:ext cx="16916443" cy="9525"/>
          </a:xfrm>
          <a:prstGeom prst="rect">
            <a:avLst/>
          </a:prstGeom>
          <a:solidFill>
            <a:srgbClr val="416180"/>
          </a:solidFill>
          <a:ln/>
        </p:spPr>
        <p:txBody>
          <a:bodyPr/>
          <a:lstStyle/>
          <a:p>
            <a:endParaRPr lang="en-US"/>
          </a:p>
        </p:txBody>
      </p:sp>
      <p:sp>
        <p:nvSpPr>
          <p:cNvPr id="24" name="Text 22"/>
          <p:cNvSpPr/>
          <p:nvPr/>
        </p:nvSpPr>
        <p:spPr>
          <a:xfrm>
            <a:off x="685758" y="7478326"/>
            <a:ext cx="3143243" cy="392357"/>
          </a:xfrm>
          <a:prstGeom prst="rect">
            <a:avLst/>
          </a:prstGeom>
          <a:noFill/>
          <a:ln/>
        </p:spPr>
        <p:txBody>
          <a:bodyPr wrap="square" lIns="25400" tIns="25400" rIns="25400" bIns="25400" rtlCol="0" anchor="t">
            <a:normAutofit/>
          </a:bodyPr>
          <a:lstStyle/>
          <a:p>
            <a:pPr marL="0" indent="0" algn="l">
              <a:lnSpc>
                <a:spcPct val="133608"/>
              </a:lnSpc>
              <a:buNone/>
            </a:pPr>
            <a:r>
              <a:rPr lang="en-US" sz="1800" kern="0" spc="288" dirty="0">
                <a:solidFill>
                  <a:srgbClr val="B5D9FD"/>
                </a:solidFill>
                <a:latin typeface="Arial" pitchFamily="34" charset="0"/>
                <a:ea typeface="Arial" pitchFamily="34" charset="-122"/>
                <a:cs typeface="Arial" pitchFamily="34" charset="-120"/>
              </a:rPr>
              <a:t>PRIORITY 3</a:t>
            </a:r>
            <a:endParaRPr lang="en-US" sz="1800" dirty="0"/>
          </a:p>
        </p:txBody>
      </p:sp>
      <p:sp>
        <p:nvSpPr>
          <p:cNvPr id="25" name="Text 23"/>
          <p:cNvSpPr/>
          <p:nvPr/>
        </p:nvSpPr>
        <p:spPr>
          <a:xfrm>
            <a:off x="685758" y="7889712"/>
            <a:ext cx="3143243" cy="478153"/>
          </a:xfrm>
          <a:prstGeom prst="rect">
            <a:avLst/>
          </a:prstGeom>
          <a:noFill/>
          <a:ln/>
        </p:spPr>
        <p:txBody>
          <a:bodyPr wrap="square" lIns="25400" tIns="25400" rIns="25400" bIns="25400" rtlCol="0" anchor="t">
            <a:normAutofit lnSpcReduction="10000"/>
          </a:bodyPr>
          <a:lstStyle/>
          <a:p>
            <a:pPr marL="0" indent="0" algn="l">
              <a:lnSpc>
                <a:spcPct val="92017"/>
              </a:lnSpc>
              <a:buNone/>
            </a:pPr>
            <a:r>
              <a:rPr lang="en-US" sz="3300" dirty="0">
                <a:solidFill>
                  <a:srgbClr val="F2F2F3"/>
                </a:solidFill>
                <a:latin typeface="Arial" pitchFamily="34" charset="0"/>
                <a:ea typeface="Arial" pitchFamily="34" charset="-122"/>
                <a:cs typeface="Arial" pitchFamily="34" charset="-120"/>
              </a:rPr>
              <a:t>Solution 3</a:t>
            </a:r>
            <a:endParaRPr lang="en-US" sz="3300" dirty="0"/>
          </a:p>
        </p:txBody>
      </p:sp>
      <p:sp>
        <p:nvSpPr>
          <p:cNvPr id="26" name="Text 24"/>
          <p:cNvSpPr/>
          <p:nvPr/>
        </p:nvSpPr>
        <p:spPr>
          <a:xfrm>
            <a:off x="4000423" y="7478326"/>
            <a:ext cx="14961956" cy="410495"/>
          </a:xfrm>
          <a:prstGeom prst="rect">
            <a:avLst/>
          </a:prstGeom>
          <a:noFill/>
          <a:ln/>
        </p:spPr>
        <p:txBody>
          <a:bodyPr wrap="square" lIns="25400" tIns="25400" rIns="25400" bIns="25400" rtlCol="0" anchor="t">
            <a:normAutofit lnSpcReduction="10000"/>
          </a:bodyPr>
          <a:lstStyle/>
          <a:p>
            <a:pPr marL="0" indent="0" algn="l">
              <a:lnSpc>
                <a:spcPct val="100781"/>
              </a:lnSpc>
              <a:buNone/>
            </a:pPr>
            <a:r>
              <a:rPr lang="en-US" sz="2550" dirty="0">
                <a:solidFill>
                  <a:srgbClr val="F2F2F3"/>
                </a:solidFill>
                <a:latin typeface="Arial" pitchFamily="34" charset="0"/>
                <a:ea typeface="Arial" pitchFamily="34" charset="-122"/>
                <a:cs typeface="Arial" pitchFamily="34" charset="-120"/>
              </a:rPr>
              <a:t>Azure Blob lifecycle management</a:t>
            </a:r>
            <a:endParaRPr lang="en-US" sz="2550" dirty="0"/>
          </a:p>
        </p:txBody>
      </p:sp>
      <p:sp>
        <p:nvSpPr>
          <p:cNvPr id="27" name="Text 25"/>
          <p:cNvSpPr/>
          <p:nvPr/>
        </p:nvSpPr>
        <p:spPr>
          <a:xfrm>
            <a:off x="4000423" y="7964979"/>
            <a:ext cx="11969065" cy="732485"/>
          </a:xfrm>
          <a:prstGeom prst="rect">
            <a:avLst/>
          </a:prstGeom>
          <a:noFill/>
          <a:ln/>
        </p:spPr>
        <p:txBody>
          <a:bodyPr wrap="square" lIns="25400" tIns="25400" rIns="25400" bIns="25400" rtlCol="0" anchor="t">
            <a:normAutofit lnSpcReduction="10000"/>
          </a:bodyPr>
          <a:lstStyle/>
          <a:p>
            <a:pPr marL="0" indent="0" algn="l">
              <a:lnSpc>
                <a:spcPct val="115736"/>
              </a:lnSpc>
              <a:buNone/>
            </a:pPr>
            <a:r>
              <a:rPr lang="en-US" sz="2025" dirty="0">
                <a:solidFill>
                  <a:srgbClr val="D6EBFF"/>
                </a:solidFill>
                <a:latin typeface="Arial" pitchFamily="34" charset="0"/>
                <a:ea typeface="Arial" pitchFamily="34" charset="-122"/>
                <a:cs typeface="Arial" pitchFamily="34" charset="-120"/>
              </a:rPr>
              <a:t>A long-term play: the benefit compounds over years rather than months, so it carries less urgency than the other two. Nothing about it gets harder by starting it third.</a:t>
            </a:r>
            <a:endParaRPr lang="en-US" sz="2025" dirty="0"/>
          </a:p>
        </p:txBody>
      </p:sp>
      <p:sp>
        <p:nvSpPr>
          <p:cNvPr id="28" name="Text 26"/>
          <p:cNvSpPr/>
          <p:nvPr/>
        </p:nvSpPr>
        <p:spPr>
          <a:xfrm>
            <a:off x="685758" y="9239490"/>
            <a:ext cx="18608087" cy="805782"/>
          </a:xfrm>
          <a:prstGeom prst="rect">
            <a:avLst/>
          </a:prstGeom>
          <a:noFill/>
          <a:ln/>
        </p:spPr>
        <p:txBody>
          <a:bodyPr wrap="square" lIns="25400" tIns="25400" rIns="25400" bIns="25400" rtlCol="0" anchor="t">
            <a:normAutofit/>
          </a:bodyPr>
          <a:lstStyle/>
          <a:p>
            <a:pPr marL="0" indent="0" algn="l">
              <a:lnSpc>
                <a:spcPct val="134798"/>
              </a:lnSpc>
              <a:buNone/>
            </a:pPr>
            <a:r>
              <a:rPr lang="en-US" sz="3900" kern="0" spc="78" dirty="0">
                <a:solidFill>
                  <a:srgbClr val="F2F2F3"/>
                </a:solidFill>
                <a:latin typeface="Arial" pitchFamily="34" charset="0"/>
                <a:ea typeface="Arial" pitchFamily="34" charset="-122"/>
                <a:cs typeface="Arial" pitchFamily="34" charset="-120"/>
              </a:rPr>
              <a:t>Analyze → Optimize → Revise → Repeat</a:t>
            </a:r>
            <a:endParaRPr lang="en-US" sz="3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1499" y="380954"/>
            <a:ext cx="6509162" cy="578147"/>
          </a:xfrm>
          <a:prstGeom prst="rect">
            <a:avLst/>
          </a:prstGeom>
          <a:noFill/>
          <a:ln/>
        </p:spPr>
        <p:txBody>
          <a:bodyPr wrap="none" lIns="25400" tIns="25400" rIns="25400" bIns="25400" rtlCol="0" anchor="t">
            <a:normAutofit lnSpcReduction="10000"/>
          </a:bodyPr>
          <a:lstStyle/>
          <a:p>
            <a:pPr marL="0" indent="0" algn="l">
              <a:lnSpc>
                <a:spcPct val="91341"/>
              </a:lnSpc>
              <a:buNone/>
            </a:pPr>
            <a:r>
              <a:rPr lang="en-US" sz="4050" b="1" dirty="0">
                <a:solidFill>
                  <a:srgbClr val="1D2D3D"/>
                </a:solidFill>
                <a:latin typeface="Arial" pitchFamily="34" charset="0"/>
                <a:ea typeface="Arial" pitchFamily="34" charset="-122"/>
                <a:cs typeface="Arial" pitchFamily="34" charset="-120"/>
              </a:rPr>
              <a:t>Current State Architecture</a:t>
            </a:r>
            <a:endParaRPr lang="en-US" sz="4050" dirty="0"/>
          </a:p>
        </p:txBody>
      </p:sp>
      <p:sp>
        <p:nvSpPr>
          <p:cNvPr id="3" name="Text 1"/>
          <p:cNvSpPr/>
          <p:nvPr/>
        </p:nvSpPr>
        <p:spPr>
          <a:xfrm>
            <a:off x="571499" y="1066780"/>
            <a:ext cx="8620847" cy="346708"/>
          </a:xfrm>
          <a:prstGeom prst="rect">
            <a:avLst/>
          </a:prstGeom>
          <a:noFill/>
          <a:ln/>
        </p:spPr>
        <p:txBody>
          <a:bodyPr wrap="none" lIns="25400" tIns="25400" rIns="25400" bIns="25400" rtlCol="0" anchor="t">
            <a:normAutofit lnSpcReduction="10000"/>
          </a:bodyPr>
          <a:lstStyle/>
          <a:p>
            <a:pPr marL="0" indent="0" algn="l">
              <a:lnSpc>
                <a:spcPct val="102877"/>
              </a:lnSpc>
              <a:buNone/>
            </a:pPr>
            <a:r>
              <a:rPr lang="en-US" sz="2025" dirty="0">
                <a:solidFill>
                  <a:srgbClr val="5D5D60"/>
                </a:solidFill>
                <a:latin typeface="Arial" pitchFamily="34" charset="0"/>
                <a:ea typeface="Arial" pitchFamily="34" charset="-122"/>
                <a:cs typeface="Arial" pitchFamily="34" charset="-120"/>
              </a:rPr>
              <a:t>Application, ingestion pipeline, RAG pipeline and the two storage layers</a:t>
            </a:r>
            <a:endParaRPr lang="en-US" sz="2025" dirty="0"/>
          </a:p>
        </p:txBody>
      </p:sp>
      <p:sp>
        <p:nvSpPr>
          <p:cNvPr id="5" name="Shape 3"/>
          <p:cNvSpPr/>
          <p:nvPr/>
        </p:nvSpPr>
        <p:spPr>
          <a:xfrm>
            <a:off x="3295645" y="1511413"/>
            <a:ext cx="11849037" cy="3143209"/>
          </a:xfrm>
          <a:prstGeom prst="rect">
            <a:avLst/>
          </a:prstGeom>
          <a:solidFill>
            <a:schemeClr val="bg2"/>
          </a:solidFill>
          <a:ln w="17390">
            <a:solidFill>
              <a:srgbClr val="416180"/>
            </a:solidFill>
            <a:prstDash val="dash"/>
          </a:ln>
        </p:spPr>
        <p:txBody>
          <a:bodyPr/>
          <a:lstStyle/>
          <a:p>
            <a:endParaRPr lang="en-US" sz="1600"/>
          </a:p>
        </p:txBody>
      </p:sp>
      <p:sp>
        <p:nvSpPr>
          <p:cNvPr id="6" name="Shape 4"/>
          <p:cNvSpPr/>
          <p:nvPr/>
        </p:nvSpPr>
        <p:spPr>
          <a:xfrm>
            <a:off x="3295645" y="4919852"/>
            <a:ext cx="11849037" cy="3999559"/>
          </a:xfrm>
          <a:prstGeom prst="rect">
            <a:avLst/>
          </a:prstGeom>
          <a:solidFill>
            <a:schemeClr val="accent1">
              <a:lumMod val="20000"/>
              <a:lumOff val="80000"/>
            </a:schemeClr>
          </a:solidFill>
          <a:ln w="13043">
            <a:solidFill>
              <a:srgbClr val="597EA3"/>
            </a:solidFill>
            <a:prstDash val="dash"/>
          </a:ln>
        </p:spPr>
        <p:txBody>
          <a:bodyPr/>
          <a:lstStyle/>
          <a:p>
            <a:endParaRPr lang="en-US" dirty="0"/>
          </a:p>
        </p:txBody>
      </p:sp>
      <p:sp>
        <p:nvSpPr>
          <p:cNvPr id="7" name="Shape 5"/>
          <p:cNvSpPr/>
          <p:nvPr/>
        </p:nvSpPr>
        <p:spPr>
          <a:xfrm>
            <a:off x="8629610" y="1911455"/>
            <a:ext cx="6324595" cy="2628840"/>
          </a:xfrm>
          <a:prstGeom prst="rect">
            <a:avLst/>
          </a:prstGeom>
          <a:solidFill>
            <a:schemeClr val="bg1">
              <a:lumMod val="85000"/>
            </a:schemeClr>
          </a:solidFill>
          <a:ln w="13043">
            <a:solidFill>
              <a:srgbClr val="597EA3"/>
            </a:solidFill>
            <a:prstDash val="dash"/>
          </a:ln>
        </p:spPr>
        <p:txBody>
          <a:bodyPr/>
          <a:lstStyle/>
          <a:p>
            <a:endParaRPr lang="en-US" sz="1600" dirty="0">
              <a:solidFill>
                <a:schemeClr val="bg2">
                  <a:lumMod val="50000"/>
                </a:schemeClr>
              </a:solidFill>
            </a:endParaRPr>
          </a:p>
        </p:txBody>
      </p:sp>
      <p:sp>
        <p:nvSpPr>
          <p:cNvPr id="8" name="Shape 6"/>
          <p:cNvSpPr/>
          <p:nvPr/>
        </p:nvSpPr>
        <p:spPr>
          <a:xfrm>
            <a:off x="7105591" y="5395229"/>
            <a:ext cx="7886764" cy="3144092"/>
          </a:xfrm>
          <a:prstGeom prst="rect">
            <a:avLst/>
          </a:prstGeom>
          <a:solidFill>
            <a:srgbClr val="D6EBFF"/>
          </a:solidFill>
          <a:ln w="13043">
            <a:solidFill>
              <a:srgbClr val="597EA3"/>
            </a:solidFill>
            <a:prstDash val="dash"/>
          </a:ln>
        </p:spPr>
        <p:txBody>
          <a:bodyPr/>
          <a:lstStyle/>
          <a:p>
            <a:endParaRPr lang="en-US"/>
          </a:p>
        </p:txBody>
      </p:sp>
      <p:pic>
        <p:nvPicPr>
          <p:cNvPr id="5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48013" y="1624929"/>
            <a:ext cx="190477" cy="190477"/>
          </a:xfrm>
          <a:prstGeom prst="rect">
            <a:avLst/>
          </a:prstGeom>
        </p:spPr>
      </p:pic>
      <p:sp>
        <p:nvSpPr>
          <p:cNvPr id="56" name="Text 53"/>
          <p:cNvSpPr/>
          <p:nvPr/>
        </p:nvSpPr>
        <p:spPr>
          <a:xfrm>
            <a:off x="3714640" y="1529653"/>
            <a:ext cx="3146830" cy="362875"/>
          </a:xfrm>
          <a:prstGeom prst="rect">
            <a:avLst/>
          </a:prstGeom>
          <a:noFill/>
          <a:ln/>
        </p:spPr>
        <p:txBody>
          <a:bodyPr wrap="none" lIns="25400" tIns="25400" rIns="25400" bIns="25400" rtlCol="0" anchor="t">
            <a:normAutofit/>
          </a:bodyPr>
          <a:lstStyle/>
          <a:p>
            <a:pPr marL="0" indent="0" algn="l">
              <a:lnSpc>
                <a:spcPct val="133410"/>
              </a:lnSpc>
              <a:buNone/>
            </a:pPr>
            <a:r>
              <a:rPr lang="en-US" sz="1600" b="1" kern="0" spc="264" dirty="0">
                <a:latin typeface="Arial" pitchFamily="34" charset="0"/>
                <a:ea typeface="Arial" pitchFamily="34" charset="-122"/>
                <a:cs typeface="Arial" pitchFamily="34" charset="-120"/>
              </a:rPr>
              <a:t>AI CHAT APPLICATION</a:t>
            </a:r>
            <a:endParaRPr lang="en-US" sz="1600" dirty="0"/>
          </a:p>
        </p:txBody>
      </p:sp>
      <p:pic>
        <p:nvPicPr>
          <p:cNvPr id="5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74602" y="5063185"/>
            <a:ext cx="190477" cy="190477"/>
          </a:xfrm>
          <a:prstGeom prst="rect">
            <a:avLst/>
          </a:prstGeom>
        </p:spPr>
      </p:pic>
      <p:sp>
        <p:nvSpPr>
          <p:cNvPr id="58" name="Text 54"/>
          <p:cNvSpPr/>
          <p:nvPr/>
        </p:nvSpPr>
        <p:spPr>
          <a:xfrm>
            <a:off x="4041229" y="4996070"/>
            <a:ext cx="2764096" cy="362875"/>
          </a:xfrm>
          <a:prstGeom prst="rect">
            <a:avLst/>
          </a:prstGeom>
          <a:noFill/>
          <a:ln/>
        </p:spPr>
        <p:txBody>
          <a:bodyPr wrap="none" lIns="25400" tIns="25400" rIns="25400" bIns="25400" rtlCol="0" anchor="t">
            <a:normAutofit/>
          </a:bodyPr>
          <a:lstStyle/>
          <a:p>
            <a:pPr marL="0" indent="0" algn="l">
              <a:lnSpc>
                <a:spcPct val="133410"/>
              </a:lnSpc>
              <a:buNone/>
            </a:pPr>
            <a:r>
              <a:rPr lang="en-US" sz="1600" b="1" kern="0" spc="264" dirty="0">
                <a:solidFill>
                  <a:schemeClr val="tx2"/>
                </a:solidFill>
                <a:latin typeface="Arial" pitchFamily="34" charset="0"/>
                <a:ea typeface="Arial" pitchFamily="34" charset="-122"/>
                <a:cs typeface="Arial" pitchFamily="34" charset="-120"/>
              </a:rPr>
              <a:t>MICROSOFT AZURE</a:t>
            </a:r>
            <a:endParaRPr lang="en-US" sz="1600" dirty="0">
              <a:solidFill>
                <a:schemeClr val="tx2"/>
              </a:solidFill>
            </a:endParaRPr>
          </a:p>
        </p:txBody>
      </p:sp>
      <p:sp>
        <p:nvSpPr>
          <p:cNvPr id="59" name="Text 55"/>
          <p:cNvSpPr/>
          <p:nvPr/>
        </p:nvSpPr>
        <p:spPr>
          <a:xfrm>
            <a:off x="8782046" y="1968653"/>
            <a:ext cx="3445890" cy="284468"/>
          </a:xfrm>
          <a:prstGeom prst="rect">
            <a:avLst/>
          </a:prstGeom>
          <a:noFill/>
          <a:ln/>
        </p:spPr>
        <p:txBody>
          <a:bodyPr wrap="none" lIns="25400" tIns="25400" rIns="25400" bIns="25400" rtlCol="0" anchor="t">
            <a:normAutofit fontScale="92500" lnSpcReduction="10000"/>
          </a:bodyPr>
          <a:lstStyle/>
          <a:p>
            <a:pPr marL="0" indent="0" algn="l">
              <a:lnSpc>
                <a:spcPct val="135835"/>
              </a:lnSpc>
              <a:buNone/>
            </a:pPr>
            <a:r>
              <a:rPr lang="en-US" sz="1400" b="1" kern="0" spc="240" dirty="0">
                <a:solidFill>
                  <a:schemeClr val="tx1">
                    <a:lumMod val="65000"/>
                    <a:lumOff val="35000"/>
                  </a:schemeClr>
                </a:solidFill>
                <a:latin typeface="Arial" pitchFamily="34" charset="0"/>
                <a:ea typeface="Arial" pitchFamily="34" charset="-122"/>
                <a:cs typeface="Arial" pitchFamily="34" charset="-120"/>
              </a:rPr>
              <a:t>CUSTOM IN-APP FUNCTIONS</a:t>
            </a:r>
            <a:endParaRPr lang="en-US" sz="1400" dirty="0">
              <a:solidFill>
                <a:schemeClr val="tx1">
                  <a:lumMod val="65000"/>
                  <a:lumOff val="35000"/>
                </a:schemeClr>
              </a:solidFill>
            </a:endParaRPr>
          </a:p>
        </p:txBody>
      </p:sp>
      <p:sp>
        <p:nvSpPr>
          <p:cNvPr id="60" name="Text 56"/>
          <p:cNvSpPr/>
          <p:nvPr/>
        </p:nvSpPr>
        <p:spPr>
          <a:xfrm>
            <a:off x="7296136" y="5412867"/>
            <a:ext cx="2432064" cy="333326"/>
          </a:xfrm>
          <a:prstGeom prst="rect">
            <a:avLst/>
          </a:prstGeom>
          <a:noFill/>
          <a:ln/>
        </p:spPr>
        <p:txBody>
          <a:bodyPr wrap="none" lIns="25400" tIns="25400" rIns="25400" bIns="25400" rtlCol="0" anchor="t">
            <a:normAutofit/>
          </a:bodyPr>
          <a:lstStyle/>
          <a:p>
            <a:pPr marL="0" indent="0" algn="l">
              <a:lnSpc>
                <a:spcPct val="135835"/>
              </a:lnSpc>
              <a:buNone/>
            </a:pPr>
            <a:r>
              <a:rPr lang="en-US" sz="1400" b="1" kern="0" spc="240" dirty="0">
                <a:solidFill>
                  <a:srgbClr val="416180"/>
                </a:solidFill>
                <a:latin typeface="Arial" pitchFamily="34" charset="0"/>
                <a:ea typeface="Arial" pitchFamily="34" charset="-122"/>
                <a:cs typeface="Arial" pitchFamily="34" charset="-120"/>
              </a:rPr>
              <a:t>AZURE AI FOUNDRY</a:t>
            </a:r>
            <a:endParaRPr lang="en-US" sz="1400" dirty="0"/>
          </a:p>
        </p:txBody>
      </p:sp>
      <p:sp>
        <p:nvSpPr>
          <p:cNvPr id="61" name="Shape 57"/>
          <p:cNvSpPr/>
          <p:nvPr/>
        </p:nvSpPr>
        <p:spPr>
          <a:xfrm>
            <a:off x="283032" y="4005440"/>
            <a:ext cx="2435658" cy="800085"/>
          </a:xfrm>
          <a:prstGeom prst="rect">
            <a:avLst/>
          </a:prstGeom>
          <a:solidFill>
            <a:srgbClr val="FFFFFF"/>
          </a:solidFill>
          <a:ln w="13043">
            <a:solidFill>
              <a:srgbClr val="416180"/>
            </a:solidFill>
            <a:prstDash val="solid"/>
          </a:ln>
        </p:spPr>
        <p:txBody>
          <a:bodyPr/>
          <a:lstStyle/>
          <a:p>
            <a:endParaRPr lang="en-US" sz="1200"/>
          </a:p>
        </p:txBody>
      </p:sp>
      <p:pic>
        <p:nvPicPr>
          <p:cNvPr id="6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3698" y="4107440"/>
            <a:ext cx="218940" cy="253494"/>
          </a:xfrm>
          <a:prstGeom prst="rect">
            <a:avLst/>
          </a:prstGeom>
        </p:spPr>
      </p:pic>
      <p:sp>
        <p:nvSpPr>
          <p:cNvPr id="63" name="Text 58"/>
          <p:cNvSpPr/>
          <p:nvPr/>
        </p:nvSpPr>
        <p:spPr>
          <a:xfrm>
            <a:off x="820814" y="4133557"/>
            <a:ext cx="1495084" cy="331424"/>
          </a:xfrm>
          <a:prstGeom prst="rect">
            <a:avLst/>
          </a:prstGeom>
          <a:noFill/>
          <a:ln/>
        </p:spPr>
        <p:txBody>
          <a:bodyPr wrap="none" lIns="25400" tIns="25400" rIns="25400" bIns="25400" rtlCol="0" anchor="t">
            <a:noAutofit/>
          </a:bodyPr>
          <a:lstStyle/>
          <a:p>
            <a:pPr marL="0" indent="0" algn="l">
              <a:lnSpc>
                <a:spcPct val="95041"/>
              </a:lnSpc>
              <a:buNone/>
            </a:pPr>
            <a:r>
              <a:rPr lang="en-US" sz="1600" b="1" dirty="0">
                <a:solidFill>
                  <a:srgbClr val="1D2D3D"/>
                </a:solidFill>
                <a:latin typeface="Arial" pitchFamily="34" charset="0"/>
                <a:ea typeface="Arial" pitchFamily="34" charset="-122"/>
                <a:cs typeface="Arial" pitchFamily="34" charset="-120"/>
              </a:rPr>
              <a:t>User</a:t>
            </a:r>
            <a:endParaRPr lang="en-US" sz="1600" dirty="0"/>
          </a:p>
        </p:txBody>
      </p:sp>
      <p:sp>
        <p:nvSpPr>
          <p:cNvPr id="64" name="Text 59"/>
          <p:cNvSpPr/>
          <p:nvPr/>
        </p:nvSpPr>
        <p:spPr>
          <a:xfrm>
            <a:off x="563698" y="4436391"/>
            <a:ext cx="1911869" cy="279049"/>
          </a:xfrm>
          <a:prstGeom prst="rect">
            <a:avLst/>
          </a:prstGeom>
          <a:noFill/>
          <a:ln/>
        </p:spPr>
        <p:txBody>
          <a:bodyPr wrap="square" lIns="25400" tIns="25400" rIns="25400" bIns="25400" rtlCol="0" anchor="t">
            <a:noAutofit/>
          </a:bodyPr>
          <a:lstStyle/>
          <a:p>
            <a:pPr marL="0" indent="0" algn="l">
              <a:lnSpc>
                <a:spcPct val="98981"/>
              </a:lnSpc>
              <a:buNone/>
            </a:pPr>
            <a:r>
              <a:rPr lang="en-US" sz="1200" dirty="0">
                <a:solidFill>
                  <a:srgbClr val="5D5D60"/>
                </a:solidFill>
                <a:latin typeface="Arial" pitchFamily="34" charset="0"/>
                <a:ea typeface="Arial" pitchFamily="34" charset="-122"/>
                <a:cs typeface="Arial" pitchFamily="34" charset="-120"/>
              </a:rPr>
              <a:t>Browser client</a:t>
            </a:r>
            <a:endParaRPr lang="en-US" sz="1200" dirty="0"/>
          </a:p>
        </p:txBody>
      </p:sp>
      <p:grpSp>
        <p:nvGrpSpPr>
          <p:cNvPr id="162" name="Group 161">
            <a:extLst>
              <a:ext uri="{FF2B5EF4-FFF2-40B4-BE49-F238E27FC236}">
                <a16:creationId xmlns:a16="http://schemas.microsoft.com/office/drawing/2014/main" id="{F93D6D55-5C98-CDE8-4D43-BD5470FEE56B}"/>
              </a:ext>
            </a:extLst>
          </p:cNvPr>
          <p:cNvGrpSpPr/>
          <p:nvPr/>
        </p:nvGrpSpPr>
        <p:grpSpPr>
          <a:xfrm>
            <a:off x="283032" y="5244038"/>
            <a:ext cx="2435658" cy="886085"/>
            <a:chOff x="285037" y="5429204"/>
            <a:chExt cx="2820063" cy="886085"/>
          </a:xfrm>
        </p:grpSpPr>
        <p:sp>
          <p:nvSpPr>
            <p:cNvPr id="11" name="Shape 9"/>
            <p:cNvSpPr/>
            <p:nvPr/>
          </p:nvSpPr>
          <p:spPr>
            <a:xfrm>
              <a:off x="2764137" y="5950706"/>
              <a:ext cx="95238" cy="21738"/>
            </a:xfrm>
            <a:prstGeom prst="rect">
              <a:avLst/>
            </a:prstGeom>
            <a:solidFill>
              <a:srgbClr val="416180"/>
            </a:solidFill>
            <a:ln/>
          </p:spPr>
          <p:txBody>
            <a:bodyPr/>
            <a:lstStyle/>
            <a:p>
              <a:endParaRPr lang="en-US" sz="1200"/>
            </a:p>
          </p:txBody>
        </p:sp>
        <p:sp>
          <p:nvSpPr>
            <p:cNvPr id="65" name="Shape 60"/>
            <p:cNvSpPr/>
            <p:nvPr/>
          </p:nvSpPr>
          <p:spPr>
            <a:xfrm>
              <a:off x="285037" y="5429204"/>
              <a:ext cx="2820063" cy="886085"/>
            </a:xfrm>
            <a:prstGeom prst="rect">
              <a:avLst/>
            </a:prstGeom>
            <a:solidFill>
              <a:srgbClr val="FFFFFF"/>
            </a:solidFill>
            <a:ln w="13043">
              <a:solidFill>
                <a:srgbClr val="416180"/>
              </a:solidFill>
              <a:prstDash val="solid"/>
            </a:ln>
          </p:spPr>
          <p:txBody>
            <a:bodyPr/>
            <a:lstStyle/>
            <a:p>
              <a:endParaRPr lang="en-US" sz="1200"/>
            </a:p>
          </p:txBody>
        </p:sp>
        <p:pic>
          <p:nvPicPr>
            <p:cNvPr id="66"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67335" y="5593052"/>
              <a:ext cx="180967" cy="180967"/>
            </a:xfrm>
            <a:prstGeom prst="rect">
              <a:avLst/>
            </a:prstGeom>
          </p:spPr>
        </p:pic>
        <p:sp>
          <p:nvSpPr>
            <p:cNvPr id="67" name="Text 61"/>
            <p:cNvSpPr/>
            <p:nvPr/>
          </p:nvSpPr>
          <p:spPr>
            <a:xfrm>
              <a:off x="824451" y="5536874"/>
              <a:ext cx="1919422" cy="331424"/>
            </a:xfrm>
            <a:prstGeom prst="rect">
              <a:avLst/>
            </a:prstGeom>
            <a:noFill/>
            <a:ln/>
          </p:spPr>
          <p:txBody>
            <a:bodyPr wrap="none" lIns="25400" tIns="25400" rIns="25400" bIns="25400" rtlCol="0" anchor="t">
              <a:noAutofit/>
            </a:bodyPr>
            <a:lstStyle/>
            <a:p>
              <a:pPr marL="0" indent="0" algn="l">
                <a:lnSpc>
                  <a:spcPct val="95041"/>
                </a:lnSpc>
                <a:buNone/>
              </a:pPr>
              <a:r>
                <a:rPr lang="en-US" sz="1600" b="1" dirty="0">
                  <a:solidFill>
                    <a:srgbClr val="1D2D3D"/>
                  </a:solidFill>
                  <a:latin typeface="Arial" pitchFamily="34" charset="0"/>
                  <a:ea typeface="Arial" pitchFamily="34" charset="-122"/>
                  <a:cs typeface="Arial" pitchFamily="34" charset="-120"/>
                </a:rPr>
                <a:t>WebSEAL Junction</a:t>
              </a:r>
              <a:endParaRPr lang="en-US" sz="1600" dirty="0"/>
            </a:p>
          </p:txBody>
        </p:sp>
        <p:sp>
          <p:nvSpPr>
            <p:cNvPr id="68" name="Text 62"/>
            <p:cNvSpPr/>
            <p:nvPr/>
          </p:nvSpPr>
          <p:spPr>
            <a:xfrm>
              <a:off x="567335" y="5839708"/>
              <a:ext cx="2213608" cy="279049"/>
            </a:xfrm>
            <a:prstGeom prst="rect">
              <a:avLst/>
            </a:prstGeom>
            <a:noFill/>
            <a:ln/>
          </p:spPr>
          <p:txBody>
            <a:bodyPr wrap="square" lIns="25400" tIns="25400" rIns="25400" bIns="25400" rtlCol="0" anchor="t">
              <a:noAutofit/>
            </a:bodyPr>
            <a:lstStyle/>
            <a:p>
              <a:pPr marL="0" indent="0" algn="l">
                <a:lnSpc>
                  <a:spcPct val="98981"/>
                </a:lnSpc>
                <a:buNone/>
              </a:pPr>
              <a:r>
                <a:rPr lang="en-US" sz="1200" dirty="0">
                  <a:solidFill>
                    <a:srgbClr val="5D5D60"/>
                  </a:solidFill>
                  <a:latin typeface="Arial" pitchFamily="34" charset="0"/>
                  <a:ea typeface="Arial" pitchFamily="34" charset="-122"/>
                  <a:cs typeface="Arial" pitchFamily="34" charset="-120"/>
                </a:rPr>
                <a:t>Enterprise SSO</a:t>
              </a:r>
              <a:endParaRPr lang="en-US" sz="1200" dirty="0"/>
            </a:p>
          </p:txBody>
        </p:sp>
      </p:grpSp>
      <p:grpSp>
        <p:nvGrpSpPr>
          <p:cNvPr id="216" name="Group 215">
            <a:extLst>
              <a:ext uri="{FF2B5EF4-FFF2-40B4-BE49-F238E27FC236}">
                <a16:creationId xmlns:a16="http://schemas.microsoft.com/office/drawing/2014/main" id="{4C76B597-5142-05BA-FD21-3FE7C37B394C}"/>
              </a:ext>
            </a:extLst>
          </p:cNvPr>
          <p:cNvGrpSpPr/>
          <p:nvPr/>
        </p:nvGrpSpPr>
        <p:grpSpPr>
          <a:xfrm>
            <a:off x="15470692" y="4649743"/>
            <a:ext cx="1781210" cy="1118125"/>
            <a:chOff x="15335228" y="4886236"/>
            <a:chExt cx="1781210" cy="1118125"/>
          </a:xfrm>
        </p:grpSpPr>
        <p:sp>
          <p:nvSpPr>
            <p:cNvPr id="70" name="Shape 64"/>
            <p:cNvSpPr/>
            <p:nvPr/>
          </p:nvSpPr>
          <p:spPr>
            <a:xfrm>
              <a:off x="15335228" y="4886236"/>
              <a:ext cx="1781210" cy="1104888"/>
            </a:xfrm>
            <a:prstGeom prst="rect">
              <a:avLst/>
            </a:prstGeom>
            <a:solidFill>
              <a:srgbClr val="FFFFFF"/>
            </a:solidFill>
            <a:ln w="13043">
              <a:solidFill>
                <a:srgbClr val="416180"/>
              </a:solidFill>
              <a:prstDash val="solid"/>
            </a:ln>
          </p:spPr>
          <p:txBody>
            <a:bodyPr/>
            <a:lstStyle/>
            <a:p>
              <a:endParaRPr lang="en-US" sz="1400"/>
            </a:p>
          </p:txBody>
        </p:sp>
        <p:pic>
          <p:nvPicPr>
            <p:cNvPr id="71"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500638" y="4939561"/>
              <a:ext cx="180967" cy="180967"/>
            </a:xfrm>
            <a:prstGeom prst="rect">
              <a:avLst/>
            </a:prstGeom>
          </p:spPr>
        </p:pic>
        <p:sp>
          <p:nvSpPr>
            <p:cNvPr id="72" name="Text 65"/>
            <p:cNvSpPr/>
            <p:nvPr/>
          </p:nvSpPr>
          <p:spPr>
            <a:xfrm>
              <a:off x="15757754" y="4911030"/>
              <a:ext cx="1311046" cy="582902"/>
            </a:xfrm>
            <a:prstGeom prst="rect">
              <a:avLst/>
            </a:prstGeom>
            <a:noFill/>
            <a:ln/>
          </p:spPr>
          <p:txBody>
            <a:bodyPr wrap="square" lIns="25400" tIns="25400" rIns="25400" bIns="25400" rtlCol="0" anchor="t">
              <a:normAutofit/>
            </a:bodyPr>
            <a:lstStyle/>
            <a:p>
              <a:pPr marL="0" indent="0" algn="l">
                <a:lnSpc>
                  <a:spcPct val="94939"/>
                </a:lnSpc>
                <a:buNone/>
              </a:pPr>
              <a:r>
                <a:rPr lang="en-US" sz="1600" b="1" dirty="0">
                  <a:solidFill>
                    <a:srgbClr val="1D2D3D"/>
                  </a:solidFill>
                  <a:latin typeface="Arial" pitchFamily="34" charset="0"/>
                  <a:ea typeface="Arial" pitchFamily="34" charset="-122"/>
                  <a:cs typeface="Arial" pitchFamily="34" charset="-120"/>
                </a:rPr>
                <a:t>Microsoft SharePoint</a:t>
              </a:r>
              <a:endParaRPr lang="en-US" sz="1600" dirty="0"/>
            </a:p>
          </p:txBody>
        </p:sp>
        <p:sp>
          <p:nvSpPr>
            <p:cNvPr id="73" name="Text 66"/>
            <p:cNvSpPr/>
            <p:nvPr/>
          </p:nvSpPr>
          <p:spPr>
            <a:xfrm>
              <a:off x="15500638" y="5484363"/>
              <a:ext cx="1401829" cy="519998"/>
            </a:xfrm>
            <a:prstGeom prst="rect">
              <a:avLst/>
            </a:prstGeom>
            <a:noFill/>
            <a:ln/>
          </p:spPr>
          <p:txBody>
            <a:bodyPr wrap="square" lIns="25400" tIns="25400" rIns="25400" bIns="25400" rtlCol="0" anchor="t">
              <a:noAutofit/>
            </a:bodyPr>
            <a:lstStyle/>
            <a:p>
              <a:pPr marL="0" indent="0" algn="l">
                <a:lnSpc>
                  <a:spcPct val="98981"/>
                </a:lnSpc>
                <a:buNone/>
              </a:pPr>
              <a:r>
                <a:rPr lang="en-US" sz="1400" dirty="0">
                  <a:solidFill>
                    <a:srgbClr val="5D5D60"/>
                  </a:solidFill>
                  <a:latin typeface="Arial" pitchFamily="34" charset="0"/>
                  <a:ea typeface="Arial" pitchFamily="34" charset="-122"/>
                  <a:cs typeface="Arial" pitchFamily="34" charset="-120"/>
                </a:rPr>
                <a:t>System of record for documents</a:t>
              </a:r>
              <a:endParaRPr lang="en-US" sz="1400" dirty="0"/>
            </a:p>
          </p:txBody>
        </p:sp>
      </p:grpSp>
      <p:sp>
        <p:nvSpPr>
          <p:cNvPr id="74" name="Shape 67"/>
          <p:cNvSpPr/>
          <p:nvPr/>
        </p:nvSpPr>
        <p:spPr>
          <a:xfrm>
            <a:off x="3448013" y="1911455"/>
            <a:ext cx="2666949" cy="1142997"/>
          </a:xfrm>
          <a:prstGeom prst="rect">
            <a:avLst/>
          </a:prstGeom>
          <a:solidFill>
            <a:schemeClr val="bg1">
              <a:lumMod val="95000"/>
            </a:schemeClr>
          </a:solidFill>
          <a:ln w="13043">
            <a:solidFill>
              <a:srgbClr val="416180"/>
            </a:solidFill>
            <a:prstDash val="solid"/>
          </a:ln>
        </p:spPr>
        <p:txBody>
          <a:bodyPr/>
          <a:lstStyle/>
          <a:p>
            <a:endParaRPr lang="en-US" sz="1600"/>
          </a:p>
        </p:txBody>
      </p:sp>
      <p:pic>
        <p:nvPicPr>
          <p:cNvPr id="75"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632444" y="2257153"/>
            <a:ext cx="190477" cy="190477"/>
          </a:xfrm>
          <a:prstGeom prst="rect">
            <a:avLst/>
          </a:prstGeom>
        </p:spPr>
      </p:pic>
      <p:sp>
        <p:nvSpPr>
          <p:cNvPr id="76" name="Text 68"/>
          <p:cNvSpPr/>
          <p:nvPr/>
        </p:nvSpPr>
        <p:spPr>
          <a:xfrm>
            <a:off x="3899071" y="2195269"/>
            <a:ext cx="2393468" cy="352414"/>
          </a:xfrm>
          <a:prstGeom prst="rect">
            <a:avLst/>
          </a:prstGeom>
          <a:noFill/>
          <a:ln/>
        </p:spPr>
        <p:txBody>
          <a:bodyPr wrap="none" lIns="25400" tIns="25400" rIns="25400" bIns="25400" rtlCol="0" anchor="t">
            <a:normAutofit/>
          </a:bodyPr>
          <a:lstStyle/>
          <a:p>
            <a:pPr marL="0" indent="0" algn="l">
              <a:lnSpc>
                <a:spcPct val="96399"/>
              </a:lnSpc>
              <a:buNone/>
            </a:pPr>
            <a:r>
              <a:rPr lang="en-US" b="1" dirty="0">
                <a:solidFill>
                  <a:srgbClr val="1D2D3D"/>
                </a:solidFill>
                <a:latin typeface="Arial" pitchFamily="34" charset="0"/>
                <a:ea typeface="Arial" pitchFamily="34" charset="-122"/>
                <a:cs typeface="Arial" pitchFamily="34" charset="-120"/>
              </a:rPr>
              <a:t>AI Chat Frontend</a:t>
            </a:r>
            <a:endParaRPr lang="en-US" dirty="0"/>
          </a:p>
        </p:txBody>
      </p:sp>
      <p:sp>
        <p:nvSpPr>
          <p:cNvPr id="77" name="Text 69"/>
          <p:cNvSpPr/>
          <p:nvPr/>
        </p:nvSpPr>
        <p:spPr>
          <a:xfrm>
            <a:off x="3632444" y="2519093"/>
            <a:ext cx="2527895" cy="289578"/>
          </a:xfrm>
          <a:prstGeom prst="rect">
            <a:avLst/>
          </a:prstGeom>
          <a:noFill/>
          <a:ln/>
        </p:spPr>
        <p:txBody>
          <a:bodyPr wrap="none" lIns="25400" tIns="25400" rIns="25400" bIns="25400" rtlCol="0" anchor="t">
            <a:noAutofit/>
          </a:bodyPr>
          <a:lstStyle/>
          <a:p>
            <a:pPr marL="0" indent="0" algn="l">
              <a:lnSpc>
                <a:spcPct val="103285"/>
              </a:lnSpc>
              <a:buNone/>
            </a:pPr>
            <a:r>
              <a:rPr lang="en-US" sz="1400" dirty="0">
                <a:solidFill>
                  <a:srgbClr val="597EA3"/>
                </a:solidFill>
                <a:latin typeface="Arial" pitchFamily="34" charset="0"/>
                <a:ea typeface="Arial" pitchFamily="34" charset="-122"/>
                <a:cs typeface="Arial" pitchFamily="34" charset="-120"/>
              </a:rPr>
              <a:t>Screens · Navigation</a:t>
            </a:r>
            <a:endParaRPr lang="en-US" sz="1400" dirty="0"/>
          </a:p>
        </p:txBody>
      </p:sp>
      <p:sp>
        <p:nvSpPr>
          <p:cNvPr id="78" name="Shape 70"/>
          <p:cNvSpPr/>
          <p:nvPr/>
        </p:nvSpPr>
        <p:spPr>
          <a:xfrm>
            <a:off x="3448013" y="3321148"/>
            <a:ext cx="2666949" cy="1219147"/>
          </a:xfrm>
          <a:prstGeom prst="rect">
            <a:avLst/>
          </a:prstGeom>
          <a:solidFill>
            <a:schemeClr val="bg1">
              <a:lumMod val="95000"/>
            </a:schemeClr>
          </a:solidFill>
          <a:ln w="13043">
            <a:solidFill>
              <a:srgbClr val="416180"/>
            </a:solidFill>
            <a:prstDash val="solid"/>
          </a:ln>
        </p:spPr>
        <p:txBody>
          <a:bodyPr/>
          <a:lstStyle/>
          <a:p>
            <a:endParaRPr lang="en-US" sz="1600"/>
          </a:p>
        </p:txBody>
      </p:sp>
      <p:pic>
        <p:nvPicPr>
          <p:cNvPr id="79" name="Image 6" descr="preencoded.png"/>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632444" y="3555440"/>
            <a:ext cx="190477" cy="190477"/>
          </a:xfrm>
          <a:prstGeom prst="rect">
            <a:avLst/>
          </a:prstGeom>
        </p:spPr>
      </p:pic>
      <p:sp>
        <p:nvSpPr>
          <p:cNvPr id="80" name="Text 71"/>
          <p:cNvSpPr/>
          <p:nvPr/>
        </p:nvSpPr>
        <p:spPr>
          <a:xfrm>
            <a:off x="3899071" y="3493555"/>
            <a:ext cx="2131487" cy="352414"/>
          </a:xfrm>
          <a:prstGeom prst="rect">
            <a:avLst/>
          </a:prstGeom>
          <a:noFill/>
          <a:ln/>
        </p:spPr>
        <p:txBody>
          <a:bodyPr wrap="none" lIns="25400" tIns="25400" rIns="25400" bIns="25400" rtlCol="0" anchor="t">
            <a:normAutofit/>
          </a:bodyPr>
          <a:lstStyle/>
          <a:p>
            <a:pPr marL="0" indent="0" algn="l">
              <a:lnSpc>
                <a:spcPct val="96399"/>
              </a:lnSpc>
              <a:buNone/>
            </a:pPr>
            <a:r>
              <a:rPr lang="en-US" b="1" dirty="0">
                <a:solidFill>
                  <a:srgbClr val="1D2D3D"/>
                </a:solidFill>
                <a:latin typeface="Arial" pitchFamily="34" charset="0"/>
                <a:ea typeface="Arial" pitchFamily="34" charset="-122"/>
                <a:cs typeface="Arial" pitchFamily="34" charset="-120"/>
              </a:rPr>
              <a:t>Backend router</a:t>
            </a:r>
            <a:endParaRPr lang="en-US" dirty="0"/>
          </a:p>
        </p:txBody>
      </p:sp>
      <p:sp>
        <p:nvSpPr>
          <p:cNvPr id="81" name="Text 72"/>
          <p:cNvSpPr/>
          <p:nvPr/>
        </p:nvSpPr>
        <p:spPr>
          <a:xfrm>
            <a:off x="3632444" y="3817379"/>
            <a:ext cx="2527895" cy="289578"/>
          </a:xfrm>
          <a:prstGeom prst="rect">
            <a:avLst/>
          </a:prstGeom>
          <a:noFill/>
          <a:ln/>
        </p:spPr>
        <p:txBody>
          <a:bodyPr wrap="none" lIns="25400" tIns="25400" rIns="25400" bIns="25400" rtlCol="0" anchor="t">
            <a:noAutofit/>
          </a:bodyPr>
          <a:lstStyle/>
          <a:p>
            <a:pPr>
              <a:lnSpc>
                <a:spcPct val="103285"/>
              </a:lnSpc>
            </a:pPr>
            <a:r>
              <a:rPr lang="en-US" sz="1400" dirty="0">
                <a:solidFill>
                  <a:srgbClr val="597EA3"/>
                </a:solidFill>
                <a:latin typeface="Arial" pitchFamily="34" charset="0"/>
                <a:ea typeface="Arial" pitchFamily="34" charset="-122"/>
                <a:cs typeface="Arial" pitchFamily="34" charset="-120"/>
              </a:rPr>
              <a:t>AWS · EC2 · Python · </a:t>
            </a:r>
            <a:r>
              <a:rPr lang="en-US" sz="1400" dirty="0" err="1">
                <a:solidFill>
                  <a:srgbClr val="597EA3"/>
                </a:solidFill>
                <a:latin typeface="Arial" pitchFamily="34" charset="0"/>
                <a:ea typeface="Arial" pitchFamily="34" charset="-122"/>
                <a:cs typeface="Arial" pitchFamily="34" charset="-120"/>
              </a:rPr>
              <a:t>FastAPI</a:t>
            </a:r>
            <a:endParaRPr lang="en-US" sz="1400" dirty="0"/>
          </a:p>
        </p:txBody>
      </p:sp>
      <p:sp>
        <p:nvSpPr>
          <p:cNvPr id="82" name="Text 73"/>
          <p:cNvSpPr/>
          <p:nvPr/>
        </p:nvSpPr>
        <p:spPr>
          <a:xfrm>
            <a:off x="3632444" y="4116409"/>
            <a:ext cx="2527895" cy="289578"/>
          </a:xfrm>
          <a:prstGeom prst="rect">
            <a:avLst/>
          </a:prstGeom>
          <a:noFill/>
          <a:ln/>
        </p:spPr>
        <p:txBody>
          <a:bodyPr wrap="square" lIns="25400" tIns="25400" rIns="25400" bIns="25400" rtlCol="0" anchor="t">
            <a:noAutofit/>
          </a:bodyPr>
          <a:lstStyle/>
          <a:p>
            <a:pPr marL="0" indent="0" algn="l">
              <a:lnSpc>
                <a:spcPct val="103285"/>
              </a:lnSpc>
              <a:buNone/>
            </a:pPr>
            <a:r>
              <a:rPr lang="en-US" sz="1400" dirty="0">
                <a:solidFill>
                  <a:srgbClr val="5D5D60"/>
                </a:solidFill>
                <a:latin typeface="Arial" pitchFamily="34" charset="0"/>
                <a:ea typeface="Arial" pitchFamily="34" charset="-122"/>
                <a:cs typeface="Arial" pitchFamily="34" charset="-120"/>
              </a:rPr>
              <a:t> Orchestration</a:t>
            </a:r>
            <a:endParaRPr lang="en-US" sz="1400" dirty="0"/>
          </a:p>
        </p:txBody>
      </p:sp>
      <p:sp>
        <p:nvSpPr>
          <p:cNvPr id="83" name="Shape 74"/>
          <p:cNvSpPr/>
          <p:nvPr/>
        </p:nvSpPr>
        <p:spPr>
          <a:xfrm>
            <a:off x="6438854" y="3260585"/>
            <a:ext cx="1809735" cy="1279709"/>
          </a:xfrm>
          <a:prstGeom prst="rect">
            <a:avLst/>
          </a:prstGeom>
          <a:solidFill>
            <a:schemeClr val="bg1">
              <a:lumMod val="95000"/>
            </a:schemeClr>
          </a:solidFill>
          <a:ln w="13043">
            <a:solidFill>
              <a:srgbClr val="416180"/>
            </a:solidFill>
            <a:prstDash val="solid"/>
          </a:ln>
        </p:spPr>
        <p:txBody>
          <a:bodyPr/>
          <a:lstStyle/>
          <a:p>
            <a:endParaRPr lang="en-US" sz="1600"/>
          </a:p>
        </p:txBody>
      </p:sp>
      <p:pic>
        <p:nvPicPr>
          <p:cNvPr id="84" name="Image 7" descr="preencoded.png"/>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585244" y="3574828"/>
            <a:ext cx="180967" cy="180967"/>
          </a:xfrm>
          <a:prstGeom prst="rect">
            <a:avLst/>
          </a:prstGeom>
        </p:spPr>
      </p:pic>
      <p:sp>
        <p:nvSpPr>
          <p:cNvPr id="85" name="Text 75"/>
          <p:cNvSpPr/>
          <p:nvPr/>
        </p:nvSpPr>
        <p:spPr>
          <a:xfrm>
            <a:off x="6842361" y="3529110"/>
            <a:ext cx="869152" cy="310501"/>
          </a:xfrm>
          <a:prstGeom prst="rect">
            <a:avLst/>
          </a:prstGeom>
          <a:noFill/>
          <a:ln/>
        </p:spPr>
        <p:txBody>
          <a:bodyPr wrap="none" lIns="25400" tIns="25400" rIns="25400" bIns="25400" rtlCol="0" anchor="t">
            <a:noAutofit/>
          </a:bodyPr>
          <a:lstStyle/>
          <a:p>
            <a:pPr marL="0" indent="0" algn="l">
              <a:lnSpc>
                <a:spcPct val="94939"/>
              </a:lnSpc>
              <a:buNone/>
            </a:pPr>
            <a:r>
              <a:rPr lang="en-US" b="1" dirty="0">
                <a:solidFill>
                  <a:srgbClr val="1D2D3D"/>
                </a:solidFill>
                <a:latin typeface="Arial" pitchFamily="34" charset="0"/>
                <a:ea typeface="Arial" pitchFamily="34" charset="-122"/>
                <a:cs typeface="Arial" pitchFamily="34" charset="-120"/>
              </a:rPr>
              <a:t>MongoDB</a:t>
            </a:r>
            <a:endParaRPr lang="en-US" dirty="0"/>
          </a:p>
        </p:txBody>
      </p:sp>
      <p:sp>
        <p:nvSpPr>
          <p:cNvPr id="86" name="Text 76"/>
          <p:cNvSpPr/>
          <p:nvPr/>
        </p:nvSpPr>
        <p:spPr>
          <a:xfrm>
            <a:off x="6585244" y="3877661"/>
            <a:ext cx="1593154" cy="519998"/>
          </a:xfrm>
          <a:prstGeom prst="rect">
            <a:avLst/>
          </a:prstGeom>
          <a:noFill/>
          <a:ln/>
        </p:spPr>
        <p:txBody>
          <a:bodyPr wrap="square" lIns="25400" tIns="25400" rIns="25400" bIns="25400" rtlCol="0" anchor="t">
            <a:noAutofit/>
          </a:bodyPr>
          <a:lstStyle/>
          <a:p>
            <a:pPr marL="0" indent="0" algn="l">
              <a:lnSpc>
                <a:spcPct val="98981"/>
              </a:lnSpc>
              <a:buNone/>
            </a:pPr>
            <a:r>
              <a:rPr lang="en-US" sz="1600" dirty="0">
                <a:solidFill>
                  <a:srgbClr val="5D5D60"/>
                </a:solidFill>
                <a:latin typeface="Arial" pitchFamily="34" charset="0"/>
                <a:ea typeface="Arial" pitchFamily="34" charset="-122"/>
                <a:cs typeface="Arial" pitchFamily="34" charset="-120"/>
              </a:rPr>
              <a:t>Sessions — never purged</a:t>
            </a:r>
            <a:endParaRPr lang="en-US" sz="1600" dirty="0"/>
          </a:p>
        </p:txBody>
      </p:sp>
      <p:sp>
        <p:nvSpPr>
          <p:cNvPr id="88" name="Shape 78"/>
          <p:cNvSpPr/>
          <p:nvPr/>
        </p:nvSpPr>
        <p:spPr>
          <a:xfrm>
            <a:off x="8782046" y="2273389"/>
            <a:ext cx="6019791" cy="514301"/>
          </a:xfrm>
          <a:prstGeom prst="rect">
            <a:avLst/>
          </a:prstGeom>
          <a:solidFill>
            <a:schemeClr val="bg1">
              <a:lumMod val="95000"/>
            </a:schemeClr>
          </a:solidFill>
          <a:ln w="13043">
            <a:solidFill>
              <a:srgbClr val="416180"/>
            </a:solidFill>
            <a:prstDash val="solid"/>
          </a:ln>
        </p:spPr>
        <p:txBody>
          <a:bodyPr/>
          <a:lstStyle/>
          <a:p>
            <a:endParaRPr lang="en-US" sz="1600"/>
          </a:p>
        </p:txBody>
      </p:sp>
      <p:sp>
        <p:nvSpPr>
          <p:cNvPr id="89" name="Text 79"/>
          <p:cNvSpPr/>
          <p:nvPr/>
        </p:nvSpPr>
        <p:spPr>
          <a:xfrm>
            <a:off x="9214153" y="2295058"/>
            <a:ext cx="5441404" cy="288832"/>
          </a:xfrm>
          <a:prstGeom prst="rect">
            <a:avLst/>
          </a:prstGeom>
          <a:noFill/>
          <a:ln/>
        </p:spPr>
        <p:txBody>
          <a:bodyPr wrap="none" lIns="25400" tIns="25400" rIns="25400" bIns="25400" rtlCol="0" anchor="t">
            <a:noAutofit/>
          </a:bodyPr>
          <a:lstStyle/>
          <a:p>
            <a:pPr marL="0" indent="0" algn="l">
              <a:lnSpc>
                <a:spcPct val="93948"/>
              </a:lnSpc>
              <a:buNone/>
            </a:pPr>
            <a:r>
              <a:rPr lang="en-US" sz="1400" dirty="0">
                <a:solidFill>
                  <a:srgbClr val="1D2D3D"/>
                </a:solidFill>
                <a:latin typeface="Arial" pitchFamily="34" charset="0"/>
                <a:ea typeface="Arial" pitchFamily="34" charset="-122"/>
                <a:cs typeface="Arial" pitchFamily="34" charset="-120"/>
              </a:rPr>
              <a:t>Team space management</a:t>
            </a:r>
            <a:endParaRPr lang="en-US" sz="1400" dirty="0"/>
          </a:p>
        </p:txBody>
      </p:sp>
      <p:sp>
        <p:nvSpPr>
          <p:cNvPr id="90" name="Text 80"/>
          <p:cNvSpPr/>
          <p:nvPr/>
        </p:nvSpPr>
        <p:spPr>
          <a:xfrm>
            <a:off x="9214153" y="2541430"/>
            <a:ext cx="5432289" cy="262689"/>
          </a:xfrm>
          <a:prstGeom prst="rect">
            <a:avLst/>
          </a:prstGeom>
          <a:noFill/>
          <a:ln/>
        </p:spPr>
        <p:txBody>
          <a:bodyPr wrap="none" lIns="25400" tIns="25400" rIns="25400" bIns="25400" rtlCol="0" anchor="t">
            <a:normAutofit/>
          </a:bodyPr>
          <a:lstStyle/>
          <a:p>
            <a:pPr marL="0" indent="0" algn="l">
              <a:lnSpc>
                <a:spcPct val="97981"/>
              </a:lnSpc>
              <a:buNone/>
            </a:pPr>
            <a:r>
              <a:rPr lang="en-US" sz="1200" dirty="0">
                <a:solidFill>
                  <a:srgbClr val="5D5D60"/>
                </a:solidFill>
                <a:latin typeface="Arial" pitchFamily="34" charset="0"/>
                <a:ea typeface="Arial" pitchFamily="34" charset="-122"/>
                <a:cs typeface="Arial" pitchFamily="34" charset="-120"/>
              </a:rPr>
              <a:t>Teams, members &amp; projects</a:t>
            </a:r>
            <a:endParaRPr lang="en-US" sz="1200" dirty="0"/>
          </a:p>
        </p:txBody>
      </p:sp>
      <p:sp>
        <p:nvSpPr>
          <p:cNvPr id="91" name="Shape 81"/>
          <p:cNvSpPr/>
          <p:nvPr/>
        </p:nvSpPr>
        <p:spPr>
          <a:xfrm>
            <a:off x="8782046" y="2835377"/>
            <a:ext cx="6019791" cy="514301"/>
          </a:xfrm>
          <a:prstGeom prst="rect">
            <a:avLst/>
          </a:prstGeom>
          <a:solidFill>
            <a:schemeClr val="bg1">
              <a:lumMod val="95000"/>
            </a:schemeClr>
          </a:solidFill>
          <a:ln w="13043">
            <a:solidFill>
              <a:srgbClr val="416180"/>
            </a:solidFill>
            <a:prstDash val="solid"/>
          </a:ln>
        </p:spPr>
        <p:txBody>
          <a:bodyPr/>
          <a:lstStyle/>
          <a:p>
            <a:endParaRPr lang="en-US" sz="1600"/>
          </a:p>
        </p:txBody>
      </p:sp>
      <p:sp>
        <p:nvSpPr>
          <p:cNvPr id="92" name="Text 82"/>
          <p:cNvSpPr/>
          <p:nvPr/>
        </p:nvSpPr>
        <p:spPr>
          <a:xfrm>
            <a:off x="9214152" y="2857047"/>
            <a:ext cx="5985425" cy="279049"/>
          </a:xfrm>
          <a:prstGeom prst="rect">
            <a:avLst/>
          </a:prstGeom>
          <a:noFill/>
          <a:ln/>
        </p:spPr>
        <p:txBody>
          <a:bodyPr wrap="none" lIns="25400" tIns="25400" rIns="25400" bIns="25400" rtlCol="0" anchor="t">
            <a:noAutofit/>
          </a:bodyPr>
          <a:lstStyle/>
          <a:p>
            <a:pPr marL="0" indent="0" algn="l">
              <a:lnSpc>
                <a:spcPct val="93948"/>
              </a:lnSpc>
              <a:buNone/>
            </a:pPr>
            <a:r>
              <a:rPr lang="en-US" sz="1400" dirty="0">
                <a:solidFill>
                  <a:srgbClr val="1D2D3D"/>
                </a:solidFill>
                <a:latin typeface="Arial" pitchFamily="34" charset="0"/>
                <a:ea typeface="Arial" pitchFamily="34" charset="-122"/>
                <a:cs typeface="Arial" pitchFamily="34" charset="-120"/>
              </a:rPr>
              <a:t>Document library (shared) - Team</a:t>
            </a:r>
            <a:endParaRPr lang="en-US" sz="1400" dirty="0"/>
          </a:p>
        </p:txBody>
      </p:sp>
      <p:sp>
        <p:nvSpPr>
          <p:cNvPr id="93" name="Text 83"/>
          <p:cNvSpPr/>
          <p:nvPr/>
        </p:nvSpPr>
        <p:spPr>
          <a:xfrm>
            <a:off x="9214153" y="3092426"/>
            <a:ext cx="5549508" cy="273682"/>
          </a:xfrm>
          <a:prstGeom prst="rect">
            <a:avLst/>
          </a:prstGeom>
          <a:noFill/>
          <a:ln/>
        </p:spPr>
        <p:txBody>
          <a:bodyPr wrap="none" lIns="25400" tIns="25400" rIns="25400" bIns="25400" rtlCol="0" anchor="t">
            <a:normAutofit/>
          </a:bodyPr>
          <a:lstStyle/>
          <a:p>
            <a:pPr marL="0" indent="0" algn="l">
              <a:lnSpc>
                <a:spcPct val="97981"/>
              </a:lnSpc>
              <a:buNone/>
            </a:pPr>
            <a:r>
              <a:rPr lang="en-US" sz="1200" dirty="0">
                <a:solidFill>
                  <a:srgbClr val="5D5D60"/>
                </a:solidFill>
                <a:latin typeface="Arial" pitchFamily="34" charset="0"/>
                <a:ea typeface="Arial" pitchFamily="34" charset="-122"/>
                <a:cs typeface="Arial" pitchFamily="34" charset="-120"/>
              </a:rPr>
              <a:t>Team-shared docs + pulls</a:t>
            </a:r>
            <a:endParaRPr lang="en-US" sz="1200" dirty="0"/>
          </a:p>
        </p:txBody>
      </p:sp>
      <p:sp>
        <p:nvSpPr>
          <p:cNvPr id="94" name="Shape 84"/>
          <p:cNvSpPr/>
          <p:nvPr/>
        </p:nvSpPr>
        <p:spPr>
          <a:xfrm>
            <a:off x="8782046" y="3397366"/>
            <a:ext cx="6019791" cy="514301"/>
          </a:xfrm>
          <a:prstGeom prst="rect">
            <a:avLst/>
          </a:prstGeom>
          <a:solidFill>
            <a:schemeClr val="bg1">
              <a:lumMod val="95000"/>
            </a:schemeClr>
          </a:solidFill>
          <a:ln w="13043">
            <a:solidFill>
              <a:srgbClr val="416180"/>
            </a:solidFill>
            <a:prstDash val="solid"/>
          </a:ln>
        </p:spPr>
        <p:txBody>
          <a:bodyPr/>
          <a:lstStyle/>
          <a:p>
            <a:endParaRPr lang="en-US" sz="1600"/>
          </a:p>
        </p:txBody>
      </p:sp>
      <p:sp>
        <p:nvSpPr>
          <p:cNvPr id="95" name="Text 85"/>
          <p:cNvSpPr/>
          <p:nvPr/>
        </p:nvSpPr>
        <p:spPr>
          <a:xfrm>
            <a:off x="9214152" y="3419035"/>
            <a:ext cx="5985425" cy="279049"/>
          </a:xfrm>
          <a:prstGeom prst="rect">
            <a:avLst/>
          </a:prstGeom>
          <a:noFill/>
          <a:ln/>
        </p:spPr>
        <p:txBody>
          <a:bodyPr wrap="none" lIns="25400" tIns="25400" rIns="25400" bIns="25400" rtlCol="0" anchor="t">
            <a:noAutofit/>
          </a:bodyPr>
          <a:lstStyle/>
          <a:p>
            <a:pPr marL="0" indent="0" algn="l">
              <a:lnSpc>
                <a:spcPct val="93948"/>
              </a:lnSpc>
              <a:buNone/>
            </a:pPr>
            <a:r>
              <a:rPr lang="en-US" sz="1400" dirty="0">
                <a:solidFill>
                  <a:srgbClr val="1D2D3D"/>
                </a:solidFill>
                <a:latin typeface="Arial" pitchFamily="34" charset="0"/>
                <a:ea typeface="Arial" pitchFamily="34" charset="-122"/>
                <a:cs typeface="Arial" pitchFamily="34" charset="-120"/>
              </a:rPr>
              <a:t>Document library - Personal</a:t>
            </a:r>
            <a:endParaRPr lang="en-US" sz="1400" dirty="0"/>
          </a:p>
        </p:txBody>
      </p:sp>
      <p:sp>
        <p:nvSpPr>
          <p:cNvPr id="96" name="Text 86"/>
          <p:cNvSpPr/>
          <p:nvPr/>
        </p:nvSpPr>
        <p:spPr>
          <a:xfrm>
            <a:off x="9214153" y="3665293"/>
            <a:ext cx="5549508" cy="262803"/>
          </a:xfrm>
          <a:prstGeom prst="rect">
            <a:avLst/>
          </a:prstGeom>
          <a:noFill/>
          <a:ln/>
        </p:spPr>
        <p:txBody>
          <a:bodyPr wrap="none" lIns="25400" tIns="25400" rIns="25400" bIns="25400" rtlCol="0" anchor="t">
            <a:normAutofit/>
          </a:bodyPr>
          <a:lstStyle/>
          <a:p>
            <a:pPr marL="0" indent="0" algn="l">
              <a:lnSpc>
                <a:spcPct val="97981"/>
              </a:lnSpc>
              <a:buNone/>
            </a:pPr>
            <a:r>
              <a:rPr lang="en-US" sz="1200" dirty="0">
                <a:solidFill>
                  <a:srgbClr val="5D5D60"/>
                </a:solidFill>
                <a:latin typeface="Arial" pitchFamily="34" charset="0"/>
                <a:ea typeface="Arial" pitchFamily="34" charset="-122"/>
                <a:cs typeface="Arial" pitchFamily="34" charset="-120"/>
              </a:rPr>
              <a:t>Uploads + SharePoint pulls</a:t>
            </a:r>
            <a:endParaRPr lang="en-US" sz="1200" dirty="0"/>
          </a:p>
        </p:txBody>
      </p:sp>
      <p:sp>
        <p:nvSpPr>
          <p:cNvPr id="97" name="Shape 87"/>
          <p:cNvSpPr/>
          <p:nvPr/>
        </p:nvSpPr>
        <p:spPr>
          <a:xfrm>
            <a:off x="8782046" y="3959354"/>
            <a:ext cx="6019791" cy="514301"/>
          </a:xfrm>
          <a:prstGeom prst="rect">
            <a:avLst/>
          </a:prstGeom>
          <a:solidFill>
            <a:schemeClr val="bg1">
              <a:lumMod val="95000"/>
            </a:schemeClr>
          </a:solidFill>
          <a:ln w="13043">
            <a:solidFill>
              <a:srgbClr val="416180"/>
            </a:solidFill>
            <a:prstDash val="solid"/>
          </a:ln>
        </p:spPr>
        <p:txBody>
          <a:bodyPr/>
          <a:lstStyle/>
          <a:p>
            <a:endParaRPr lang="en-US" sz="1600"/>
          </a:p>
        </p:txBody>
      </p:sp>
      <p:sp>
        <p:nvSpPr>
          <p:cNvPr id="98" name="Text 88"/>
          <p:cNvSpPr/>
          <p:nvPr/>
        </p:nvSpPr>
        <p:spPr>
          <a:xfrm>
            <a:off x="9214152" y="3981024"/>
            <a:ext cx="5985425" cy="279049"/>
          </a:xfrm>
          <a:prstGeom prst="rect">
            <a:avLst/>
          </a:prstGeom>
          <a:noFill/>
          <a:ln/>
        </p:spPr>
        <p:txBody>
          <a:bodyPr wrap="none" lIns="25400" tIns="25400" rIns="25400" bIns="25400" rtlCol="0" anchor="t">
            <a:noAutofit/>
          </a:bodyPr>
          <a:lstStyle/>
          <a:p>
            <a:pPr marL="0" indent="0" algn="l">
              <a:lnSpc>
                <a:spcPct val="93948"/>
              </a:lnSpc>
              <a:buNone/>
            </a:pPr>
            <a:r>
              <a:rPr lang="en-US" sz="1400" dirty="0">
                <a:solidFill>
                  <a:srgbClr val="1D2D3D"/>
                </a:solidFill>
                <a:latin typeface="Arial" pitchFamily="34" charset="0"/>
                <a:ea typeface="Arial" pitchFamily="34" charset="-122"/>
                <a:cs typeface="Arial" pitchFamily="34" charset="-120"/>
              </a:rPr>
              <a:t>SharePoint management</a:t>
            </a:r>
            <a:endParaRPr lang="en-US" sz="1400" dirty="0"/>
          </a:p>
        </p:txBody>
      </p:sp>
      <p:sp>
        <p:nvSpPr>
          <p:cNvPr id="99" name="Text 89"/>
          <p:cNvSpPr/>
          <p:nvPr/>
        </p:nvSpPr>
        <p:spPr>
          <a:xfrm>
            <a:off x="9214153" y="4227283"/>
            <a:ext cx="5549508" cy="262802"/>
          </a:xfrm>
          <a:prstGeom prst="rect">
            <a:avLst/>
          </a:prstGeom>
          <a:noFill/>
          <a:ln/>
        </p:spPr>
        <p:txBody>
          <a:bodyPr wrap="none" lIns="25400" tIns="25400" rIns="25400" bIns="25400" rtlCol="0" anchor="t">
            <a:normAutofit/>
          </a:bodyPr>
          <a:lstStyle/>
          <a:p>
            <a:pPr marL="0" indent="0" algn="l">
              <a:lnSpc>
                <a:spcPct val="97981"/>
              </a:lnSpc>
              <a:buNone/>
            </a:pPr>
            <a:r>
              <a:rPr lang="en-US" sz="1200" dirty="0">
                <a:solidFill>
                  <a:srgbClr val="5D5D60"/>
                </a:solidFill>
                <a:latin typeface="Arial" pitchFamily="34" charset="0"/>
                <a:ea typeface="Arial" pitchFamily="34" charset="-122"/>
                <a:cs typeface="Arial" pitchFamily="34" charset="-120"/>
              </a:rPr>
              <a:t>Site &amp; library registry</a:t>
            </a:r>
            <a:endParaRPr lang="en-US" sz="1200" dirty="0"/>
          </a:p>
        </p:txBody>
      </p:sp>
      <p:sp>
        <p:nvSpPr>
          <p:cNvPr id="100" name="Shape 90"/>
          <p:cNvSpPr/>
          <p:nvPr/>
        </p:nvSpPr>
        <p:spPr>
          <a:xfrm>
            <a:off x="3827257" y="5418121"/>
            <a:ext cx="3047971" cy="1025750"/>
          </a:xfrm>
          <a:prstGeom prst="rect">
            <a:avLst/>
          </a:prstGeom>
          <a:solidFill>
            <a:srgbClr val="FFFFFF"/>
          </a:solidFill>
          <a:ln w="13043">
            <a:solidFill>
              <a:srgbClr val="416180"/>
            </a:solidFill>
            <a:prstDash val="solid"/>
          </a:ln>
        </p:spPr>
        <p:txBody>
          <a:bodyPr/>
          <a:lstStyle/>
          <a:p>
            <a:endParaRPr lang="en-US" sz="1600"/>
          </a:p>
        </p:txBody>
      </p:sp>
      <p:pic>
        <p:nvPicPr>
          <p:cNvPr id="101" name="Image 8" descr="preencoded.png"/>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992668" y="5520900"/>
            <a:ext cx="180967" cy="180967"/>
          </a:xfrm>
          <a:prstGeom prst="rect">
            <a:avLst/>
          </a:prstGeom>
        </p:spPr>
      </p:pic>
      <p:sp>
        <p:nvSpPr>
          <p:cNvPr id="102" name="Text 91"/>
          <p:cNvSpPr/>
          <p:nvPr/>
        </p:nvSpPr>
        <p:spPr>
          <a:xfrm>
            <a:off x="4249784" y="5464722"/>
            <a:ext cx="1761307" cy="331424"/>
          </a:xfrm>
          <a:prstGeom prst="rect">
            <a:avLst/>
          </a:prstGeom>
          <a:noFill/>
          <a:ln/>
        </p:spPr>
        <p:txBody>
          <a:bodyPr wrap="none" lIns="25400" tIns="25400" rIns="25400" bIns="25400" rtlCol="0" anchor="t">
            <a:noAutofit/>
          </a:bodyPr>
          <a:lstStyle/>
          <a:p>
            <a:pPr marL="0" indent="0" algn="l">
              <a:lnSpc>
                <a:spcPct val="95041"/>
              </a:lnSpc>
              <a:buNone/>
            </a:pPr>
            <a:r>
              <a:rPr lang="en-US" b="1" dirty="0">
                <a:solidFill>
                  <a:srgbClr val="1D2D3D"/>
                </a:solidFill>
                <a:latin typeface="Arial" pitchFamily="34" charset="0"/>
                <a:ea typeface="Arial" pitchFamily="34" charset="-122"/>
                <a:cs typeface="Arial" pitchFamily="34" charset="-120"/>
              </a:rPr>
              <a:t>Ingestion Worker</a:t>
            </a:r>
            <a:endParaRPr lang="en-US" dirty="0"/>
          </a:p>
        </p:txBody>
      </p:sp>
      <p:sp>
        <p:nvSpPr>
          <p:cNvPr id="103" name="Text 92"/>
          <p:cNvSpPr/>
          <p:nvPr/>
        </p:nvSpPr>
        <p:spPr>
          <a:xfrm>
            <a:off x="3937248" y="5767556"/>
            <a:ext cx="2988864" cy="289578"/>
          </a:xfrm>
          <a:prstGeom prst="rect">
            <a:avLst/>
          </a:prstGeom>
          <a:noFill/>
          <a:ln/>
        </p:spPr>
        <p:txBody>
          <a:bodyPr wrap="square" lIns="25400" tIns="25400" rIns="25400" bIns="25400" rtlCol="0" anchor="t">
            <a:noAutofit/>
          </a:bodyPr>
          <a:lstStyle/>
          <a:p>
            <a:pPr marL="0" indent="0" algn="l">
              <a:lnSpc>
                <a:spcPct val="103285"/>
              </a:lnSpc>
              <a:buNone/>
            </a:pPr>
            <a:r>
              <a:rPr lang="en-US" sz="1600" dirty="0">
                <a:solidFill>
                  <a:srgbClr val="597EA3"/>
                </a:solidFill>
                <a:latin typeface="Arial" pitchFamily="34" charset="0"/>
                <a:ea typeface="Arial" pitchFamily="34" charset="-122"/>
                <a:cs typeface="Arial" pitchFamily="34" charset="-120"/>
              </a:rPr>
              <a:t>Azure Function</a:t>
            </a:r>
            <a:endParaRPr lang="en-US" sz="1600" dirty="0"/>
          </a:p>
        </p:txBody>
      </p:sp>
      <p:sp>
        <p:nvSpPr>
          <p:cNvPr id="104" name="Text 93"/>
          <p:cNvSpPr/>
          <p:nvPr/>
        </p:nvSpPr>
        <p:spPr>
          <a:xfrm>
            <a:off x="3937248" y="6028544"/>
            <a:ext cx="2988864" cy="289578"/>
          </a:xfrm>
          <a:prstGeom prst="rect">
            <a:avLst/>
          </a:prstGeom>
          <a:noFill/>
          <a:ln/>
        </p:spPr>
        <p:txBody>
          <a:bodyPr wrap="square" lIns="25400" tIns="25400" rIns="25400" bIns="25400" rtlCol="0" anchor="t">
            <a:noAutofit/>
          </a:bodyPr>
          <a:lstStyle/>
          <a:p>
            <a:pPr marL="0" indent="0" algn="l">
              <a:lnSpc>
                <a:spcPct val="103285"/>
              </a:lnSpc>
              <a:buNone/>
            </a:pPr>
            <a:r>
              <a:rPr lang="en-US" sz="1600" dirty="0">
                <a:solidFill>
                  <a:srgbClr val="5D5D60"/>
                </a:solidFill>
                <a:latin typeface="Arial" pitchFamily="34" charset="0"/>
                <a:ea typeface="Arial" pitchFamily="34" charset="-122"/>
                <a:cs typeface="Arial" pitchFamily="34" charset="-120"/>
              </a:rPr>
              <a:t>Policy documents · live uploads</a:t>
            </a:r>
            <a:endParaRPr lang="en-US" sz="1600" dirty="0"/>
          </a:p>
        </p:txBody>
      </p:sp>
      <p:sp>
        <p:nvSpPr>
          <p:cNvPr id="105" name="Shape 94"/>
          <p:cNvSpPr/>
          <p:nvPr/>
        </p:nvSpPr>
        <p:spPr>
          <a:xfrm>
            <a:off x="3827257" y="6634348"/>
            <a:ext cx="3047971" cy="1866864"/>
          </a:xfrm>
          <a:prstGeom prst="rect">
            <a:avLst/>
          </a:prstGeom>
          <a:solidFill>
            <a:srgbClr val="FFFFFF"/>
          </a:solidFill>
          <a:ln w="13043">
            <a:solidFill>
              <a:srgbClr val="416180"/>
            </a:solidFill>
            <a:prstDash val="solid"/>
          </a:ln>
        </p:spPr>
        <p:txBody>
          <a:bodyPr/>
          <a:lstStyle/>
          <a:p>
            <a:endParaRPr lang="en-US"/>
          </a:p>
        </p:txBody>
      </p:sp>
      <p:pic>
        <p:nvPicPr>
          <p:cNvPr id="106" name="Image 9" descr="preencoded.png"/>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3973647" y="6757506"/>
            <a:ext cx="180967" cy="180967"/>
          </a:xfrm>
          <a:prstGeom prst="rect">
            <a:avLst/>
          </a:prstGeom>
        </p:spPr>
      </p:pic>
      <p:sp>
        <p:nvSpPr>
          <p:cNvPr id="107" name="Text 95"/>
          <p:cNvSpPr/>
          <p:nvPr/>
        </p:nvSpPr>
        <p:spPr>
          <a:xfrm>
            <a:off x="4230764" y="6701328"/>
            <a:ext cx="2208090" cy="331424"/>
          </a:xfrm>
          <a:prstGeom prst="rect">
            <a:avLst/>
          </a:prstGeom>
          <a:noFill/>
          <a:ln/>
        </p:spPr>
        <p:txBody>
          <a:bodyPr wrap="none" lIns="25400" tIns="25400" rIns="25400" bIns="25400" rtlCol="0" anchor="t">
            <a:noAutofit/>
          </a:bodyPr>
          <a:lstStyle/>
          <a:p>
            <a:pPr marL="0" indent="0" algn="l">
              <a:lnSpc>
                <a:spcPct val="95041"/>
              </a:lnSpc>
              <a:buNone/>
            </a:pPr>
            <a:r>
              <a:rPr lang="en-US" b="1" dirty="0">
                <a:solidFill>
                  <a:srgbClr val="1D2D3D"/>
                </a:solidFill>
                <a:latin typeface="Arial" pitchFamily="34" charset="0"/>
                <a:ea typeface="Arial" pitchFamily="34" charset="-122"/>
                <a:cs typeface="Arial" pitchFamily="34" charset="-120"/>
              </a:rPr>
              <a:t>Azure Blob Storage</a:t>
            </a:r>
            <a:endParaRPr lang="en-US" dirty="0"/>
          </a:p>
        </p:txBody>
      </p:sp>
      <p:sp>
        <p:nvSpPr>
          <p:cNvPr id="108" name="Shape 96"/>
          <p:cNvSpPr/>
          <p:nvPr/>
        </p:nvSpPr>
        <p:spPr>
          <a:xfrm>
            <a:off x="3973647" y="7070801"/>
            <a:ext cx="2755190" cy="298011"/>
          </a:xfrm>
          <a:prstGeom prst="rect">
            <a:avLst/>
          </a:prstGeom>
          <a:solidFill>
            <a:srgbClr val="E7E7EA"/>
          </a:solidFill>
          <a:ln/>
        </p:spPr>
        <p:txBody>
          <a:bodyPr/>
          <a:lstStyle/>
          <a:p>
            <a:endParaRPr lang="en-US" sz="1400"/>
          </a:p>
        </p:txBody>
      </p:sp>
      <p:sp>
        <p:nvSpPr>
          <p:cNvPr id="109" name="Text 97"/>
          <p:cNvSpPr/>
          <p:nvPr/>
        </p:nvSpPr>
        <p:spPr>
          <a:xfrm>
            <a:off x="4013477" y="7099376"/>
            <a:ext cx="2840209" cy="278961"/>
          </a:xfrm>
          <a:prstGeom prst="rect">
            <a:avLst/>
          </a:prstGeom>
          <a:noFill/>
          <a:ln/>
        </p:spPr>
        <p:txBody>
          <a:bodyPr wrap="square" lIns="25400" tIns="25400" rIns="25400" bIns="25400" rtlCol="0" anchor="t">
            <a:noAutofit/>
          </a:bodyPr>
          <a:lstStyle/>
          <a:p>
            <a:pPr marL="0" indent="0" algn="l">
              <a:lnSpc>
                <a:spcPct val="98981"/>
              </a:lnSpc>
              <a:buNone/>
            </a:pPr>
            <a:r>
              <a:rPr lang="en-US" sz="1400" dirty="0">
                <a:solidFill>
                  <a:srgbClr val="424244"/>
                </a:solidFill>
                <a:latin typeface="Arial" pitchFamily="34" charset="0"/>
                <a:ea typeface="Arial" pitchFamily="34" charset="-122"/>
                <a:cs typeface="Arial" pitchFamily="34" charset="-120"/>
              </a:rPr>
              <a:t>Enterprise shared corpus</a:t>
            </a:r>
            <a:endParaRPr lang="en-US" sz="1400" dirty="0"/>
          </a:p>
        </p:txBody>
      </p:sp>
      <p:sp>
        <p:nvSpPr>
          <p:cNvPr id="110" name="Shape 98"/>
          <p:cNvSpPr/>
          <p:nvPr/>
        </p:nvSpPr>
        <p:spPr>
          <a:xfrm>
            <a:off x="3973647" y="7444962"/>
            <a:ext cx="2755190" cy="298011"/>
          </a:xfrm>
          <a:prstGeom prst="rect">
            <a:avLst/>
          </a:prstGeom>
          <a:solidFill>
            <a:srgbClr val="E7E7EA"/>
          </a:solidFill>
          <a:ln/>
        </p:spPr>
        <p:txBody>
          <a:bodyPr/>
          <a:lstStyle/>
          <a:p>
            <a:endParaRPr lang="en-US" sz="1400"/>
          </a:p>
        </p:txBody>
      </p:sp>
      <p:sp>
        <p:nvSpPr>
          <p:cNvPr id="111" name="Text 99"/>
          <p:cNvSpPr/>
          <p:nvPr/>
        </p:nvSpPr>
        <p:spPr>
          <a:xfrm>
            <a:off x="4013477" y="7473537"/>
            <a:ext cx="2840209" cy="278961"/>
          </a:xfrm>
          <a:prstGeom prst="rect">
            <a:avLst/>
          </a:prstGeom>
          <a:noFill/>
          <a:ln/>
        </p:spPr>
        <p:txBody>
          <a:bodyPr wrap="square" lIns="25400" tIns="25400" rIns="25400" bIns="25400" rtlCol="0" anchor="t">
            <a:noAutofit/>
          </a:bodyPr>
          <a:lstStyle/>
          <a:p>
            <a:pPr marL="0" indent="0" algn="l">
              <a:lnSpc>
                <a:spcPct val="98981"/>
              </a:lnSpc>
              <a:buNone/>
            </a:pPr>
            <a:r>
              <a:rPr lang="en-US" sz="1400" dirty="0">
                <a:solidFill>
                  <a:srgbClr val="424244"/>
                </a:solidFill>
                <a:latin typeface="Arial" pitchFamily="34" charset="0"/>
                <a:ea typeface="Arial" pitchFamily="34" charset="-122"/>
                <a:cs typeface="Arial" pitchFamily="34" charset="-120"/>
              </a:rPr>
              <a:t>Team documents</a:t>
            </a:r>
            <a:endParaRPr lang="en-US" sz="1400" dirty="0"/>
          </a:p>
        </p:txBody>
      </p:sp>
      <p:sp>
        <p:nvSpPr>
          <p:cNvPr id="112" name="Shape 100"/>
          <p:cNvSpPr/>
          <p:nvPr/>
        </p:nvSpPr>
        <p:spPr>
          <a:xfrm>
            <a:off x="3973647" y="7819123"/>
            <a:ext cx="2755190" cy="298011"/>
          </a:xfrm>
          <a:prstGeom prst="rect">
            <a:avLst/>
          </a:prstGeom>
          <a:solidFill>
            <a:srgbClr val="E7E7EA"/>
          </a:solidFill>
          <a:ln/>
        </p:spPr>
        <p:txBody>
          <a:bodyPr/>
          <a:lstStyle/>
          <a:p>
            <a:endParaRPr lang="en-US" sz="1400"/>
          </a:p>
        </p:txBody>
      </p:sp>
      <p:sp>
        <p:nvSpPr>
          <p:cNvPr id="113" name="Text 101"/>
          <p:cNvSpPr/>
          <p:nvPr/>
        </p:nvSpPr>
        <p:spPr>
          <a:xfrm>
            <a:off x="4013477" y="7847698"/>
            <a:ext cx="2840209" cy="278961"/>
          </a:xfrm>
          <a:prstGeom prst="rect">
            <a:avLst/>
          </a:prstGeom>
          <a:noFill/>
          <a:ln/>
        </p:spPr>
        <p:txBody>
          <a:bodyPr wrap="square" lIns="25400" tIns="25400" rIns="25400" bIns="25400" rtlCol="0" anchor="t">
            <a:noAutofit/>
          </a:bodyPr>
          <a:lstStyle/>
          <a:p>
            <a:pPr marL="0" indent="0" algn="l">
              <a:lnSpc>
                <a:spcPct val="98981"/>
              </a:lnSpc>
              <a:buNone/>
            </a:pPr>
            <a:r>
              <a:rPr lang="en-US" sz="1400" dirty="0">
                <a:solidFill>
                  <a:srgbClr val="424244"/>
                </a:solidFill>
                <a:latin typeface="Arial" pitchFamily="34" charset="0"/>
                <a:ea typeface="Arial" pitchFamily="34" charset="-122"/>
                <a:cs typeface="Arial" pitchFamily="34" charset="-120"/>
              </a:rPr>
              <a:t>Personal documents</a:t>
            </a:r>
            <a:endParaRPr lang="en-US" sz="1400" dirty="0"/>
          </a:p>
        </p:txBody>
      </p:sp>
      <p:sp>
        <p:nvSpPr>
          <p:cNvPr id="115" name="Shape 103"/>
          <p:cNvSpPr/>
          <p:nvPr/>
        </p:nvSpPr>
        <p:spPr>
          <a:xfrm>
            <a:off x="7296136" y="5788130"/>
            <a:ext cx="7467592" cy="769931"/>
          </a:xfrm>
          <a:prstGeom prst="rect">
            <a:avLst/>
          </a:prstGeom>
          <a:solidFill>
            <a:srgbClr val="FFFFFF"/>
          </a:solidFill>
          <a:ln w="13043">
            <a:solidFill>
              <a:srgbClr val="416180"/>
            </a:solidFill>
            <a:prstDash val="solid"/>
          </a:ln>
        </p:spPr>
        <p:txBody>
          <a:bodyPr/>
          <a:lstStyle/>
          <a:p>
            <a:endParaRPr lang="en-US" sz="1600"/>
          </a:p>
        </p:txBody>
      </p:sp>
      <p:pic>
        <p:nvPicPr>
          <p:cNvPr id="116" name="Image 10" descr="preencoded.png"/>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7480567" y="5913368"/>
            <a:ext cx="190477" cy="190477"/>
          </a:xfrm>
          <a:prstGeom prst="rect">
            <a:avLst/>
          </a:prstGeom>
        </p:spPr>
      </p:pic>
      <p:sp>
        <p:nvSpPr>
          <p:cNvPr id="117" name="Text 104"/>
          <p:cNvSpPr/>
          <p:nvPr/>
        </p:nvSpPr>
        <p:spPr>
          <a:xfrm>
            <a:off x="7747194" y="5861875"/>
            <a:ext cx="2137241" cy="352414"/>
          </a:xfrm>
          <a:prstGeom prst="rect">
            <a:avLst/>
          </a:prstGeom>
          <a:noFill/>
          <a:ln/>
        </p:spPr>
        <p:txBody>
          <a:bodyPr wrap="none" lIns="25400" tIns="25400" rIns="25400" bIns="25400" rtlCol="0" anchor="t">
            <a:normAutofit/>
          </a:bodyPr>
          <a:lstStyle/>
          <a:p>
            <a:pPr marL="0" indent="0" algn="l">
              <a:lnSpc>
                <a:spcPct val="96399"/>
              </a:lnSpc>
              <a:buNone/>
            </a:pPr>
            <a:r>
              <a:rPr lang="en-US" b="1" dirty="0">
                <a:solidFill>
                  <a:srgbClr val="1D2D3D"/>
                </a:solidFill>
                <a:latin typeface="Arial" pitchFamily="34" charset="0"/>
                <a:ea typeface="Arial" pitchFamily="34" charset="-122"/>
                <a:cs typeface="Arial" pitchFamily="34" charset="-120"/>
              </a:rPr>
              <a:t>Model Deployments</a:t>
            </a:r>
            <a:endParaRPr lang="en-US" dirty="0"/>
          </a:p>
        </p:txBody>
      </p:sp>
      <p:sp>
        <p:nvSpPr>
          <p:cNvPr id="118" name="Text 105"/>
          <p:cNvSpPr/>
          <p:nvPr/>
        </p:nvSpPr>
        <p:spPr>
          <a:xfrm>
            <a:off x="7480567" y="6195209"/>
            <a:ext cx="7165875" cy="289612"/>
          </a:xfrm>
          <a:prstGeom prst="rect">
            <a:avLst/>
          </a:prstGeom>
          <a:noFill/>
          <a:ln/>
        </p:spPr>
        <p:txBody>
          <a:bodyPr wrap="square" lIns="25400" tIns="25400" rIns="25400" bIns="25400" rtlCol="0" anchor="t">
            <a:noAutofit/>
          </a:bodyPr>
          <a:lstStyle/>
          <a:p>
            <a:pPr marL="0" indent="0" algn="l">
              <a:lnSpc>
                <a:spcPct val="98981"/>
              </a:lnSpc>
              <a:buNone/>
            </a:pPr>
            <a:r>
              <a:rPr lang="en-US" sz="1600" dirty="0">
                <a:solidFill>
                  <a:srgbClr val="5D5D60"/>
                </a:solidFill>
                <a:latin typeface="Arial" pitchFamily="34" charset="0"/>
                <a:ea typeface="Arial" pitchFamily="34" charset="-122"/>
                <a:cs typeface="Arial" pitchFamily="34" charset="-120"/>
              </a:rPr>
              <a:t>GPT 5.4· embeddings</a:t>
            </a:r>
            <a:endParaRPr lang="en-US" sz="1600" dirty="0"/>
          </a:p>
        </p:txBody>
      </p:sp>
      <p:sp>
        <p:nvSpPr>
          <p:cNvPr id="119" name="Shape 106"/>
          <p:cNvSpPr/>
          <p:nvPr/>
        </p:nvSpPr>
        <p:spPr>
          <a:xfrm>
            <a:off x="7296136" y="6735280"/>
            <a:ext cx="3467042" cy="734396"/>
          </a:xfrm>
          <a:prstGeom prst="rect">
            <a:avLst/>
          </a:prstGeom>
          <a:solidFill>
            <a:srgbClr val="FFFFFF"/>
          </a:solidFill>
          <a:ln w="13043">
            <a:solidFill>
              <a:srgbClr val="416180"/>
            </a:solidFill>
            <a:prstDash val="solid"/>
          </a:ln>
        </p:spPr>
        <p:txBody>
          <a:bodyPr/>
          <a:lstStyle/>
          <a:p>
            <a:endParaRPr lang="en-US" sz="1600"/>
          </a:p>
        </p:txBody>
      </p:sp>
      <p:pic>
        <p:nvPicPr>
          <p:cNvPr id="120" name="Image 11" descr="preencoded.png"/>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7442526" y="6938664"/>
            <a:ext cx="180967" cy="180967"/>
          </a:xfrm>
          <a:prstGeom prst="rect">
            <a:avLst/>
          </a:prstGeom>
        </p:spPr>
      </p:pic>
      <p:sp>
        <p:nvSpPr>
          <p:cNvPr id="121" name="Text 107"/>
          <p:cNvSpPr/>
          <p:nvPr/>
        </p:nvSpPr>
        <p:spPr>
          <a:xfrm>
            <a:off x="7699643" y="6892947"/>
            <a:ext cx="721607" cy="310501"/>
          </a:xfrm>
          <a:prstGeom prst="rect">
            <a:avLst/>
          </a:prstGeom>
          <a:noFill/>
          <a:ln/>
        </p:spPr>
        <p:txBody>
          <a:bodyPr wrap="none" lIns="25400" tIns="25400" rIns="25400" bIns="25400" rtlCol="0" anchor="t">
            <a:noAutofit/>
          </a:bodyPr>
          <a:lstStyle/>
          <a:p>
            <a:pPr marL="0" indent="0" algn="l">
              <a:lnSpc>
                <a:spcPct val="94939"/>
              </a:lnSpc>
              <a:buNone/>
            </a:pPr>
            <a:r>
              <a:rPr lang="en-US" sz="1600" dirty="0">
                <a:solidFill>
                  <a:srgbClr val="1D2D3D"/>
                </a:solidFill>
                <a:latin typeface="Arial" pitchFamily="34" charset="0"/>
                <a:ea typeface="Arial" pitchFamily="34" charset="-122"/>
                <a:cs typeface="Arial" pitchFamily="34" charset="-120"/>
              </a:rPr>
              <a:t>Indexer</a:t>
            </a:r>
            <a:endParaRPr lang="en-US" sz="1600" dirty="0"/>
          </a:p>
        </p:txBody>
      </p:sp>
      <p:sp>
        <p:nvSpPr>
          <p:cNvPr id="122" name="Text 108"/>
          <p:cNvSpPr/>
          <p:nvPr/>
        </p:nvSpPr>
        <p:spPr>
          <a:xfrm>
            <a:off x="7442526" y="7174858"/>
            <a:ext cx="3680280" cy="279049"/>
          </a:xfrm>
          <a:prstGeom prst="rect">
            <a:avLst/>
          </a:prstGeom>
          <a:noFill/>
          <a:ln/>
        </p:spPr>
        <p:txBody>
          <a:bodyPr wrap="square" lIns="25400" tIns="25400" rIns="25400" bIns="25400" rtlCol="0" anchor="t">
            <a:noAutofit/>
          </a:bodyPr>
          <a:lstStyle/>
          <a:p>
            <a:pPr marL="0" indent="0" algn="l">
              <a:lnSpc>
                <a:spcPct val="98981"/>
              </a:lnSpc>
              <a:buNone/>
            </a:pPr>
            <a:r>
              <a:rPr lang="en-US" sz="1400" dirty="0">
                <a:solidFill>
                  <a:srgbClr val="5D5D60"/>
                </a:solidFill>
                <a:latin typeface="Arial" pitchFamily="34" charset="0"/>
                <a:ea typeface="Arial" pitchFamily="34" charset="-122"/>
                <a:cs typeface="Arial" pitchFamily="34" charset="-120"/>
              </a:rPr>
              <a:t>Crawls Blob, runs enrichment</a:t>
            </a:r>
            <a:endParaRPr lang="en-US" sz="1400" dirty="0"/>
          </a:p>
        </p:txBody>
      </p:sp>
      <p:sp>
        <p:nvSpPr>
          <p:cNvPr id="123" name="Shape 109"/>
          <p:cNvSpPr/>
          <p:nvPr/>
        </p:nvSpPr>
        <p:spPr>
          <a:xfrm>
            <a:off x="11125171" y="6735280"/>
            <a:ext cx="3638490" cy="734396"/>
          </a:xfrm>
          <a:prstGeom prst="rect">
            <a:avLst/>
          </a:prstGeom>
          <a:solidFill>
            <a:srgbClr val="FFFFFF"/>
          </a:solidFill>
          <a:ln w="13043">
            <a:solidFill>
              <a:srgbClr val="416180"/>
            </a:solidFill>
            <a:prstDash val="solid"/>
          </a:ln>
        </p:spPr>
        <p:txBody>
          <a:bodyPr/>
          <a:lstStyle/>
          <a:p>
            <a:endParaRPr lang="en-US" sz="1600"/>
          </a:p>
        </p:txBody>
      </p:sp>
      <p:pic>
        <p:nvPicPr>
          <p:cNvPr id="124" name="Image 12" descr="preencoded.png"/>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1271561" y="6938664"/>
            <a:ext cx="180967" cy="180967"/>
          </a:xfrm>
          <a:prstGeom prst="rect">
            <a:avLst/>
          </a:prstGeom>
        </p:spPr>
      </p:pic>
      <p:sp>
        <p:nvSpPr>
          <p:cNvPr id="125" name="Text 110"/>
          <p:cNvSpPr/>
          <p:nvPr/>
        </p:nvSpPr>
        <p:spPr>
          <a:xfrm>
            <a:off x="11528678" y="6892947"/>
            <a:ext cx="699258" cy="310501"/>
          </a:xfrm>
          <a:prstGeom prst="rect">
            <a:avLst/>
          </a:prstGeom>
          <a:noFill/>
          <a:ln/>
        </p:spPr>
        <p:txBody>
          <a:bodyPr wrap="none" lIns="25400" tIns="25400" rIns="25400" bIns="25400" rtlCol="0" anchor="t">
            <a:noAutofit/>
          </a:bodyPr>
          <a:lstStyle/>
          <a:p>
            <a:pPr marL="0" indent="0" algn="l">
              <a:lnSpc>
                <a:spcPct val="94939"/>
              </a:lnSpc>
              <a:buNone/>
            </a:pPr>
            <a:r>
              <a:rPr lang="en-US" sz="1600" dirty="0">
                <a:solidFill>
                  <a:srgbClr val="1D2D3D"/>
                </a:solidFill>
                <a:latin typeface="Arial" pitchFamily="34" charset="0"/>
                <a:ea typeface="Arial" pitchFamily="34" charset="-122"/>
                <a:cs typeface="Arial" pitchFamily="34" charset="-120"/>
              </a:rPr>
              <a:t>Skillset</a:t>
            </a:r>
            <a:endParaRPr lang="en-US" sz="1600" dirty="0"/>
          </a:p>
        </p:txBody>
      </p:sp>
      <p:sp>
        <p:nvSpPr>
          <p:cNvPr id="126" name="Text 111"/>
          <p:cNvSpPr/>
          <p:nvPr/>
        </p:nvSpPr>
        <p:spPr>
          <a:xfrm>
            <a:off x="11271561" y="7174858"/>
            <a:ext cx="3680280" cy="279049"/>
          </a:xfrm>
          <a:prstGeom prst="rect">
            <a:avLst/>
          </a:prstGeom>
          <a:noFill/>
          <a:ln/>
        </p:spPr>
        <p:txBody>
          <a:bodyPr wrap="square" lIns="25400" tIns="25400" rIns="25400" bIns="25400" rtlCol="0" anchor="t">
            <a:noAutofit/>
          </a:bodyPr>
          <a:lstStyle/>
          <a:p>
            <a:pPr marL="0" indent="0" algn="l">
              <a:lnSpc>
                <a:spcPct val="98981"/>
              </a:lnSpc>
              <a:buNone/>
            </a:pPr>
            <a:r>
              <a:rPr lang="en-US" sz="1400" dirty="0">
                <a:solidFill>
                  <a:srgbClr val="5D5D60"/>
                </a:solidFill>
                <a:latin typeface="Arial" pitchFamily="34" charset="0"/>
                <a:ea typeface="Arial" pitchFamily="34" charset="-122"/>
                <a:cs typeface="Arial" pitchFamily="34" charset="-120"/>
              </a:rPr>
              <a:t>OCR · chunking · embedding</a:t>
            </a:r>
            <a:endParaRPr lang="en-US" sz="1400" dirty="0"/>
          </a:p>
        </p:txBody>
      </p:sp>
      <p:sp>
        <p:nvSpPr>
          <p:cNvPr id="127" name="Shape 112"/>
          <p:cNvSpPr/>
          <p:nvPr/>
        </p:nvSpPr>
        <p:spPr>
          <a:xfrm>
            <a:off x="7296136" y="7785292"/>
            <a:ext cx="2362145" cy="696900"/>
          </a:xfrm>
          <a:prstGeom prst="rect">
            <a:avLst/>
          </a:prstGeom>
          <a:solidFill>
            <a:srgbClr val="FFFFFF"/>
          </a:solidFill>
          <a:ln w="13043">
            <a:solidFill>
              <a:srgbClr val="416180"/>
            </a:solidFill>
            <a:prstDash val="solid"/>
          </a:ln>
        </p:spPr>
        <p:txBody>
          <a:bodyPr/>
          <a:lstStyle/>
          <a:p>
            <a:endParaRPr lang="en-US"/>
          </a:p>
        </p:txBody>
      </p:sp>
      <p:sp>
        <p:nvSpPr>
          <p:cNvPr id="128" name="Text 113"/>
          <p:cNvSpPr/>
          <p:nvPr/>
        </p:nvSpPr>
        <p:spPr>
          <a:xfrm>
            <a:off x="7423438" y="7836921"/>
            <a:ext cx="2318296" cy="278098"/>
          </a:xfrm>
          <a:prstGeom prst="rect">
            <a:avLst/>
          </a:prstGeom>
          <a:noFill/>
          <a:ln/>
        </p:spPr>
        <p:txBody>
          <a:bodyPr wrap="square" lIns="25400" tIns="25400" rIns="25400" bIns="25400" rtlCol="0" anchor="t">
            <a:normAutofit/>
          </a:bodyPr>
          <a:lstStyle/>
          <a:p>
            <a:pPr marL="0" indent="0" algn="l">
              <a:lnSpc>
                <a:spcPct val="90509"/>
              </a:lnSpc>
              <a:buNone/>
            </a:pPr>
            <a:r>
              <a:rPr lang="en-US" sz="1400" dirty="0">
                <a:solidFill>
                  <a:srgbClr val="1D2D3D"/>
                </a:solidFill>
                <a:latin typeface="Arial" pitchFamily="34" charset="0"/>
                <a:ea typeface="Arial" pitchFamily="34" charset="-122"/>
                <a:cs typeface="Arial" pitchFamily="34" charset="-120"/>
              </a:rPr>
              <a:t>Knowledge Store</a:t>
            </a:r>
            <a:endParaRPr lang="en-US" sz="1400" dirty="0"/>
          </a:p>
        </p:txBody>
      </p:sp>
      <p:sp>
        <p:nvSpPr>
          <p:cNvPr id="129" name="Text 114"/>
          <p:cNvSpPr/>
          <p:nvPr/>
        </p:nvSpPr>
        <p:spPr>
          <a:xfrm>
            <a:off x="7423438" y="8086429"/>
            <a:ext cx="2318296" cy="279049"/>
          </a:xfrm>
          <a:prstGeom prst="rect">
            <a:avLst/>
          </a:prstGeom>
          <a:noFill/>
          <a:ln/>
        </p:spPr>
        <p:txBody>
          <a:bodyPr wrap="square" lIns="25400" tIns="25400" rIns="25400" bIns="25400" rtlCol="0" anchor="t">
            <a:noAutofit/>
          </a:bodyPr>
          <a:lstStyle/>
          <a:p>
            <a:pPr marL="0" indent="0" algn="l">
              <a:lnSpc>
                <a:spcPct val="98981"/>
              </a:lnSpc>
              <a:buNone/>
            </a:pPr>
            <a:r>
              <a:rPr lang="en-US" sz="1400" dirty="0">
                <a:solidFill>
                  <a:srgbClr val="5D5D60"/>
                </a:solidFill>
                <a:latin typeface="Arial" pitchFamily="34" charset="0"/>
                <a:ea typeface="Arial" pitchFamily="34" charset="-122"/>
                <a:cs typeface="Arial" pitchFamily="34" charset="-120"/>
              </a:rPr>
              <a:t>RAW file contents as JSON</a:t>
            </a:r>
            <a:endParaRPr lang="en-US" sz="1400" dirty="0"/>
          </a:p>
        </p:txBody>
      </p:sp>
      <p:sp>
        <p:nvSpPr>
          <p:cNvPr id="130" name="Shape 115"/>
          <p:cNvSpPr/>
          <p:nvPr/>
        </p:nvSpPr>
        <p:spPr>
          <a:xfrm>
            <a:off x="9848826" y="7785292"/>
            <a:ext cx="2362145" cy="696900"/>
          </a:xfrm>
          <a:prstGeom prst="rect">
            <a:avLst/>
          </a:prstGeom>
          <a:solidFill>
            <a:srgbClr val="FFFFFF"/>
          </a:solidFill>
          <a:ln w="13043">
            <a:solidFill>
              <a:srgbClr val="416180"/>
            </a:solidFill>
            <a:prstDash val="solid"/>
          </a:ln>
        </p:spPr>
        <p:txBody>
          <a:bodyPr/>
          <a:lstStyle/>
          <a:p>
            <a:endParaRPr lang="en-US"/>
          </a:p>
        </p:txBody>
      </p:sp>
      <p:sp>
        <p:nvSpPr>
          <p:cNvPr id="131" name="Text 116"/>
          <p:cNvSpPr/>
          <p:nvPr/>
        </p:nvSpPr>
        <p:spPr>
          <a:xfrm>
            <a:off x="9976127" y="7836921"/>
            <a:ext cx="2318296" cy="278098"/>
          </a:xfrm>
          <a:prstGeom prst="rect">
            <a:avLst/>
          </a:prstGeom>
          <a:noFill/>
          <a:ln/>
        </p:spPr>
        <p:txBody>
          <a:bodyPr wrap="square" lIns="25400" tIns="25400" rIns="25400" bIns="25400" rtlCol="0" anchor="t">
            <a:normAutofit/>
          </a:bodyPr>
          <a:lstStyle/>
          <a:p>
            <a:pPr marL="0" indent="0" algn="l">
              <a:lnSpc>
                <a:spcPct val="90509"/>
              </a:lnSpc>
              <a:buNone/>
            </a:pPr>
            <a:r>
              <a:rPr lang="en-US" sz="1400" dirty="0">
                <a:solidFill>
                  <a:srgbClr val="1D2D3D"/>
                </a:solidFill>
                <a:latin typeface="Arial" pitchFamily="34" charset="0"/>
                <a:ea typeface="Arial" pitchFamily="34" charset="-122"/>
                <a:cs typeface="Arial" pitchFamily="34" charset="-120"/>
              </a:rPr>
              <a:t>User Search Index</a:t>
            </a:r>
            <a:endParaRPr lang="en-US" sz="1400" dirty="0"/>
          </a:p>
        </p:txBody>
      </p:sp>
      <p:sp>
        <p:nvSpPr>
          <p:cNvPr id="132" name="Text 117"/>
          <p:cNvSpPr/>
          <p:nvPr/>
        </p:nvSpPr>
        <p:spPr>
          <a:xfrm>
            <a:off x="9976127" y="8086429"/>
            <a:ext cx="2318296" cy="279049"/>
          </a:xfrm>
          <a:prstGeom prst="rect">
            <a:avLst/>
          </a:prstGeom>
          <a:noFill/>
          <a:ln/>
        </p:spPr>
        <p:txBody>
          <a:bodyPr wrap="square" lIns="25400" tIns="25400" rIns="25400" bIns="25400" rtlCol="0" anchor="t">
            <a:noAutofit/>
          </a:bodyPr>
          <a:lstStyle/>
          <a:p>
            <a:pPr marL="0" indent="0" algn="l">
              <a:lnSpc>
                <a:spcPct val="98981"/>
              </a:lnSpc>
              <a:buNone/>
            </a:pPr>
            <a:r>
              <a:rPr lang="en-US" sz="1400" dirty="0">
                <a:solidFill>
                  <a:srgbClr val="5D5D60"/>
                </a:solidFill>
                <a:latin typeface="Arial" pitchFamily="34" charset="0"/>
                <a:ea typeface="Arial" pitchFamily="34" charset="-122"/>
                <a:cs typeface="Arial" pitchFamily="34" charset="-120"/>
              </a:rPr>
              <a:t>Per-chat uploads</a:t>
            </a:r>
            <a:endParaRPr lang="en-US" sz="1400" dirty="0"/>
          </a:p>
        </p:txBody>
      </p:sp>
      <p:sp>
        <p:nvSpPr>
          <p:cNvPr id="133" name="Shape 118"/>
          <p:cNvSpPr/>
          <p:nvPr/>
        </p:nvSpPr>
        <p:spPr>
          <a:xfrm>
            <a:off x="12401515" y="7785292"/>
            <a:ext cx="2362145" cy="696900"/>
          </a:xfrm>
          <a:prstGeom prst="rect">
            <a:avLst/>
          </a:prstGeom>
          <a:solidFill>
            <a:srgbClr val="FFFFFF"/>
          </a:solidFill>
          <a:ln w="13043">
            <a:solidFill>
              <a:srgbClr val="416180"/>
            </a:solidFill>
            <a:prstDash val="solid"/>
          </a:ln>
        </p:spPr>
        <p:txBody>
          <a:bodyPr/>
          <a:lstStyle/>
          <a:p>
            <a:endParaRPr lang="en-US"/>
          </a:p>
        </p:txBody>
      </p:sp>
      <p:sp>
        <p:nvSpPr>
          <p:cNvPr id="134" name="Text 119"/>
          <p:cNvSpPr/>
          <p:nvPr/>
        </p:nvSpPr>
        <p:spPr>
          <a:xfrm>
            <a:off x="12528817" y="7836921"/>
            <a:ext cx="2318296" cy="278098"/>
          </a:xfrm>
          <a:prstGeom prst="rect">
            <a:avLst/>
          </a:prstGeom>
          <a:noFill/>
          <a:ln/>
        </p:spPr>
        <p:txBody>
          <a:bodyPr wrap="square" lIns="25400" tIns="25400" rIns="25400" bIns="25400" rtlCol="0" anchor="t">
            <a:normAutofit/>
          </a:bodyPr>
          <a:lstStyle/>
          <a:p>
            <a:pPr marL="0" indent="0" algn="l">
              <a:lnSpc>
                <a:spcPct val="90509"/>
              </a:lnSpc>
              <a:buNone/>
            </a:pPr>
            <a:r>
              <a:rPr lang="en-US" sz="1400" dirty="0">
                <a:solidFill>
                  <a:srgbClr val="1D2D3D"/>
                </a:solidFill>
                <a:latin typeface="Arial" pitchFamily="34" charset="0"/>
                <a:ea typeface="Arial" pitchFamily="34" charset="-122"/>
                <a:cs typeface="Arial" pitchFamily="34" charset="-120"/>
              </a:rPr>
              <a:t>Enterprise Search Index</a:t>
            </a:r>
            <a:endParaRPr lang="en-US" sz="1400" dirty="0"/>
          </a:p>
        </p:txBody>
      </p:sp>
      <p:sp>
        <p:nvSpPr>
          <p:cNvPr id="135" name="Text 120"/>
          <p:cNvSpPr/>
          <p:nvPr/>
        </p:nvSpPr>
        <p:spPr>
          <a:xfrm>
            <a:off x="12528817" y="8086429"/>
            <a:ext cx="2318296" cy="279049"/>
          </a:xfrm>
          <a:prstGeom prst="rect">
            <a:avLst/>
          </a:prstGeom>
          <a:noFill/>
          <a:ln/>
        </p:spPr>
        <p:txBody>
          <a:bodyPr wrap="square" lIns="25400" tIns="25400" rIns="25400" bIns="25400" rtlCol="0" anchor="t">
            <a:normAutofit/>
          </a:bodyPr>
          <a:lstStyle/>
          <a:p>
            <a:pPr marL="0" indent="0" algn="l">
              <a:lnSpc>
                <a:spcPct val="98981"/>
              </a:lnSpc>
              <a:buNone/>
            </a:pPr>
            <a:r>
              <a:rPr lang="en-US" sz="1400" dirty="0">
                <a:solidFill>
                  <a:srgbClr val="5D5D60"/>
                </a:solidFill>
                <a:latin typeface="Arial" pitchFamily="34" charset="0"/>
                <a:ea typeface="Arial" pitchFamily="34" charset="-122"/>
                <a:cs typeface="Arial" pitchFamily="34" charset="-120"/>
              </a:rPr>
              <a:t>Shared corpus</a:t>
            </a:r>
            <a:endParaRPr lang="en-US" sz="1400" dirty="0"/>
          </a:p>
        </p:txBody>
      </p:sp>
      <p:sp>
        <p:nvSpPr>
          <p:cNvPr id="136" name="Text 121"/>
          <p:cNvSpPr/>
          <p:nvPr/>
        </p:nvSpPr>
        <p:spPr>
          <a:xfrm>
            <a:off x="2079572" y="2089715"/>
            <a:ext cx="990544" cy="333326"/>
          </a:xfrm>
          <a:prstGeom prst="rect">
            <a:avLst/>
          </a:prstGeom>
          <a:noFill/>
          <a:ln/>
        </p:spPr>
        <p:txBody>
          <a:bodyPr wrap="square" lIns="25400" tIns="25400" rIns="25400" bIns="25400" rtlCol="0" anchor="t">
            <a:normAutofit/>
          </a:bodyPr>
          <a:lstStyle/>
          <a:p>
            <a:pPr marL="0" indent="0" algn="r">
              <a:lnSpc>
                <a:spcPct val="135835"/>
              </a:lnSpc>
              <a:buNone/>
            </a:pPr>
            <a:r>
              <a:rPr lang="en-US" sz="1400" i="1" dirty="0">
                <a:solidFill>
                  <a:srgbClr val="5D5D60"/>
                </a:solidFill>
                <a:latin typeface="Arial" pitchFamily="34" charset="0"/>
                <a:ea typeface="Arial" pitchFamily="34" charset="-122"/>
                <a:cs typeface="Arial" pitchFamily="34" charset="-120"/>
              </a:rPr>
              <a:t>SSO</a:t>
            </a:r>
            <a:endParaRPr lang="en-US" sz="1400" dirty="0"/>
          </a:p>
        </p:txBody>
      </p:sp>
      <p:sp>
        <p:nvSpPr>
          <p:cNvPr id="137" name="Text 122"/>
          <p:cNvSpPr/>
          <p:nvPr/>
        </p:nvSpPr>
        <p:spPr>
          <a:xfrm rot="-5400000">
            <a:off x="5903218" y="3313922"/>
            <a:ext cx="819150" cy="333375"/>
          </a:xfrm>
          <a:prstGeom prst="rect">
            <a:avLst/>
          </a:prstGeom>
          <a:noFill/>
          <a:ln/>
        </p:spPr>
        <p:txBody>
          <a:bodyPr wrap="none" lIns="25400" tIns="25400" rIns="25400" bIns="25400" rtlCol="0" anchor="t">
            <a:normAutofit/>
          </a:bodyPr>
          <a:lstStyle/>
          <a:p>
            <a:pPr marL="0" indent="0" algn="l">
              <a:lnSpc>
                <a:spcPct val="135835"/>
              </a:lnSpc>
              <a:buNone/>
            </a:pPr>
            <a:r>
              <a:rPr lang="en-US" sz="1400" i="1" dirty="0">
                <a:solidFill>
                  <a:srgbClr val="5D5D60"/>
                </a:solidFill>
                <a:latin typeface="Arial" pitchFamily="34" charset="0"/>
                <a:ea typeface="Arial" pitchFamily="34" charset="-122"/>
                <a:cs typeface="Arial" pitchFamily="34" charset="-120"/>
              </a:rPr>
              <a:t>sessions</a:t>
            </a:r>
            <a:endParaRPr lang="en-US" sz="1400" dirty="0"/>
          </a:p>
        </p:txBody>
      </p:sp>
      <p:sp>
        <p:nvSpPr>
          <p:cNvPr id="138" name="Text 123"/>
          <p:cNvSpPr/>
          <p:nvPr/>
        </p:nvSpPr>
        <p:spPr>
          <a:xfrm>
            <a:off x="2487690" y="7072499"/>
            <a:ext cx="769778" cy="333326"/>
          </a:xfrm>
          <a:prstGeom prst="rect">
            <a:avLst/>
          </a:prstGeom>
          <a:noFill/>
          <a:ln/>
        </p:spPr>
        <p:txBody>
          <a:bodyPr wrap="square" lIns="25400" tIns="25400" rIns="25400" bIns="25400" rtlCol="0" anchor="t">
            <a:normAutofit/>
          </a:bodyPr>
          <a:lstStyle/>
          <a:p>
            <a:pPr marL="0" indent="0" algn="r">
              <a:lnSpc>
                <a:spcPct val="135835"/>
              </a:lnSpc>
              <a:buNone/>
            </a:pPr>
            <a:r>
              <a:rPr lang="en-US" sz="1400" i="1" dirty="0">
                <a:solidFill>
                  <a:srgbClr val="5D5D60"/>
                </a:solidFill>
                <a:latin typeface="Arial" pitchFamily="34" charset="0"/>
                <a:ea typeface="Arial" pitchFamily="34" charset="-122"/>
                <a:cs typeface="Arial" pitchFamily="34" charset="-120"/>
              </a:rPr>
              <a:t>upload</a:t>
            </a:r>
            <a:endParaRPr lang="en-US" sz="1400" dirty="0"/>
          </a:p>
        </p:txBody>
      </p:sp>
      <p:sp>
        <p:nvSpPr>
          <p:cNvPr id="139" name="Text 124"/>
          <p:cNvSpPr/>
          <p:nvPr/>
        </p:nvSpPr>
        <p:spPr>
          <a:xfrm>
            <a:off x="3696612" y="4587253"/>
            <a:ext cx="584455" cy="333326"/>
          </a:xfrm>
          <a:prstGeom prst="rect">
            <a:avLst/>
          </a:prstGeom>
          <a:noFill/>
          <a:ln/>
        </p:spPr>
        <p:txBody>
          <a:bodyPr wrap="square" lIns="25400" tIns="25400" rIns="25400" bIns="25400" rtlCol="0" anchor="t">
            <a:normAutofit/>
          </a:bodyPr>
          <a:lstStyle/>
          <a:p>
            <a:pPr marL="0" indent="0" algn="l">
              <a:lnSpc>
                <a:spcPct val="135835"/>
              </a:lnSpc>
              <a:buNone/>
            </a:pPr>
            <a:r>
              <a:rPr lang="en-US" sz="1400" i="1" dirty="0">
                <a:solidFill>
                  <a:srgbClr val="5D5D60"/>
                </a:solidFill>
                <a:latin typeface="Arial" pitchFamily="34" charset="0"/>
                <a:ea typeface="Arial" pitchFamily="34" charset="-122"/>
                <a:cs typeface="Arial" pitchFamily="34" charset="-120"/>
              </a:rPr>
              <a:t>ingest</a:t>
            </a:r>
            <a:endParaRPr lang="en-US" sz="1400" dirty="0"/>
          </a:p>
        </p:txBody>
      </p:sp>
      <p:sp>
        <p:nvSpPr>
          <p:cNvPr id="140" name="Text 125"/>
          <p:cNvSpPr/>
          <p:nvPr/>
        </p:nvSpPr>
        <p:spPr>
          <a:xfrm>
            <a:off x="11077517" y="4919852"/>
            <a:ext cx="488945" cy="252623"/>
          </a:xfrm>
          <a:prstGeom prst="rect">
            <a:avLst/>
          </a:prstGeom>
          <a:noFill/>
          <a:ln/>
        </p:spPr>
        <p:txBody>
          <a:bodyPr wrap="square" lIns="25400" tIns="25400" rIns="25400" bIns="25400" rtlCol="0" anchor="t">
            <a:normAutofit fontScale="85000" lnSpcReduction="20000"/>
          </a:bodyPr>
          <a:lstStyle/>
          <a:p>
            <a:pPr marL="0" indent="0" algn="l">
              <a:lnSpc>
                <a:spcPct val="135835"/>
              </a:lnSpc>
              <a:buNone/>
            </a:pPr>
            <a:r>
              <a:rPr lang="en-US" sz="1400" i="1" dirty="0">
                <a:latin typeface="Arial" pitchFamily="34" charset="0"/>
                <a:ea typeface="Arial" pitchFamily="34" charset="-122"/>
                <a:cs typeface="Arial" pitchFamily="34" charset="-120"/>
              </a:rPr>
              <a:t>RAG</a:t>
            </a:r>
            <a:endParaRPr lang="en-US" sz="1400" dirty="0"/>
          </a:p>
        </p:txBody>
      </p:sp>
      <p:sp>
        <p:nvSpPr>
          <p:cNvPr id="141" name="Text 126"/>
          <p:cNvSpPr/>
          <p:nvPr/>
        </p:nvSpPr>
        <p:spPr>
          <a:xfrm>
            <a:off x="15502903" y="3828208"/>
            <a:ext cx="1350949" cy="333326"/>
          </a:xfrm>
          <a:prstGeom prst="rect">
            <a:avLst/>
          </a:prstGeom>
          <a:noFill/>
          <a:ln/>
        </p:spPr>
        <p:txBody>
          <a:bodyPr wrap="none" lIns="25400" tIns="25400" rIns="25400" bIns="25400" rtlCol="0" anchor="t">
            <a:normAutofit/>
          </a:bodyPr>
          <a:lstStyle/>
          <a:p>
            <a:pPr marL="0" indent="0" algn="r">
              <a:lnSpc>
                <a:spcPct val="135835"/>
              </a:lnSpc>
              <a:buNone/>
            </a:pPr>
            <a:r>
              <a:rPr lang="en-US" sz="1400" i="1" dirty="0">
                <a:solidFill>
                  <a:srgbClr val="5D5D60"/>
                </a:solidFill>
                <a:latin typeface="Arial" pitchFamily="34" charset="0"/>
                <a:ea typeface="Arial" pitchFamily="34" charset="-122"/>
                <a:cs typeface="Arial" pitchFamily="34" charset="-120"/>
              </a:rPr>
              <a:t>MS Graph API</a:t>
            </a:r>
            <a:endParaRPr lang="en-US" sz="1400" dirty="0"/>
          </a:p>
        </p:txBody>
      </p:sp>
      <p:sp>
        <p:nvSpPr>
          <p:cNvPr id="142" name="Text 127"/>
          <p:cNvSpPr/>
          <p:nvPr/>
        </p:nvSpPr>
        <p:spPr>
          <a:xfrm>
            <a:off x="15171834" y="7859958"/>
            <a:ext cx="753670" cy="333326"/>
          </a:xfrm>
          <a:prstGeom prst="rect">
            <a:avLst/>
          </a:prstGeom>
          <a:noFill/>
          <a:ln/>
        </p:spPr>
        <p:txBody>
          <a:bodyPr wrap="none" lIns="25400" tIns="25400" rIns="25400" bIns="25400" rtlCol="0" anchor="t">
            <a:normAutofit/>
          </a:bodyPr>
          <a:lstStyle/>
          <a:p>
            <a:pPr marL="0" indent="0" algn="l">
              <a:lnSpc>
                <a:spcPct val="135835"/>
              </a:lnSpc>
              <a:buNone/>
            </a:pPr>
            <a:r>
              <a:rPr lang="en-US" sz="1400" i="1" dirty="0">
                <a:solidFill>
                  <a:srgbClr val="5D5D60"/>
                </a:solidFill>
                <a:latin typeface="Arial" pitchFamily="34" charset="0"/>
                <a:ea typeface="Arial" pitchFamily="34" charset="-122"/>
                <a:cs typeface="Arial" pitchFamily="34" charset="-120"/>
              </a:rPr>
              <a:t>retrieval</a:t>
            </a:r>
            <a:endParaRPr lang="en-US" sz="1400" dirty="0"/>
          </a:p>
        </p:txBody>
      </p:sp>
      <p:sp>
        <p:nvSpPr>
          <p:cNvPr id="143" name="Shape 128"/>
          <p:cNvSpPr/>
          <p:nvPr/>
        </p:nvSpPr>
        <p:spPr>
          <a:xfrm>
            <a:off x="8858196" y="2397226"/>
            <a:ext cx="266695" cy="266695"/>
          </a:xfrm>
          <a:prstGeom prst="rect">
            <a:avLst/>
          </a:prstGeom>
          <a:solidFill>
            <a:srgbClr val="C8651B"/>
          </a:solidFill>
          <a:ln/>
        </p:spPr>
        <p:txBody>
          <a:bodyPr/>
          <a:lstStyle/>
          <a:p>
            <a:endParaRPr lang="en-US" sz="1600"/>
          </a:p>
        </p:txBody>
      </p:sp>
      <p:sp>
        <p:nvSpPr>
          <p:cNvPr id="144" name="Text 129"/>
          <p:cNvSpPr/>
          <p:nvPr/>
        </p:nvSpPr>
        <p:spPr>
          <a:xfrm>
            <a:off x="8820096" y="2379973"/>
            <a:ext cx="342895" cy="304795"/>
          </a:xfrm>
          <a:prstGeom prst="rect">
            <a:avLst/>
          </a:prstGeom>
          <a:noFill/>
          <a:ln/>
        </p:spPr>
        <p:txBody>
          <a:bodyPr wrap="square" lIns="25400" tIns="25400" rIns="25400" bIns="25400" rtlCol="0" anchor="ctr">
            <a:normAutofit/>
          </a:bodyPr>
          <a:lstStyle/>
          <a:p>
            <a:pPr marL="0" indent="0" algn="ctr">
              <a:lnSpc>
                <a:spcPct val="135835"/>
              </a:lnSpc>
              <a:buNone/>
            </a:pPr>
            <a:r>
              <a:rPr lang="en-US" sz="1200" b="1" dirty="0">
                <a:solidFill>
                  <a:srgbClr val="F2F2F3"/>
                </a:solidFill>
                <a:latin typeface="Arial" pitchFamily="34" charset="0"/>
                <a:ea typeface="Arial" pitchFamily="34" charset="-122"/>
                <a:cs typeface="Arial" pitchFamily="34" charset="-120"/>
              </a:rPr>
              <a:t>1</a:t>
            </a:r>
            <a:endParaRPr lang="en-US" sz="1200" dirty="0"/>
          </a:p>
        </p:txBody>
      </p:sp>
      <p:sp>
        <p:nvSpPr>
          <p:cNvPr id="145" name="Shape 130"/>
          <p:cNvSpPr/>
          <p:nvPr/>
        </p:nvSpPr>
        <p:spPr>
          <a:xfrm>
            <a:off x="8858196" y="2959214"/>
            <a:ext cx="266695" cy="266695"/>
          </a:xfrm>
          <a:prstGeom prst="rect">
            <a:avLst/>
          </a:prstGeom>
          <a:solidFill>
            <a:srgbClr val="C8651B"/>
          </a:solidFill>
          <a:ln/>
        </p:spPr>
        <p:txBody>
          <a:bodyPr/>
          <a:lstStyle/>
          <a:p>
            <a:endParaRPr lang="en-US" sz="1600"/>
          </a:p>
        </p:txBody>
      </p:sp>
      <p:sp>
        <p:nvSpPr>
          <p:cNvPr id="146" name="Text 131"/>
          <p:cNvSpPr/>
          <p:nvPr/>
        </p:nvSpPr>
        <p:spPr>
          <a:xfrm>
            <a:off x="8820096" y="2924708"/>
            <a:ext cx="342895" cy="304795"/>
          </a:xfrm>
          <a:prstGeom prst="rect">
            <a:avLst/>
          </a:prstGeom>
          <a:noFill/>
          <a:ln/>
        </p:spPr>
        <p:txBody>
          <a:bodyPr wrap="square" lIns="25400" tIns="25400" rIns="25400" bIns="25400" rtlCol="0" anchor="ctr">
            <a:normAutofit/>
          </a:bodyPr>
          <a:lstStyle/>
          <a:p>
            <a:pPr marL="0" indent="0" algn="ctr">
              <a:lnSpc>
                <a:spcPct val="135835"/>
              </a:lnSpc>
              <a:buNone/>
            </a:pPr>
            <a:r>
              <a:rPr lang="en-US" sz="1200" b="1" dirty="0">
                <a:solidFill>
                  <a:srgbClr val="F2F2F3"/>
                </a:solidFill>
                <a:latin typeface="Arial" pitchFamily="34" charset="0"/>
                <a:ea typeface="Arial" pitchFamily="34" charset="-122"/>
                <a:cs typeface="Arial" pitchFamily="34" charset="-120"/>
              </a:rPr>
              <a:t>2</a:t>
            </a:r>
            <a:endParaRPr lang="en-US" sz="1200" dirty="0"/>
          </a:p>
        </p:txBody>
      </p:sp>
      <p:sp>
        <p:nvSpPr>
          <p:cNvPr id="151" name="Shape 136"/>
          <p:cNvSpPr/>
          <p:nvPr/>
        </p:nvSpPr>
        <p:spPr>
          <a:xfrm>
            <a:off x="6513362" y="6710566"/>
            <a:ext cx="285715" cy="285715"/>
          </a:xfrm>
          <a:prstGeom prst="rect">
            <a:avLst/>
          </a:prstGeom>
          <a:solidFill>
            <a:srgbClr val="C8651B"/>
          </a:solidFill>
          <a:ln/>
        </p:spPr>
        <p:txBody>
          <a:bodyPr/>
          <a:lstStyle/>
          <a:p>
            <a:endParaRPr lang="en-US" sz="1600"/>
          </a:p>
        </p:txBody>
      </p:sp>
      <p:sp>
        <p:nvSpPr>
          <p:cNvPr id="152" name="Text 137"/>
          <p:cNvSpPr/>
          <p:nvPr/>
        </p:nvSpPr>
        <p:spPr>
          <a:xfrm>
            <a:off x="6515004" y="6710566"/>
            <a:ext cx="251207" cy="312660"/>
          </a:xfrm>
          <a:prstGeom prst="rect">
            <a:avLst/>
          </a:prstGeom>
          <a:noFill/>
          <a:ln/>
        </p:spPr>
        <p:txBody>
          <a:bodyPr wrap="square" lIns="25400" tIns="25400" rIns="25400" bIns="25400" rtlCol="0" anchor="ctr">
            <a:normAutofit/>
          </a:bodyPr>
          <a:lstStyle/>
          <a:p>
            <a:pPr marL="0" indent="0" algn="ctr">
              <a:lnSpc>
                <a:spcPct val="132062"/>
              </a:lnSpc>
              <a:buNone/>
            </a:pPr>
            <a:r>
              <a:rPr lang="en-US" sz="1400" b="1" dirty="0">
                <a:solidFill>
                  <a:srgbClr val="F2F2F3"/>
                </a:solidFill>
                <a:latin typeface="Arial" pitchFamily="34" charset="0"/>
                <a:ea typeface="Arial" pitchFamily="34" charset="-122"/>
                <a:cs typeface="Arial" pitchFamily="34" charset="-120"/>
              </a:rPr>
              <a:t>4</a:t>
            </a:r>
            <a:endParaRPr lang="en-US" sz="1400" dirty="0"/>
          </a:p>
        </p:txBody>
      </p:sp>
      <p:sp>
        <p:nvSpPr>
          <p:cNvPr id="155" name="Text 140"/>
          <p:cNvSpPr/>
          <p:nvPr/>
        </p:nvSpPr>
        <p:spPr>
          <a:xfrm>
            <a:off x="1226620" y="9091061"/>
            <a:ext cx="1214374" cy="258127"/>
          </a:xfrm>
          <a:prstGeom prst="rect">
            <a:avLst/>
          </a:prstGeom>
          <a:noFill/>
          <a:ln/>
        </p:spPr>
        <p:txBody>
          <a:bodyPr wrap="none" lIns="25400" tIns="25400" rIns="25400" bIns="25400" rtlCol="0" anchor="t">
            <a:normAutofit lnSpcReduction="10000"/>
          </a:bodyPr>
          <a:lstStyle/>
          <a:p>
            <a:pPr marL="0" indent="0" algn="l">
              <a:lnSpc>
                <a:spcPct val="93721"/>
              </a:lnSpc>
              <a:buNone/>
            </a:pPr>
            <a:r>
              <a:rPr lang="en-US" sz="1575" dirty="0">
                <a:solidFill>
                  <a:srgbClr val="5D5D60"/>
                </a:solidFill>
                <a:latin typeface="Arial" pitchFamily="34" charset="0"/>
                <a:ea typeface="Arial" pitchFamily="34" charset="-122"/>
                <a:cs typeface="Arial" pitchFamily="34" charset="-120"/>
              </a:rPr>
              <a:t>Runtime flow</a:t>
            </a:r>
            <a:endParaRPr lang="en-US" sz="1575" dirty="0"/>
          </a:p>
        </p:txBody>
      </p:sp>
      <p:sp>
        <p:nvSpPr>
          <p:cNvPr id="158" name="Text 143"/>
          <p:cNvSpPr/>
          <p:nvPr/>
        </p:nvSpPr>
        <p:spPr>
          <a:xfrm>
            <a:off x="3191372" y="9091061"/>
            <a:ext cx="1926222" cy="258127"/>
          </a:xfrm>
          <a:prstGeom prst="rect">
            <a:avLst/>
          </a:prstGeom>
          <a:noFill/>
          <a:ln/>
        </p:spPr>
        <p:txBody>
          <a:bodyPr wrap="none" lIns="25400" tIns="25400" rIns="25400" bIns="25400" rtlCol="0" anchor="t">
            <a:normAutofit lnSpcReduction="10000"/>
          </a:bodyPr>
          <a:lstStyle/>
          <a:p>
            <a:pPr marL="0" indent="0" algn="l">
              <a:lnSpc>
                <a:spcPct val="93721"/>
              </a:lnSpc>
              <a:buNone/>
            </a:pPr>
            <a:r>
              <a:rPr lang="en-US" sz="1575" dirty="0">
                <a:solidFill>
                  <a:srgbClr val="5D5D60"/>
                </a:solidFill>
                <a:latin typeface="Arial" pitchFamily="34" charset="0"/>
                <a:ea typeface="Arial" pitchFamily="34" charset="-122"/>
                <a:cs typeface="Arial" pitchFamily="34" charset="-120"/>
              </a:rPr>
              <a:t>Ingestion &amp; indexing</a:t>
            </a:r>
            <a:endParaRPr lang="en-US" sz="1575" dirty="0"/>
          </a:p>
        </p:txBody>
      </p:sp>
      <p:sp>
        <p:nvSpPr>
          <p:cNvPr id="159" name="Shape 144"/>
          <p:cNvSpPr/>
          <p:nvPr/>
        </p:nvSpPr>
        <p:spPr>
          <a:xfrm>
            <a:off x="5321726" y="9096292"/>
            <a:ext cx="209497" cy="209497"/>
          </a:xfrm>
          <a:prstGeom prst="rect">
            <a:avLst/>
          </a:prstGeom>
          <a:solidFill>
            <a:srgbClr val="C8651B"/>
          </a:solidFill>
          <a:ln/>
        </p:spPr>
        <p:txBody>
          <a:bodyPr/>
          <a:lstStyle/>
          <a:p>
            <a:endParaRPr lang="en-US" sz="1600"/>
          </a:p>
        </p:txBody>
      </p:sp>
      <p:sp>
        <p:nvSpPr>
          <p:cNvPr id="160" name="Text 145"/>
          <p:cNvSpPr/>
          <p:nvPr/>
        </p:nvSpPr>
        <p:spPr>
          <a:xfrm>
            <a:off x="5571043" y="9091061"/>
            <a:ext cx="1646158" cy="258127"/>
          </a:xfrm>
          <a:prstGeom prst="rect">
            <a:avLst/>
          </a:prstGeom>
          <a:noFill/>
          <a:ln/>
        </p:spPr>
        <p:txBody>
          <a:bodyPr wrap="none" lIns="25400" tIns="25400" rIns="25400" bIns="25400" rtlCol="0" anchor="t">
            <a:normAutofit lnSpcReduction="10000"/>
          </a:bodyPr>
          <a:lstStyle/>
          <a:p>
            <a:pPr marL="0" indent="0" algn="l">
              <a:lnSpc>
                <a:spcPct val="93721"/>
              </a:lnSpc>
              <a:buNone/>
            </a:pPr>
            <a:r>
              <a:rPr lang="en-US" sz="1575" dirty="0">
                <a:solidFill>
                  <a:srgbClr val="5D5D60"/>
                </a:solidFill>
                <a:latin typeface="Arial" pitchFamily="34" charset="0"/>
                <a:ea typeface="Arial" pitchFamily="34" charset="-122"/>
                <a:cs typeface="Arial" pitchFamily="34" charset="-120"/>
              </a:rPr>
              <a:t>Architectural gap</a:t>
            </a:r>
            <a:endParaRPr lang="en-US" sz="1575" dirty="0"/>
          </a:p>
        </p:txBody>
      </p:sp>
      <p:sp>
        <p:nvSpPr>
          <p:cNvPr id="161" name="Text 146"/>
          <p:cNvSpPr/>
          <p:nvPr/>
        </p:nvSpPr>
        <p:spPr>
          <a:xfrm>
            <a:off x="10485076" y="9104792"/>
            <a:ext cx="7532051" cy="258127"/>
          </a:xfrm>
          <a:prstGeom prst="rect">
            <a:avLst/>
          </a:prstGeom>
          <a:noFill/>
          <a:ln/>
        </p:spPr>
        <p:txBody>
          <a:bodyPr wrap="none" lIns="25400" tIns="25400" rIns="25400" bIns="25400" rtlCol="0" anchor="t">
            <a:normAutofit lnSpcReduction="10000"/>
          </a:bodyPr>
          <a:lstStyle/>
          <a:p>
            <a:pPr marL="0" indent="0" algn="l">
              <a:lnSpc>
                <a:spcPct val="93721"/>
              </a:lnSpc>
              <a:buNone/>
            </a:pPr>
            <a:r>
              <a:rPr lang="en-US" sz="1575" i="1" dirty="0">
                <a:solidFill>
                  <a:srgbClr val="5D5D60"/>
                </a:solidFill>
                <a:latin typeface="Arial" pitchFamily="34" charset="0"/>
                <a:ea typeface="Arial" pitchFamily="34" charset="-122"/>
                <a:cs typeface="Arial" pitchFamily="34" charset="-120"/>
              </a:rPr>
              <a:t>Numbered as in Gaps at a Glance · service-to-service auth: managed identity</a:t>
            </a:r>
            <a:endParaRPr lang="en-US" sz="1575" dirty="0"/>
          </a:p>
        </p:txBody>
      </p:sp>
      <p:cxnSp>
        <p:nvCxnSpPr>
          <p:cNvPr id="164" name="Straight Arrow Connector 163">
            <a:extLst>
              <a:ext uri="{FF2B5EF4-FFF2-40B4-BE49-F238E27FC236}">
                <a16:creationId xmlns:a16="http://schemas.microsoft.com/office/drawing/2014/main" id="{6EA3C409-3DE7-A3BA-6C13-4EDC1DDBA6A7}"/>
              </a:ext>
            </a:extLst>
          </p:cNvPr>
          <p:cNvCxnSpPr>
            <a:stCxn id="61" idx="2"/>
            <a:endCxn id="65" idx="0"/>
          </p:cNvCxnSpPr>
          <p:nvPr/>
        </p:nvCxnSpPr>
        <p:spPr>
          <a:xfrm>
            <a:off x="1500861" y="4805525"/>
            <a:ext cx="0" cy="438513"/>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9A279557-1993-F79A-3F76-54D9E0D830F2}"/>
              </a:ext>
            </a:extLst>
          </p:cNvPr>
          <p:cNvCxnSpPr>
            <a:stCxn id="65" idx="3"/>
            <a:endCxn id="74" idx="1"/>
          </p:cNvCxnSpPr>
          <p:nvPr/>
        </p:nvCxnSpPr>
        <p:spPr>
          <a:xfrm flipV="1">
            <a:off x="2718690" y="2482954"/>
            <a:ext cx="729323" cy="3204127"/>
          </a:xfrm>
          <a:prstGeom prst="bentConnector3">
            <a:avLst>
              <a:gd name="adj1" fmla="val 50000"/>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Straight Arrow Connector 165">
            <a:extLst>
              <a:ext uri="{FF2B5EF4-FFF2-40B4-BE49-F238E27FC236}">
                <a16:creationId xmlns:a16="http://schemas.microsoft.com/office/drawing/2014/main" id="{17845779-A40A-C19E-7845-1BA918F931EC}"/>
              </a:ext>
            </a:extLst>
          </p:cNvPr>
          <p:cNvCxnSpPr>
            <a:cxnSpLocks/>
            <a:endCxn id="105" idx="1"/>
          </p:cNvCxnSpPr>
          <p:nvPr/>
        </p:nvCxnSpPr>
        <p:spPr>
          <a:xfrm rot="16200000" flipH="1">
            <a:off x="2179767" y="5920289"/>
            <a:ext cx="2991867" cy="303113"/>
          </a:xfrm>
          <a:prstGeom prst="bent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Straight Arrow Connector 172">
            <a:extLst>
              <a:ext uri="{FF2B5EF4-FFF2-40B4-BE49-F238E27FC236}">
                <a16:creationId xmlns:a16="http://schemas.microsoft.com/office/drawing/2014/main" id="{D91A8E97-F1B4-3FCA-E4E9-8C3D371D20A2}"/>
              </a:ext>
            </a:extLst>
          </p:cNvPr>
          <p:cNvCxnSpPr>
            <a:cxnSpLocks/>
          </p:cNvCxnSpPr>
          <p:nvPr/>
        </p:nvCxnSpPr>
        <p:spPr>
          <a:xfrm>
            <a:off x="775696" y="9191701"/>
            <a:ext cx="329585"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65">
            <a:extLst>
              <a:ext uri="{FF2B5EF4-FFF2-40B4-BE49-F238E27FC236}">
                <a16:creationId xmlns:a16="http://schemas.microsoft.com/office/drawing/2014/main" id="{F35AB982-FE32-06A8-4634-189B7DFF3CE9}"/>
              </a:ext>
            </a:extLst>
          </p:cNvPr>
          <p:cNvCxnSpPr>
            <a:cxnSpLocks/>
            <a:endCxn id="100" idx="1"/>
          </p:cNvCxnSpPr>
          <p:nvPr/>
        </p:nvCxnSpPr>
        <p:spPr>
          <a:xfrm rot="16200000" flipH="1">
            <a:off x="3042238" y="5145977"/>
            <a:ext cx="1364938" cy="205100"/>
          </a:xfrm>
          <a:prstGeom prst="bentConnector2">
            <a:avLst/>
          </a:prstGeom>
          <a:ln w="28575">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65FBF17A-8FBB-A91A-FC86-EA366DE219D7}"/>
              </a:ext>
            </a:extLst>
          </p:cNvPr>
          <p:cNvCxnSpPr>
            <a:cxnSpLocks/>
            <a:stCxn id="74" idx="2"/>
            <a:endCxn id="78" idx="0"/>
          </p:cNvCxnSpPr>
          <p:nvPr/>
        </p:nvCxnSpPr>
        <p:spPr>
          <a:xfrm>
            <a:off x="4781488" y="3054452"/>
            <a:ext cx="0" cy="266696"/>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F9AC9D15-9FFF-ED0B-C484-787D91932830}"/>
              </a:ext>
            </a:extLst>
          </p:cNvPr>
          <p:cNvCxnSpPr>
            <a:cxnSpLocks/>
            <a:stCxn id="78" idx="3"/>
          </p:cNvCxnSpPr>
          <p:nvPr/>
        </p:nvCxnSpPr>
        <p:spPr>
          <a:xfrm>
            <a:off x="6114962" y="3930722"/>
            <a:ext cx="323892" cy="0"/>
          </a:xfrm>
          <a:prstGeom prst="straightConnector1">
            <a:avLst/>
          </a:prstGeom>
          <a:ln w="28575">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65">
            <a:extLst>
              <a:ext uri="{FF2B5EF4-FFF2-40B4-BE49-F238E27FC236}">
                <a16:creationId xmlns:a16="http://schemas.microsoft.com/office/drawing/2014/main" id="{BB805727-15B1-341D-8F28-403B94C764E9}"/>
              </a:ext>
            </a:extLst>
          </p:cNvPr>
          <p:cNvCxnSpPr>
            <a:cxnSpLocks/>
            <a:stCxn id="78" idx="2"/>
            <a:endCxn id="115" idx="0"/>
          </p:cNvCxnSpPr>
          <p:nvPr/>
        </p:nvCxnSpPr>
        <p:spPr>
          <a:xfrm rot="16200000" flipH="1">
            <a:off x="7281793" y="2039990"/>
            <a:ext cx="1247835" cy="6248444"/>
          </a:xfrm>
          <a:prstGeom prst="bentConnector3">
            <a:avLst>
              <a:gd name="adj1" fmla="val 20688"/>
            </a:avLst>
          </a:prstGeom>
          <a:solidFill>
            <a:srgbClr val="D6EBFF"/>
          </a:solidFill>
          <a:ln w="13043">
            <a:solidFill>
              <a:srgbClr val="597EA3"/>
            </a:solidFill>
            <a:prstDash val="dash"/>
          </a:ln>
        </p:spPr>
      </p:cxnSp>
      <p:cxnSp>
        <p:nvCxnSpPr>
          <p:cNvPr id="201" name="Straight Arrow Connector 165">
            <a:extLst>
              <a:ext uri="{FF2B5EF4-FFF2-40B4-BE49-F238E27FC236}">
                <a16:creationId xmlns:a16="http://schemas.microsoft.com/office/drawing/2014/main" id="{A2B9AD74-A2A2-C265-C195-F7A5FB523534}"/>
              </a:ext>
            </a:extLst>
          </p:cNvPr>
          <p:cNvCxnSpPr>
            <a:cxnSpLocks/>
            <a:stCxn id="78" idx="2"/>
            <a:endCxn id="133" idx="3"/>
          </p:cNvCxnSpPr>
          <p:nvPr/>
        </p:nvCxnSpPr>
        <p:spPr>
          <a:xfrm rot="16200000" flipH="1">
            <a:off x="7975851" y="1345932"/>
            <a:ext cx="3593447" cy="9982172"/>
          </a:xfrm>
          <a:prstGeom prst="bentConnector4">
            <a:avLst>
              <a:gd name="adj1" fmla="val 6983"/>
              <a:gd name="adj2" fmla="val 10139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a:extLst>
              <a:ext uri="{FF2B5EF4-FFF2-40B4-BE49-F238E27FC236}">
                <a16:creationId xmlns:a16="http://schemas.microsoft.com/office/drawing/2014/main" id="{76F6853B-2CB4-CE77-B9A1-9C4324038D14}"/>
              </a:ext>
            </a:extLst>
          </p:cNvPr>
          <p:cNvCxnSpPr>
            <a:cxnSpLocks/>
            <a:stCxn id="119" idx="3"/>
            <a:endCxn id="123" idx="1"/>
          </p:cNvCxnSpPr>
          <p:nvPr/>
        </p:nvCxnSpPr>
        <p:spPr>
          <a:xfrm>
            <a:off x="10763178" y="7102478"/>
            <a:ext cx="361993" cy="0"/>
          </a:xfrm>
          <a:prstGeom prst="straightConnector1">
            <a:avLst/>
          </a:prstGeom>
          <a:ln w="28575">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165">
            <a:extLst>
              <a:ext uri="{FF2B5EF4-FFF2-40B4-BE49-F238E27FC236}">
                <a16:creationId xmlns:a16="http://schemas.microsoft.com/office/drawing/2014/main" id="{0CF551E5-F67A-05D1-EF16-3F262F586D4D}"/>
              </a:ext>
            </a:extLst>
          </p:cNvPr>
          <p:cNvCxnSpPr>
            <a:cxnSpLocks/>
            <a:stCxn id="100" idx="3"/>
            <a:endCxn id="119" idx="1"/>
          </p:cNvCxnSpPr>
          <p:nvPr/>
        </p:nvCxnSpPr>
        <p:spPr>
          <a:xfrm>
            <a:off x="6875228" y="5930996"/>
            <a:ext cx="420908" cy="1171482"/>
          </a:xfrm>
          <a:prstGeom prst="bentConnector3">
            <a:avLst>
              <a:gd name="adj1" fmla="val 32719"/>
            </a:avLst>
          </a:prstGeom>
          <a:ln w="28575">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165">
            <a:extLst>
              <a:ext uri="{FF2B5EF4-FFF2-40B4-BE49-F238E27FC236}">
                <a16:creationId xmlns:a16="http://schemas.microsoft.com/office/drawing/2014/main" id="{082F3E90-A53D-4B7F-6654-6B8DB78B1427}"/>
              </a:ext>
            </a:extLst>
          </p:cNvPr>
          <p:cNvCxnSpPr>
            <a:cxnSpLocks/>
            <a:stCxn id="97" idx="3"/>
            <a:endCxn id="70" idx="0"/>
          </p:cNvCxnSpPr>
          <p:nvPr/>
        </p:nvCxnSpPr>
        <p:spPr>
          <a:xfrm>
            <a:off x="14801837" y="4216505"/>
            <a:ext cx="1559460" cy="433238"/>
          </a:xfrm>
          <a:prstGeom prst="bent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Straight Arrow Connector 165">
            <a:extLst>
              <a:ext uri="{FF2B5EF4-FFF2-40B4-BE49-F238E27FC236}">
                <a16:creationId xmlns:a16="http://schemas.microsoft.com/office/drawing/2014/main" id="{C75F5F5F-BC29-36B3-0FA7-2257C9E553DD}"/>
              </a:ext>
            </a:extLst>
          </p:cNvPr>
          <p:cNvCxnSpPr>
            <a:cxnSpLocks/>
            <a:stCxn id="123" idx="2"/>
            <a:endCxn id="127" idx="0"/>
          </p:cNvCxnSpPr>
          <p:nvPr/>
        </p:nvCxnSpPr>
        <p:spPr>
          <a:xfrm rot="5400000">
            <a:off x="10553005" y="5393881"/>
            <a:ext cx="315616" cy="4467207"/>
          </a:xfrm>
          <a:prstGeom prst="bentConnector3">
            <a:avLst>
              <a:gd name="adj1" fmla="val 50000"/>
            </a:avLst>
          </a:prstGeom>
          <a:ln w="28575">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28" name="Straight Arrow Connector 165">
            <a:extLst>
              <a:ext uri="{FF2B5EF4-FFF2-40B4-BE49-F238E27FC236}">
                <a16:creationId xmlns:a16="http://schemas.microsoft.com/office/drawing/2014/main" id="{9A5945F6-B0E5-11BD-B548-21122CA224B3}"/>
              </a:ext>
            </a:extLst>
          </p:cNvPr>
          <p:cNvCxnSpPr>
            <a:cxnSpLocks/>
            <a:stCxn id="123" idx="2"/>
            <a:endCxn id="130" idx="0"/>
          </p:cNvCxnSpPr>
          <p:nvPr/>
        </p:nvCxnSpPr>
        <p:spPr>
          <a:xfrm rot="5400000">
            <a:off x="11829350" y="6670226"/>
            <a:ext cx="315616" cy="1914517"/>
          </a:xfrm>
          <a:prstGeom prst="bentConnector3">
            <a:avLst>
              <a:gd name="adj1" fmla="val 50000"/>
            </a:avLst>
          </a:prstGeom>
          <a:ln w="28575">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31" name="Straight Arrow Connector 165">
            <a:extLst>
              <a:ext uri="{FF2B5EF4-FFF2-40B4-BE49-F238E27FC236}">
                <a16:creationId xmlns:a16="http://schemas.microsoft.com/office/drawing/2014/main" id="{380D7537-9A6D-7A92-FEB1-1E57286E2315}"/>
              </a:ext>
            </a:extLst>
          </p:cNvPr>
          <p:cNvCxnSpPr>
            <a:cxnSpLocks/>
            <a:stCxn id="123" idx="2"/>
            <a:endCxn id="133" idx="0"/>
          </p:cNvCxnSpPr>
          <p:nvPr/>
        </p:nvCxnSpPr>
        <p:spPr>
          <a:xfrm rot="16200000" flipH="1">
            <a:off x="13105694" y="7308398"/>
            <a:ext cx="315616" cy="638172"/>
          </a:xfrm>
          <a:prstGeom prst="bentConnector3">
            <a:avLst>
              <a:gd name="adj1" fmla="val 50000"/>
            </a:avLst>
          </a:prstGeom>
          <a:ln w="28575">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8" name="Text 121">
            <a:extLst>
              <a:ext uri="{FF2B5EF4-FFF2-40B4-BE49-F238E27FC236}">
                <a16:creationId xmlns:a16="http://schemas.microsoft.com/office/drawing/2014/main" id="{0A502E42-98C8-4448-E265-7C1868933853}"/>
              </a:ext>
            </a:extLst>
          </p:cNvPr>
          <p:cNvSpPr/>
          <p:nvPr/>
        </p:nvSpPr>
        <p:spPr>
          <a:xfrm>
            <a:off x="1507958" y="2610682"/>
            <a:ext cx="1427461" cy="561989"/>
          </a:xfrm>
          <a:prstGeom prst="rect">
            <a:avLst/>
          </a:prstGeom>
          <a:noFill/>
          <a:ln/>
        </p:spPr>
        <p:txBody>
          <a:bodyPr wrap="square" lIns="25400" tIns="25400" rIns="25400" bIns="25400" rtlCol="0" anchor="t">
            <a:normAutofit/>
          </a:bodyPr>
          <a:lstStyle/>
          <a:p>
            <a:pPr marL="0" indent="0" algn="r">
              <a:lnSpc>
                <a:spcPct val="135835"/>
              </a:lnSpc>
              <a:buNone/>
            </a:pPr>
            <a:r>
              <a:rPr lang="en-US" sz="1200" i="1" dirty="0">
                <a:solidFill>
                  <a:srgbClr val="FF0000"/>
                </a:solidFill>
                <a:latin typeface="Arial" pitchFamily="34" charset="0"/>
                <a:ea typeface="Arial" pitchFamily="34" charset="-122"/>
                <a:cs typeface="Arial" pitchFamily="34" charset="-120"/>
              </a:rPr>
              <a:t>Entra ID or </a:t>
            </a:r>
            <a:r>
              <a:rPr lang="en-US" sz="1200" i="1" dirty="0" err="1">
                <a:solidFill>
                  <a:srgbClr val="FF0000"/>
                </a:solidFill>
                <a:latin typeface="Arial" pitchFamily="34" charset="0"/>
                <a:ea typeface="Arial" pitchFamily="34" charset="-122"/>
                <a:cs typeface="Arial" pitchFamily="34" charset="-120"/>
              </a:rPr>
              <a:t>WebSEAL</a:t>
            </a:r>
            <a:r>
              <a:rPr lang="en-US" sz="1200" i="1" dirty="0">
                <a:solidFill>
                  <a:srgbClr val="FF0000"/>
                </a:solidFill>
                <a:latin typeface="Arial" pitchFamily="34" charset="0"/>
                <a:ea typeface="Arial" pitchFamily="34" charset="-122"/>
                <a:cs typeface="Arial" pitchFamily="34" charset="-120"/>
              </a:rPr>
              <a:t> token?</a:t>
            </a:r>
            <a:endParaRPr lang="en-US" sz="1200" dirty="0">
              <a:solidFill>
                <a:srgbClr val="FF0000"/>
              </a:solidFill>
            </a:endParaRPr>
          </a:p>
        </p:txBody>
      </p:sp>
      <p:cxnSp>
        <p:nvCxnSpPr>
          <p:cNvPr id="239" name="Straight Arrow Connector 238">
            <a:extLst>
              <a:ext uri="{FF2B5EF4-FFF2-40B4-BE49-F238E27FC236}">
                <a16:creationId xmlns:a16="http://schemas.microsoft.com/office/drawing/2014/main" id="{9356DCD0-8E82-08E7-6812-D23F365ADDE3}"/>
              </a:ext>
            </a:extLst>
          </p:cNvPr>
          <p:cNvCxnSpPr>
            <a:cxnSpLocks/>
          </p:cNvCxnSpPr>
          <p:nvPr/>
        </p:nvCxnSpPr>
        <p:spPr>
          <a:xfrm>
            <a:off x="2723172" y="9198313"/>
            <a:ext cx="361993" cy="0"/>
          </a:xfrm>
          <a:prstGeom prst="straightConnector1">
            <a:avLst/>
          </a:prstGeom>
          <a:ln w="28575">
            <a:solidFill>
              <a:schemeClr val="tx2">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7" name="Straight Arrow Connector 246">
            <a:extLst>
              <a:ext uri="{FF2B5EF4-FFF2-40B4-BE49-F238E27FC236}">
                <a16:creationId xmlns:a16="http://schemas.microsoft.com/office/drawing/2014/main" id="{1860D26C-29EE-577C-4C51-12E1EE4E644E}"/>
              </a:ext>
            </a:extLst>
          </p:cNvPr>
          <p:cNvCxnSpPr>
            <a:cxnSpLocks/>
          </p:cNvCxnSpPr>
          <p:nvPr/>
        </p:nvCxnSpPr>
        <p:spPr>
          <a:xfrm>
            <a:off x="6861470" y="7368812"/>
            <a:ext cx="434666" cy="0"/>
          </a:xfrm>
          <a:prstGeom prst="straightConnector1">
            <a:avLst/>
          </a:prstGeom>
          <a:ln w="28575">
            <a:solidFill>
              <a:schemeClr val="tx2"/>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165">
            <a:extLst>
              <a:ext uri="{FF2B5EF4-FFF2-40B4-BE49-F238E27FC236}">
                <a16:creationId xmlns:a16="http://schemas.microsoft.com/office/drawing/2014/main" id="{D69E8E08-6573-796F-2111-E2288CB33051}"/>
              </a:ext>
            </a:extLst>
          </p:cNvPr>
          <p:cNvCxnSpPr>
            <a:cxnSpLocks/>
            <a:stCxn id="73" idx="2"/>
            <a:endCxn id="105" idx="2"/>
          </p:cNvCxnSpPr>
          <p:nvPr/>
        </p:nvCxnSpPr>
        <p:spPr>
          <a:xfrm rot="5400000">
            <a:off x="9477458" y="1641653"/>
            <a:ext cx="2733344" cy="10985774"/>
          </a:xfrm>
          <a:prstGeom prst="bentConnector3">
            <a:avLst>
              <a:gd name="adj1" fmla="val 108363"/>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52" name="Text 126">
            <a:extLst>
              <a:ext uri="{FF2B5EF4-FFF2-40B4-BE49-F238E27FC236}">
                <a16:creationId xmlns:a16="http://schemas.microsoft.com/office/drawing/2014/main" id="{C0A4BF50-9BD6-FCE3-61F1-A936E88E3B98}"/>
              </a:ext>
            </a:extLst>
          </p:cNvPr>
          <p:cNvSpPr/>
          <p:nvPr/>
        </p:nvSpPr>
        <p:spPr>
          <a:xfrm>
            <a:off x="16342285" y="5821455"/>
            <a:ext cx="797811" cy="267597"/>
          </a:xfrm>
          <a:prstGeom prst="rect">
            <a:avLst/>
          </a:prstGeom>
          <a:noFill/>
          <a:ln/>
        </p:spPr>
        <p:txBody>
          <a:bodyPr wrap="none" lIns="25400" tIns="25400" rIns="25400" bIns="25400" rtlCol="0" anchor="t">
            <a:normAutofit fontScale="92500" lnSpcReduction="20000"/>
          </a:bodyPr>
          <a:lstStyle/>
          <a:p>
            <a:pPr marL="0" indent="0" algn="ctr">
              <a:lnSpc>
                <a:spcPct val="135835"/>
              </a:lnSpc>
              <a:buNone/>
            </a:pPr>
            <a:r>
              <a:rPr lang="en-US" sz="1400" i="1" dirty="0">
                <a:solidFill>
                  <a:srgbClr val="5D5D60"/>
                </a:solidFill>
                <a:latin typeface="Arial" pitchFamily="34" charset="0"/>
                <a:ea typeface="Arial" pitchFamily="34" charset="-122"/>
                <a:cs typeface="Arial" pitchFamily="34" charset="-120"/>
              </a:rPr>
              <a:t>Migrate</a:t>
            </a:r>
            <a:endParaRPr lang="en-US" sz="1400" dirty="0"/>
          </a:p>
        </p:txBody>
      </p:sp>
      <p:sp>
        <p:nvSpPr>
          <p:cNvPr id="254" name="Shape 134">
            <a:extLst>
              <a:ext uri="{FF2B5EF4-FFF2-40B4-BE49-F238E27FC236}">
                <a16:creationId xmlns:a16="http://schemas.microsoft.com/office/drawing/2014/main" id="{B4F6A60F-258D-F270-EA7E-31B6EA6E29EC}"/>
              </a:ext>
            </a:extLst>
          </p:cNvPr>
          <p:cNvSpPr/>
          <p:nvPr/>
        </p:nvSpPr>
        <p:spPr>
          <a:xfrm>
            <a:off x="16498327" y="6133379"/>
            <a:ext cx="285715" cy="285715"/>
          </a:xfrm>
          <a:prstGeom prst="rect">
            <a:avLst/>
          </a:prstGeom>
          <a:solidFill>
            <a:srgbClr val="C8651B"/>
          </a:solidFill>
          <a:ln/>
        </p:spPr>
        <p:txBody>
          <a:bodyPr/>
          <a:lstStyle/>
          <a:p>
            <a:endParaRPr lang="en-US" sz="1600"/>
          </a:p>
        </p:txBody>
      </p:sp>
      <p:sp>
        <p:nvSpPr>
          <p:cNvPr id="255" name="Text 135">
            <a:extLst>
              <a:ext uri="{FF2B5EF4-FFF2-40B4-BE49-F238E27FC236}">
                <a16:creationId xmlns:a16="http://schemas.microsoft.com/office/drawing/2014/main" id="{180071A3-7C11-90D5-C982-2F72D9C9B255}"/>
              </a:ext>
            </a:extLst>
          </p:cNvPr>
          <p:cNvSpPr/>
          <p:nvPr/>
        </p:nvSpPr>
        <p:spPr>
          <a:xfrm>
            <a:off x="16460227" y="6098873"/>
            <a:ext cx="361915" cy="323815"/>
          </a:xfrm>
          <a:prstGeom prst="rect">
            <a:avLst/>
          </a:prstGeom>
          <a:noFill/>
          <a:ln/>
        </p:spPr>
        <p:txBody>
          <a:bodyPr wrap="square" lIns="25400" tIns="25400" rIns="25400" bIns="25400" rtlCol="0" anchor="ctr">
            <a:normAutofit/>
          </a:bodyPr>
          <a:lstStyle/>
          <a:p>
            <a:pPr marL="0" indent="0" algn="ctr">
              <a:lnSpc>
                <a:spcPct val="132062"/>
              </a:lnSpc>
              <a:buNone/>
            </a:pPr>
            <a:r>
              <a:rPr lang="en-US" sz="1400" b="1" dirty="0">
                <a:solidFill>
                  <a:srgbClr val="F2F2F3"/>
                </a:solidFill>
                <a:latin typeface="Arial" pitchFamily="34" charset="0"/>
                <a:cs typeface="Arial" pitchFamily="34" charset="-120"/>
              </a:rPr>
              <a:t>3</a:t>
            </a:r>
            <a:endParaRPr lang="en-US" sz="1400" dirty="0"/>
          </a:p>
        </p:txBody>
      </p:sp>
      <p:sp>
        <p:nvSpPr>
          <p:cNvPr id="256" name="Shape 134">
            <a:extLst>
              <a:ext uri="{FF2B5EF4-FFF2-40B4-BE49-F238E27FC236}">
                <a16:creationId xmlns:a16="http://schemas.microsoft.com/office/drawing/2014/main" id="{F823AC47-63FE-B75B-ED98-317189C94B19}"/>
              </a:ext>
            </a:extLst>
          </p:cNvPr>
          <p:cNvSpPr/>
          <p:nvPr/>
        </p:nvSpPr>
        <p:spPr>
          <a:xfrm>
            <a:off x="12150087" y="7719137"/>
            <a:ext cx="285715" cy="285715"/>
          </a:xfrm>
          <a:prstGeom prst="rect">
            <a:avLst/>
          </a:prstGeom>
          <a:solidFill>
            <a:srgbClr val="C8651B"/>
          </a:solidFill>
          <a:ln/>
        </p:spPr>
        <p:txBody>
          <a:bodyPr/>
          <a:lstStyle/>
          <a:p>
            <a:endParaRPr lang="en-US" sz="1600"/>
          </a:p>
        </p:txBody>
      </p:sp>
      <p:sp>
        <p:nvSpPr>
          <p:cNvPr id="257" name="Text 135">
            <a:extLst>
              <a:ext uri="{FF2B5EF4-FFF2-40B4-BE49-F238E27FC236}">
                <a16:creationId xmlns:a16="http://schemas.microsoft.com/office/drawing/2014/main" id="{38A3C18F-FFDE-7B77-F601-79BAFA1F316B}"/>
              </a:ext>
            </a:extLst>
          </p:cNvPr>
          <p:cNvSpPr/>
          <p:nvPr/>
        </p:nvSpPr>
        <p:spPr>
          <a:xfrm>
            <a:off x="12111987" y="7719137"/>
            <a:ext cx="361915" cy="323815"/>
          </a:xfrm>
          <a:prstGeom prst="rect">
            <a:avLst/>
          </a:prstGeom>
          <a:noFill/>
          <a:ln/>
        </p:spPr>
        <p:txBody>
          <a:bodyPr wrap="square" lIns="25400" tIns="25400" rIns="25400" bIns="25400" rtlCol="0" anchor="ctr">
            <a:normAutofit/>
          </a:bodyPr>
          <a:lstStyle/>
          <a:p>
            <a:pPr marL="0" indent="0" algn="ctr">
              <a:lnSpc>
                <a:spcPct val="132062"/>
              </a:lnSpc>
              <a:buNone/>
            </a:pPr>
            <a:r>
              <a:rPr lang="en-US" sz="1400" b="1" dirty="0">
                <a:solidFill>
                  <a:srgbClr val="F2F2F3"/>
                </a:solidFill>
                <a:latin typeface="Arial" pitchFamily="34" charset="0"/>
                <a:cs typeface="Arial" pitchFamily="34" charset="-120"/>
              </a:rPr>
              <a:t>5</a:t>
            </a:r>
            <a:endParaRPr lang="en-US" sz="1400" dirty="0"/>
          </a:p>
        </p:txBody>
      </p:sp>
      <p:sp>
        <p:nvSpPr>
          <p:cNvPr id="9" name="Text 102">
            <a:extLst>
              <a:ext uri="{FF2B5EF4-FFF2-40B4-BE49-F238E27FC236}">
                <a16:creationId xmlns:a16="http://schemas.microsoft.com/office/drawing/2014/main" id="{3237AE95-4E44-2E5A-8F87-38A4C9856033}"/>
              </a:ext>
            </a:extLst>
          </p:cNvPr>
          <p:cNvSpPr/>
          <p:nvPr/>
        </p:nvSpPr>
        <p:spPr>
          <a:xfrm>
            <a:off x="3918227" y="8193284"/>
            <a:ext cx="3030709" cy="279049"/>
          </a:xfrm>
          <a:prstGeom prst="rect">
            <a:avLst/>
          </a:prstGeom>
          <a:noFill/>
          <a:ln/>
        </p:spPr>
        <p:txBody>
          <a:bodyPr wrap="square" lIns="25400" tIns="25400" rIns="25400" bIns="25400" rtlCol="0" anchor="t">
            <a:noAutofit/>
          </a:bodyPr>
          <a:lstStyle/>
          <a:p>
            <a:pPr marL="0" indent="0" algn="l">
              <a:lnSpc>
                <a:spcPct val="98981"/>
              </a:lnSpc>
              <a:buNone/>
            </a:pPr>
            <a:r>
              <a:rPr lang="en-US" sz="1400" dirty="0">
                <a:solidFill>
                  <a:srgbClr val="C8651B"/>
                </a:solidFill>
                <a:latin typeface="Arial" pitchFamily="34" charset="0"/>
                <a:ea typeface="Arial" pitchFamily="34" charset="-122"/>
                <a:cs typeface="Arial" pitchFamily="34" charset="-120"/>
              </a:rPr>
              <a:t>No lifecycle policy today</a:t>
            </a:r>
            <a:endParaRPr lang="en-US" sz="1400" dirty="0"/>
          </a:p>
        </p:txBody>
      </p:sp>
      <p:sp>
        <p:nvSpPr>
          <p:cNvPr id="10" name="Shape 74">
            <a:extLst>
              <a:ext uri="{FF2B5EF4-FFF2-40B4-BE49-F238E27FC236}">
                <a16:creationId xmlns:a16="http://schemas.microsoft.com/office/drawing/2014/main" id="{E3FA4F49-9B25-2A6E-2829-9749ED3CD0EB}"/>
              </a:ext>
            </a:extLst>
          </p:cNvPr>
          <p:cNvSpPr/>
          <p:nvPr/>
        </p:nvSpPr>
        <p:spPr>
          <a:xfrm>
            <a:off x="6444520" y="1882951"/>
            <a:ext cx="1809735" cy="1171501"/>
          </a:xfrm>
          <a:prstGeom prst="rect">
            <a:avLst/>
          </a:prstGeom>
          <a:solidFill>
            <a:schemeClr val="bg1">
              <a:lumMod val="95000"/>
            </a:schemeClr>
          </a:solidFill>
          <a:ln w="13043">
            <a:solidFill>
              <a:srgbClr val="416180"/>
            </a:solidFill>
            <a:prstDash val="solid"/>
          </a:ln>
        </p:spPr>
        <p:txBody>
          <a:bodyPr/>
          <a:lstStyle/>
          <a:p>
            <a:endParaRPr lang="en-US" sz="1600"/>
          </a:p>
        </p:txBody>
      </p:sp>
      <p:pic>
        <p:nvPicPr>
          <p:cNvPr id="12" name="Image 7" descr="preencoded.png">
            <a:extLst>
              <a:ext uri="{FF2B5EF4-FFF2-40B4-BE49-F238E27FC236}">
                <a16:creationId xmlns:a16="http://schemas.microsoft.com/office/drawing/2014/main" id="{435D6ECA-DF05-6BC2-732D-1E41320A2323}"/>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590910" y="2197194"/>
            <a:ext cx="180967" cy="180967"/>
          </a:xfrm>
          <a:prstGeom prst="rect">
            <a:avLst/>
          </a:prstGeom>
        </p:spPr>
      </p:pic>
      <p:sp>
        <p:nvSpPr>
          <p:cNvPr id="13" name="Text 75">
            <a:extLst>
              <a:ext uri="{FF2B5EF4-FFF2-40B4-BE49-F238E27FC236}">
                <a16:creationId xmlns:a16="http://schemas.microsoft.com/office/drawing/2014/main" id="{F6AA9E84-13F9-E224-FE68-452C636ACA65}"/>
              </a:ext>
            </a:extLst>
          </p:cNvPr>
          <p:cNvSpPr/>
          <p:nvPr/>
        </p:nvSpPr>
        <p:spPr>
          <a:xfrm>
            <a:off x="6848027" y="2151476"/>
            <a:ext cx="869152" cy="310501"/>
          </a:xfrm>
          <a:prstGeom prst="rect">
            <a:avLst/>
          </a:prstGeom>
          <a:noFill/>
          <a:ln/>
        </p:spPr>
        <p:txBody>
          <a:bodyPr wrap="none" lIns="25400" tIns="25400" rIns="25400" bIns="25400" rtlCol="0" anchor="t">
            <a:noAutofit/>
          </a:bodyPr>
          <a:lstStyle/>
          <a:p>
            <a:pPr marL="0" indent="0" algn="l">
              <a:lnSpc>
                <a:spcPct val="94939"/>
              </a:lnSpc>
              <a:buNone/>
            </a:pPr>
            <a:r>
              <a:rPr lang="en-US" b="1" dirty="0" err="1">
                <a:solidFill>
                  <a:srgbClr val="1D2D3D"/>
                </a:solidFill>
                <a:latin typeface="Arial" pitchFamily="34" charset="0"/>
                <a:ea typeface="Arial" pitchFamily="34" charset="-122"/>
                <a:cs typeface="Arial" pitchFamily="34" charset="-120"/>
              </a:rPr>
              <a:t>TeamsDB</a:t>
            </a:r>
            <a:endParaRPr lang="en-US" dirty="0"/>
          </a:p>
        </p:txBody>
      </p:sp>
      <p:sp>
        <p:nvSpPr>
          <p:cNvPr id="14" name="Text 76">
            <a:extLst>
              <a:ext uri="{FF2B5EF4-FFF2-40B4-BE49-F238E27FC236}">
                <a16:creationId xmlns:a16="http://schemas.microsoft.com/office/drawing/2014/main" id="{5B30A638-8850-34A6-1BC9-69DB07C2DD45}"/>
              </a:ext>
            </a:extLst>
          </p:cNvPr>
          <p:cNvSpPr/>
          <p:nvPr/>
        </p:nvSpPr>
        <p:spPr>
          <a:xfrm>
            <a:off x="6590910" y="2500027"/>
            <a:ext cx="1593154" cy="519998"/>
          </a:xfrm>
          <a:prstGeom prst="rect">
            <a:avLst/>
          </a:prstGeom>
          <a:noFill/>
          <a:ln/>
        </p:spPr>
        <p:txBody>
          <a:bodyPr wrap="square" lIns="25400" tIns="25400" rIns="25400" bIns="25400" rtlCol="0" anchor="t">
            <a:noAutofit/>
          </a:bodyPr>
          <a:lstStyle/>
          <a:p>
            <a:pPr marL="0" indent="0" algn="l">
              <a:lnSpc>
                <a:spcPct val="98981"/>
              </a:lnSpc>
              <a:buNone/>
            </a:pPr>
            <a:r>
              <a:rPr lang="en-US" sz="1600" dirty="0">
                <a:solidFill>
                  <a:srgbClr val="5D5D60"/>
                </a:solidFill>
                <a:latin typeface="Arial" pitchFamily="34" charset="0"/>
                <a:ea typeface="Arial" pitchFamily="34" charset="-122"/>
                <a:cs typeface="Arial" pitchFamily="34" charset="-120"/>
              </a:rPr>
              <a:t>New DB - Teams, projects</a:t>
            </a:r>
            <a:endParaRPr lang="en-US" sz="1600" dirty="0"/>
          </a:p>
        </p:txBody>
      </p:sp>
      <p:cxnSp>
        <p:nvCxnSpPr>
          <p:cNvPr id="15" name="Straight Arrow Connector 165">
            <a:extLst>
              <a:ext uri="{FF2B5EF4-FFF2-40B4-BE49-F238E27FC236}">
                <a16:creationId xmlns:a16="http://schemas.microsoft.com/office/drawing/2014/main" id="{74A38240-DF18-047F-BEB2-4AECA4E92E37}"/>
              </a:ext>
            </a:extLst>
          </p:cNvPr>
          <p:cNvCxnSpPr>
            <a:cxnSpLocks/>
            <a:stCxn id="88" idx="1"/>
          </p:cNvCxnSpPr>
          <p:nvPr/>
        </p:nvCxnSpPr>
        <p:spPr>
          <a:xfrm rot="10800000" flipV="1">
            <a:off x="8248590" y="2530540"/>
            <a:ext cx="533457" cy="129660"/>
          </a:xfrm>
          <a:prstGeom prst="bentConnector3">
            <a:avLst>
              <a:gd name="adj1" fmla="val 50000"/>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65">
            <a:extLst>
              <a:ext uri="{FF2B5EF4-FFF2-40B4-BE49-F238E27FC236}">
                <a16:creationId xmlns:a16="http://schemas.microsoft.com/office/drawing/2014/main" id="{AD3DBCA3-2B7D-0DCD-E497-219D63CED4B6}"/>
              </a:ext>
            </a:extLst>
          </p:cNvPr>
          <p:cNvCxnSpPr>
            <a:cxnSpLocks/>
            <a:stCxn id="91" idx="1"/>
          </p:cNvCxnSpPr>
          <p:nvPr/>
        </p:nvCxnSpPr>
        <p:spPr>
          <a:xfrm rot="10800000">
            <a:off x="8248590" y="2893340"/>
            <a:ext cx="533457" cy="199188"/>
          </a:xfrm>
          <a:prstGeom prst="bentConnector3">
            <a:avLst>
              <a:gd name="adj1" fmla="val 50000"/>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8A06F-8189-88DD-8E6E-BA702742F5D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22C7195-81FF-D7E6-1F09-D20FC0FBD306}"/>
              </a:ext>
            </a:extLst>
          </p:cNvPr>
          <p:cNvSpPr/>
          <p:nvPr/>
        </p:nvSpPr>
        <p:spPr>
          <a:xfrm>
            <a:off x="571499" y="380954"/>
            <a:ext cx="6509162" cy="578147"/>
          </a:xfrm>
          <a:prstGeom prst="rect">
            <a:avLst/>
          </a:prstGeom>
          <a:noFill/>
          <a:ln/>
        </p:spPr>
        <p:txBody>
          <a:bodyPr wrap="none" lIns="25400" tIns="25400" rIns="25400" bIns="25400" rtlCol="0" anchor="t">
            <a:normAutofit lnSpcReduction="10000"/>
          </a:bodyPr>
          <a:lstStyle/>
          <a:p>
            <a:pPr marL="0" indent="0" algn="l">
              <a:lnSpc>
                <a:spcPct val="91341"/>
              </a:lnSpc>
              <a:buNone/>
            </a:pPr>
            <a:r>
              <a:rPr lang="en-US" sz="4050" b="1" dirty="0">
                <a:solidFill>
                  <a:srgbClr val="1D2D3D"/>
                </a:solidFill>
                <a:latin typeface="Arial" pitchFamily="34" charset="0"/>
                <a:ea typeface="Arial" pitchFamily="34" charset="-122"/>
                <a:cs typeface="Arial" pitchFamily="34" charset="-120"/>
              </a:rPr>
              <a:t>Target State Architecture</a:t>
            </a:r>
            <a:endParaRPr lang="en-US" sz="4050" dirty="0"/>
          </a:p>
        </p:txBody>
      </p:sp>
      <p:sp>
        <p:nvSpPr>
          <p:cNvPr id="3" name="Text 1">
            <a:extLst>
              <a:ext uri="{FF2B5EF4-FFF2-40B4-BE49-F238E27FC236}">
                <a16:creationId xmlns:a16="http://schemas.microsoft.com/office/drawing/2014/main" id="{58A95FDD-C606-AEEA-15B3-1BFDDC6BADC7}"/>
              </a:ext>
            </a:extLst>
          </p:cNvPr>
          <p:cNvSpPr/>
          <p:nvPr/>
        </p:nvSpPr>
        <p:spPr>
          <a:xfrm>
            <a:off x="571499" y="1066780"/>
            <a:ext cx="8620847" cy="346708"/>
          </a:xfrm>
          <a:prstGeom prst="rect">
            <a:avLst/>
          </a:prstGeom>
          <a:noFill/>
          <a:ln/>
        </p:spPr>
        <p:txBody>
          <a:bodyPr wrap="none" lIns="25400" tIns="25400" rIns="25400" bIns="25400" rtlCol="0" anchor="t">
            <a:normAutofit lnSpcReduction="10000"/>
          </a:bodyPr>
          <a:lstStyle/>
          <a:p>
            <a:pPr marL="0" indent="0" algn="l">
              <a:lnSpc>
                <a:spcPct val="102877"/>
              </a:lnSpc>
              <a:buNone/>
            </a:pPr>
            <a:r>
              <a:rPr lang="en-US" sz="2025" dirty="0">
                <a:solidFill>
                  <a:srgbClr val="5D5D60"/>
                </a:solidFill>
                <a:latin typeface="Arial" pitchFamily="34" charset="0"/>
                <a:ea typeface="Arial" pitchFamily="34" charset="-122"/>
                <a:cs typeface="Arial" pitchFamily="34" charset="-120"/>
              </a:rPr>
              <a:t>Application, ingestion pipeline, RAG pipeline and the two storage layers</a:t>
            </a:r>
            <a:endParaRPr lang="en-US" sz="2025" dirty="0"/>
          </a:p>
        </p:txBody>
      </p:sp>
      <p:sp>
        <p:nvSpPr>
          <p:cNvPr id="5" name="Shape 3">
            <a:extLst>
              <a:ext uri="{FF2B5EF4-FFF2-40B4-BE49-F238E27FC236}">
                <a16:creationId xmlns:a16="http://schemas.microsoft.com/office/drawing/2014/main" id="{20A074D5-288A-A67B-8564-CC9298D90AD4}"/>
              </a:ext>
            </a:extLst>
          </p:cNvPr>
          <p:cNvSpPr/>
          <p:nvPr/>
        </p:nvSpPr>
        <p:spPr>
          <a:xfrm>
            <a:off x="3295645" y="1511413"/>
            <a:ext cx="11849037" cy="3143209"/>
          </a:xfrm>
          <a:prstGeom prst="rect">
            <a:avLst/>
          </a:prstGeom>
          <a:solidFill>
            <a:schemeClr val="bg2"/>
          </a:solidFill>
          <a:ln w="17390">
            <a:solidFill>
              <a:srgbClr val="416180"/>
            </a:solidFill>
            <a:prstDash val="dash"/>
          </a:ln>
        </p:spPr>
        <p:txBody>
          <a:bodyPr/>
          <a:lstStyle/>
          <a:p>
            <a:endParaRPr lang="en-US" sz="1600"/>
          </a:p>
        </p:txBody>
      </p:sp>
      <p:sp>
        <p:nvSpPr>
          <p:cNvPr id="6" name="Shape 4">
            <a:extLst>
              <a:ext uri="{FF2B5EF4-FFF2-40B4-BE49-F238E27FC236}">
                <a16:creationId xmlns:a16="http://schemas.microsoft.com/office/drawing/2014/main" id="{613CA9D2-E6AF-6FF4-7376-9AAACE827097}"/>
              </a:ext>
            </a:extLst>
          </p:cNvPr>
          <p:cNvSpPr/>
          <p:nvPr/>
        </p:nvSpPr>
        <p:spPr>
          <a:xfrm>
            <a:off x="3295645" y="4919852"/>
            <a:ext cx="11849037" cy="3999559"/>
          </a:xfrm>
          <a:prstGeom prst="rect">
            <a:avLst/>
          </a:prstGeom>
          <a:solidFill>
            <a:schemeClr val="accent1">
              <a:lumMod val="20000"/>
              <a:lumOff val="80000"/>
            </a:schemeClr>
          </a:solidFill>
          <a:ln w="13043">
            <a:solidFill>
              <a:srgbClr val="597EA3"/>
            </a:solidFill>
            <a:prstDash val="dash"/>
          </a:ln>
        </p:spPr>
        <p:txBody>
          <a:bodyPr/>
          <a:lstStyle/>
          <a:p>
            <a:endParaRPr lang="en-US" dirty="0"/>
          </a:p>
        </p:txBody>
      </p:sp>
      <p:sp>
        <p:nvSpPr>
          <p:cNvPr id="7" name="Shape 5">
            <a:extLst>
              <a:ext uri="{FF2B5EF4-FFF2-40B4-BE49-F238E27FC236}">
                <a16:creationId xmlns:a16="http://schemas.microsoft.com/office/drawing/2014/main" id="{5B2D3931-ED5B-36A3-5B5C-DC17FEB68E4B}"/>
              </a:ext>
            </a:extLst>
          </p:cNvPr>
          <p:cNvSpPr/>
          <p:nvPr/>
        </p:nvSpPr>
        <p:spPr>
          <a:xfrm>
            <a:off x="8629610" y="1911455"/>
            <a:ext cx="6324595" cy="2628840"/>
          </a:xfrm>
          <a:prstGeom prst="rect">
            <a:avLst/>
          </a:prstGeom>
          <a:solidFill>
            <a:schemeClr val="bg1">
              <a:lumMod val="85000"/>
            </a:schemeClr>
          </a:solidFill>
          <a:ln w="13043">
            <a:solidFill>
              <a:srgbClr val="597EA3"/>
            </a:solidFill>
            <a:prstDash val="dash"/>
          </a:ln>
        </p:spPr>
        <p:txBody>
          <a:bodyPr/>
          <a:lstStyle/>
          <a:p>
            <a:endParaRPr lang="en-US" sz="1600" dirty="0">
              <a:solidFill>
                <a:schemeClr val="bg2">
                  <a:lumMod val="50000"/>
                </a:schemeClr>
              </a:solidFill>
            </a:endParaRPr>
          </a:p>
        </p:txBody>
      </p:sp>
      <p:sp>
        <p:nvSpPr>
          <p:cNvPr id="8" name="Shape 6">
            <a:extLst>
              <a:ext uri="{FF2B5EF4-FFF2-40B4-BE49-F238E27FC236}">
                <a16:creationId xmlns:a16="http://schemas.microsoft.com/office/drawing/2014/main" id="{AABB4723-3C79-1D17-6B33-13C26ACA1F85}"/>
              </a:ext>
            </a:extLst>
          </p:cNvPr>
          <p:cNvSpPr/>
          <p:nvPr/>
        </p:nvSpPr>
        <p:spPr>
          <a:xfrm>
            <a:off x="7105591" y="5395229"/>
            <a:ext cx="7886764" cy="3144092"/>
          </a:xfrm>
          <a:prstGeom prst="rect">
            <a:avLst/>
          </a:prstGeom>
          <a:solidFill>
            <a:srgbClr val="D6EBFF"/>
          </a:solidFill>
          <a:ln w="13043">
            <a:solidFill>
              <a:srgbClr val="597EA3"/>
            </a:solidFill>
            <a:prstDash val="dash"/>
          </a:ln>
        </p:spPr>
        <p:txBody>
          <a:bodyPr/>
          <a:lstStyle/>
          <a:p>
            <a:endParaRPr lang="en-US"/>
          </a:p>
        </p:txBody>
      </p:sp>
      <p:pic>
        <p:nvPicPr>
          <p:cNvPr id="55" name="Image 0" descr="preencoded.png">
            <a:extLst>
              <a:ext uri="{FF2B5EF4-FFF2-40B4-BE49-F238E27FC236}">
                <a16:creationId xmlns:a16="http://schemas.microsoft.com/office/drawing/2014/main" id="{5188ED4E-ADBB-6DCB-3F30-6686ED6D5A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48013" y="1624929"/>
            <a:ext cx="190477" cy="190477"/>
          </a:xfrm>
          <a:prstGeom prst="rect">
            <a:avLst/>
          </a:prstGeom>
        </p:spPr>
      </p:pic>
      <p:sp>
        <p:nvSpPr>
          <p:cNvPr id="56" name="Text 53">
            <a:extLst>
              <a:ext uri="{FF2B5EF4-FFF2-40B4-BE49-F238E27FC236}">
                <a16:creationId xmlns:a16="http://schemas.microsoft.com/office/drawing/2014/main" id="{A36E635C-1DC5-4AD2-49E2-9C7855F19B68}"/>
              </a:ext>
            </a:extLst>
          </p:cNvPr>
          <p:cNvSpPr/>
          <p:nvPr/>
        </p:nvSpPr>
        <p:spPr>
          <a:xfrm>
            <a:off x="3714640" y="1529653"/>
            <a:ext cx="3146830" cy="362875"/>
          </a:xfrm>
          <a:prstGeom prst="rect">
            <a:avLst/>
          </a:prstGeom>
          <a:noFill/>
          <a:ln/>
        </p:spPr>
        <p:txBody>
          <a:bodyPr wrap="none" lIns="25400" tIns="25400" rIns="25400" bIns="25400" rtlCol="0" anchor="t">
            <a:normAutofit/>
          </a:bodyPr>
          <a:lstStyle/>
          <a:p>
            <a:pPr marL="0" indent="0" algn="l">
              <a:lnSpc>
                <a:spcPct val="133410"/>
              </a:lnSpc>
              <a:buNone/>
            </a:pPr>
            <a:r>
              <a:rPr lang="en-US" sz="1600" b="1" kern="0" spc="264" dirty="0">
                <a:latin typeface="Arial" pitchFamily="34" charset="0"/>
                <a:ea typeface="Arial" pitchFamily="34" charset="-122"/>
                <a:cs typeface="Arial" pitchFamily="34" charset="-120"/>
              </a:rPr>
              <a:t>AI CHAT APPLICATION</a:t>
            </a:r>
            <a:endParaRPr lang="en-US" sz="1600" dirty="0"/>
          </a:p>
        </p:txBody>
      </p:sp>
      <p:pic>
        <p:nvPicPr>
          <p:cNvPr id="57" name="Image 1" descr="preencoded.png">
            <a:extLst>
              <a:ext uri="{FF2B5EF4-FFF2-40B4-BE49-F238E27FC236}">
                <a16:creationId xmlns:a16="http://schemas.microsoft.com/office/drawing/2014/main" id="{79336FD0-862E-1DA5-268A-6B37A08FE8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74602" y="5063185"/>
            <a:ext cx="190477" cy="190477"/>
          </a:xfrm>
          <a:prstGeom prst="rect">
            <a:avLst/>
          </a:prstGeom>
        </p:spPr>
      </p:pic>
      <p:sp>
        <p:nvSpPr>
          <p:cNvPr id="58" name="Text 54">
            <a:extLst>
              <a:ext uri="{FF2B5EF4-FFF2-40B4-BE49-F238E27FC236}">
                <a16:creationId xmlns:a16="http://schemas.microsoft.com/office/drawing/2014/main" id="{D52FC36E-E409-4263-5EEA-04024FB3CAF4}"/>
              </a:ext>
            </a:extLst>
          </p:cNvPr>
          <p:cNvSpPr/>
          <p:nvPr/>
        </p:nvSpPr>
        <p:spPr>
          <a:xfrm>
            <a:off x="4041229" y="4996070"/>
            <a:ext cx="2764096" cy="362875"/>
          </a:xfrm>
          <a:prstGeom prst="rect">
            <a:avLst/>
          </a:prstGeom>
          <a:noFill/>
          <a:ln/>
        </p:spPr>
        <p:txBody>
          <a:bodyPr wrap="none" lIns="25400" tIns="25400" rIns="25400" bIns="25400" rtlCol="0" anchor="t">
            <a:normAutofit/>
          </a:bodyPr>
          <a:lstStyle/>
          <a:p>
            <a:pPr marL="0" indent="0" algn="l">
              <a:lnSpc>
                <a:spcPct val="133410"/>
              </a:lnSpc>
              <a:buNone/>
            </a:pPr>
            <a:r>
              <a:rPr lang="en-US" sz="1600" b="1" kern="0" spc="264" dirty="0">
                <a:solidFill>
                  <a:schemeClr val="tx2"/>
                </a:solidFill>
                <a:latin typeface="Arial" pitchFamily="34" charset="0"/>
                <a:ea typeface="Arial" pitchFamily="34" charset="-122"/>
                <a:cs typeface="Arial" pitchFamily="34" charset="-120"/>
              </a:rPr>
              <a:t>MICROSOFT AZURE</a:t>
            </a:r>
            <a:endParaRPr lang="en-US" sz="1600" dirty="0">
              <a:solidFill>
                <a:schemeClr val="tx2"/>
              </a:solidFill>
            </a:endParaRPr>
          </a:p>
        </p:txBody>
      </p:sp>
      <p:sp>
        <p:nvSpPr>
          <p:cNvPr id="59" name="Text 55">
            <a:extLst>
              <a:ext uri="{FF2B5EF4-FFF2-40B4-BE49-F238E27FC236}">
                <a16:creationId xmlns:a16="http://schemas.microsoft.com/office/drawing/2014/main" id="{CA8625CE-E16D-B13E-4953-0E8DD9856123}"/>
              </a:ext>
            </a:extLst>
          </p:cNvPr>
          <p:cNvSpPr/>
          <p:nvPr/>
        </p:nvSpPr>
        <p:spPr>
          <a:xfrm>
            <a:off x="8782046" y="1968653"/>
            <a:ext cx="3445890" cy="284468"/>
          </a:xfrm>
          <a:prstGeom prst="rect">
            <a:avLst/>
          </a:prstGeom>
          <a:noFill/>
          <a:ln/>
        </p:spPr>
        <p:txBody>
          <a:bodyPr wrap="none" lIns="25400" tIns="25400" rIns="25400" bIns="25400" rtlCol="0" anchor="t">
            <a:normAutofit fontScale="92500" lnSpcReduction="10000"/>
          </a:bodyPr>
          <a:lstStyle/>
          <a:p>
            <a:pPr marL="0" indent="0" algn="l">
              <a:lnSpc>
                <a:spcPct val="135835"/>
              </a:lnSpc>
              <a:buNone/>
            </a:pPr>
            <a:r>
              <a:rPr lang="en-US" sz="1400" b="1" kern="0" spc="240" dirty="0">
                <a:solidFill>
                  <a:schemeClr val="tx1">
                    <a:lumMod val="65000"/>
                    <a:lumOff val="35000"/>
                  </a:schemeClr>
                </a:solidFill>
                <a:latin typeface="Arial" pitchFamily="34" charset="0"/>
                <a:ea typeface="Arial" pitchFamily="34" charset="-122"/>
                <a:cs typeface="Arial" pitchFamily="34" charset="-120"/>
              </a:rPr>
              <a:t>ORCHESTRATION SCREENS ONLY</a:t>
            </a:r>
            <a:endParaRPr lang="en-US" sz="1400" dirty="0">
              <a:solidFill>
                <a:schemeClr val="tx1">
                  <a:lumMod val="65000"/>
                  <a:lumOff val="35000"/>
                </a:schemeClr>
              </a:solidFill>
            </a:endParaRPr>
          </a:p>
        </p:txBody>
      </p:sp>
      <p:sp>
        <p:nvSpPr>
          <p:cNvPr id="60" name="Text 56">
            <a:extLst>
              <a:ext uri="{FF2B5EF4-FFF2-40B4-BE49-F238E27FC236}">
                <a16:creationId xmlns:a16="http://schemas.microsoft.com/office/drawing/2014/main" id="{0113BA81-A56A-1EC2-69CC-2B209B085634}"/>
              </a:ext>
            </a:extLst>
          </p:cNvPr>
          <p:cNvSpPr/>
          <p:nvPr/>
        </p:nvSpPr>
        <p:spPr>
          <a:xfrm>
            <a:off x="7296136" y="5412867"/>
            <a:ext cx="2432064" cy="333326"/>
          </a:xfrm>
          <a:prstGeom prst="rect">
            <a:avLst/>
          </a:prstGeom>
          <a:noFill/>
          <a:ln/>
        </p:spPr>
        <p:txBody>
          <a:bodyPr wrap="none" lIns="25400" tIns="25400" rIns="25400" bIns="25400" rtlCol="0" anchor="t">
            <a:normAutofit/>
          </a:bodyPr>
          <a:lstStyle/>
          <a:p>
            <a:pPr marL="0" indent="0" algn="l">
              <a:lnSpc>
                <a:spcPct val="135835"/>
              </a:lnSpc>
              <a:buNone/>
            </a:pPr>
            <a:r>
              <a:rPr lang="en-US" sz="1400" b="1" kern="0" spc="240" dirty="0">
                <a:solidFill>
                  <a:srgbClr val="416180"/>
                </a:solidFill>
                <a:latin typeface="Arial" pitchFamily="34" charset="0"/>
                <a:ea typeface="Arial" pitchFamily="34" charset="-122"/>
                <a:cs typeface="Arial" pitchFamily="34" charset="-120"/>
              </a:rPr>
              <a:t>AZURE AI FOUNDRY</a:t>
            </a:r>
            <a:endParaRPr lang="en-US" sz="1400" dirty="0"/>
          </a:p>
        </p:txBody>
      </p:sp>
      <p:sp>
        <p:nvSpPr>
          <p:cNvPr id="61" name="Shape 57">
            <a:extLst>
              <a:ext uri="{FF2B5EF4-FFF2-40B4-BE49-F238E27FC236}">
                <a16:creationId xmlns:a16="http://schemas.microsoft.com/office/drawing/2014/main" id="{E25C1CD8-E58E-56D8-D7F6-DB6F9D69F12F}"/>
              </a:ext>
            </a:extLst>
          </p:cNvPr>
          <p:cNvSpPr/>
          <p:nvPr/>
        </p:nvSpPr>
        <p:spPr>
          <a:xfrm>
            <a:off x="283032" y="4005440"/>
            <a:ext cx="2435658" cy="800085"/>
          </a:xfrm>
          <a:prstGeom prst="rect">
            <a:avLst/>
          </a:prstGeom>
          <a:solidFill>
            <a:srgbClr val="FFFFFF"/>
          </a:solidFill>
          <a:ln w="13043">
            <a:solidFill>
              <a:srgbClr val="416180"/>
            </a:solidFill>
            <a:prstDash val="solid"/>
          </a:ln>
        </p:spPr>
        <p:txBody>
          <a:bodyPr/>
          <a:lstStyle/>
          <a:p>
            <a:endParaRPr lang="en-US" sz="1200"/>
          </a:p>
        </p:txBody>
      </p:sp>
      <p:pic>
        <p:nvPicPr>
          <p:cNvPr id="62" name="Image 2" descr="preencoded.png">
            <a:extLst>
              <a:ext uri="{FF2B5EF4-FFF2-40B4-BE49-F238E27FC236}">
                <a16:creationId xmlns:a16="http://schemas.microsoft.com/office/drawing/2014/main" id="{61CC65F4-8439-C7EF-E692-E20E9B10205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3698" y="4107440"/>
            <a:ext cx="218940" cy="253494"/>
          </a:xfrm>
          <a:prstGeom prst="rect">
            <a:avLst/>
          </a:prstGeom>
        </p:spPr>
      </p:pic>
      <p:sp>
        <p:nvSpPr>
          <p:cNvPr id="63" name="Text 58">
            <a:extLst>
              <a:ext uri="{FF2B5EF4-FFF2-40B4-BE49-F238E27FC236}">
                <a16:creationId xmlns:a16="http://schemas.microsoft.com/office/drawing/2014/main" id="{B0C47A60-CE8F-2D09-F712-2968E8E006DF}"/>
              </a:ext>
            </a:extLst>
          </p:cNvPr>
          <p:cNvSpPr/>
          <p:nvPr/>
        </p:nvSpPr>
        <p:spPr>
          <a:xfrm>
            <a:off x="820814" y="4133557"/>
            <a:ext cx="1495084" cy="331424"/>
          </a:xfrm>
          <a:prstGeom prst="rect">
            <a:avLst/>
          </a:prstGeom>
          <a:noFill/>
          <a:ln/>
        </p:spPr>
        <p:txBody>
          <a:bodyPr wrap="none" lIns="25400" tIns="25400" rIns="25400" bIns="25400" rtlCol="0" anchor="t">
            <a:noAutofit/>
          </a:bodyPr>
          <a:lstStyle/>
          <a:p>
            <a:pPr marL="0" indent="0" algn="l">
              <a:lnSpc>
                <a:spcPct val="95041"/>
              </a:lnSpc>
              <a:buNone/>
            </a:pPr>
            <a:r>
              <a:rPr lang="en-US" sz="1600" b="1" dirty="0">
                <a:solidFill>
                  <a:srgbClr val="1D2D3D"/>
                </a:solidFill>
                <a:latin typeface="Arial" pitchFamily="34" charset="0"/>
                <a:ea typeface="Arial" pitchFamily="34" charset="-122"/>
                <a:cs typeface="Arial" pitchFamily="34" charset="-120"/>
              </a:rPr>
              <a:t>User</a:t>
            </a:r>
            <a:endParaRPr lang="en-US" sz="1600" dirty="0"/>
          </a:p>
        </p:txBody>
      </p:sp>
      <p:sp>
        <p:nvSpPr>
          <p:cNvPr id="64" name="Text 59">
            <a:extLst>
              <a:ext uri="{FF2B5EF4-FFF2-40B4-BE49-F238E27FC236}">
                <a16:creationId xmlns:a16="http://schemas.microsoft.com/office/drawing/2014/main" id="{ECA855D0-57EB-8B9D-0EBA-4E83865D82B1}"/>
              </a:ext>
            </a:extLst>
          </p:cNvPr>
          <p:cNvSpPr/>
          <p:nvPr/>
        </p:nvSpPr>
        <p:spPr>
          <a:xfrm>
            <a:off x="563698" y="4436391"/>
            <a:ext cx="1911869" cy="279049"/>
          </a:xfrm>
          <a:prstGeom prst="rect">
            <a:avLst/>
          </a:prstGeom>
          <a:noFill/>
          <a:ln/>
        </p:spPr>
        <p:txBody>
          <a:bodyPr wrap="square" lIns="25400" tIns="25400" rIns="25400" bIns="25400" rtlCol="0" anchor="t">
            <a:noAutofit/>
          </a:bodyPr>
          <a:lstStyle/>
          <a:p>
            <a:pPr marL="0" indent="0" algn="l">
              <a:lnSpc>
                <a:spcPct val="98981"/>
              </a:lnSpc>
              <a:buNone/>
            </a:pPr>
            <a:r>
              <a:rPr lang="en-US" sz="1200" dirty="0">
                <a:solidFill>
                  <a:srgbClr val="5D5D60"/>
                </a:solidFill>
                <a:latin typeface="Arial" pitchFamily="34" charset="0"/>
                <a:ea typeface="Arial" pitchFamily="34" charset="-122"/>
                <a:cs typeface="Arial" pitchFamily="34" charset="-120"/>
              </a:rPr>
              <a:t>Browser client</a:t>
            </a:r>
            <a:endParaRPr lang="en-US" sz="1200" dirty="0"/>
          </a:p>
        </p:txBody>
      </p:sp>
      <p:grpSp>
        <p:nvGrpSpPr>
          <p:cNvPr id="162" name="Group 161">
            <a:extLst>
              <a:ext uri="{FF2B5EF4-FFF2-40B4-BE49-F238E27FC236}">
                <a16:creationId xmlns:a16="http://schemas.microsoft.com/office/drawing/2014/main" id="{E87CB7CE-340C-F01C-BF95-E1FEEB0047AE}"/>
              </a:ext>
            </a:extLst>
          </p:cNvPr>
          <p:cNvGrpSpPr/>
          <p:nvPr/>
        </p:nvGrpSpPr>
        <p:grpSpPr>
          <a:xfrm>
            <a:off x="283032" y="5244038"/>
            <a:ext cx="2435658" cy="886085"/>
            <a:chOff x="285037" y="5429204"/>
            <a:chExt cx="2820063" cy="886085"/>
          </a:xfrm>
        </p:grpSpPr>
        <p:sp>
          <p:nvSpPr>
            <p:cNvPr id="11" name="Shape 9">
              <a:extLst>
                <a:ext uri="{FF2B5EF4-FFF2-40B4-BE49-F238E27FC236}">
                  <a16:creationId xmlns:a16="http://schemas.microsoft.com/office/drawing/2014/main" id="{95949DB1-B0E6-B5A0-052A-28C83510C27C}"/>
                </a:ext>
              </a:extLst>
            </p:cNvPr>
            <p:cNvSpPr/>
            <p:nvPr/>
          </p:nvSpPr>
          <p:spPr>
            <a:xfrm>
              <a:off x="2764137" y="5950706"/>
              <a:ext cx="95238" cy="21738"/>
            </a:xfrm>
            <a:prstGeom prst="rect">
              <a:avLst/>
            </a:prstGeom>
            <a:solidFill>
              <a:srgbClr val="416180"/>
            </a:solidFill>
            <a:ln/>
          </p:spPr>
          <p:txBody>
            <a:bodyPr/>
            <a:lstStyle/>
            <a:p>
              <a:endParaRPr lang="en-US" sz="1200"/>
            </a:p>
          </p:txBody>
        </p:sp>
        <p:sp>
          <p:nvSpPr>
            <p:cNvPr id="65" name="Shape 60">
              <a:extLst>
                <a:ext uri="{FF2B5EF4-FFF2-40B4-BE49-F238E27FC236}">
                  <a16:creationId xmlns:a16="http://schemas.microsoft.com/office/drawing/2014/main" id="{88697E68-C8F8-145C-64B0-78601818A97F}"/>
                </a:ext>
              </a:extLst>
            </p:cNvPr>
            <p:cNvSpPr/>
            <p:nvPr/>
          </p:nvSpPr>
          <p:spPr>
            <a:xfrm>
              <a:off x="285037" y="5429204"/>
              <a:ext cx="2820063" cy="886085"/>
            </a:xfrm>
            <a:prstGeom prst="rect">
              <a:avLst/>
            </a:prstGeom>
            <a:solidFill>
              <a:srgbClr val="FFFFFF"/>
            </a:solidFill>
            <a:ln w="13043">
              <a:solidFill>
                <a:srgbClr val="416180"/>
              </a:solidFill>
              <a:prstDash val="solid"/>
            </a:ln>
          </p:spPr>
          <p:txBody>
            <a:bodyPr/>
            <a:lstStyle/>
            <a:p>
              <a:endParaRPr lang="en-US" sz="1200"/>
            </a:p>
          </p:txBody>
        </p:sp>
        <p:pic>
          <p:nvPicPr>
            <p:cNvPr id="66" name="Image 3" descr="preencoded.png">
              <a:extLst>
                <a:ext uri="{FF2B5EF4-FFF2-40B4-BE49-F238E27FC236}">
                  <a16:creationId xmlns:a16="http://schemas.microsoft.com/office/drawing/2014/main" id="{53C3B3C5-CF5C-0BF4-ADC5-28979861382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67335" y="5593052"/>
              <a:ext cx="180967" cy="180967"/>
            </a:xfrm>
            <a:prstGeom prst="rect">
              <a:avLst/>
            </a:prstGeom>
          </p:spPr>
        </p:pic>
        <p:sp>
          <p:nvSpPr>
            <p:cNvPr id="67" name="Text 61">
              <a:extLst>
                <a:ext uri="{FF2B5EF4-FFF2-40B4-BE49-F238E27FC236}">
                  <a16:creationId xmlns:a16="http://schemas.microsoft.com/office/drawing/2014/main" id="{4E7067C8-799B-F3FA-BD9C-5DAAE483E70C}"/>
                </a:ext>
              </a:extLst>
            </p:cNvPr>
            <p:cNvSpPr/>
            <p:nvPr/>
          </p:nvSpPr>
          <p:spPr>
            <a:xfrm>
              <a:off x="824451" y="5536874"/>
              <a:ext cx="1919422" cy="331424"/>
            </a:xfrm>
            <a:prstGeom prst="rect">
              <a:avLst/>
            </a:prstGeom>
            <a:noFill/>
            <a:ln/>
          </p:spPr>
          <p:txBody>
            <a:bodyPr wrap="none" lIns="25400" tIns="25400" rIns="25400" bIns="25400" rtlCol="0" anchor="t">
              <a:noAutofit/>
            </a:bodyPr>
            <a:lstStyle/>
            <a:p>
              <a:pPr marL="0" indent="0" algn="l">
                <a:lnSpc>
                  <a:spcPct val="95041"/>
                </a:lnSpc>
                <a:buNone/>
              </a:pPr>
              <a:r>
                <a:rPr lang="en-US" sz="1600" b="1" dirty="0">
                  <a:solidFill>
                    <a:srgbClr val="1D2D3D"/>
                  </a:solidFill>
                  <a:latin typeface="Arial" pitchFamily="34" charset="0"/>
                  <a:ea typeface="Arial" pitchFamily="34" charset="-122"/>
                  <a:cs typeface="Arial" pitchFamily="34" charset="-120"/>
                </a:rPr>
                <a:t>WebSEAL Junction</a:t>
              </a:r>
              <a:endParaRPr lang="en-US" sz="1600" dirty="0"/>
            </a:p>
          </p:txBody>
        </p:sp>
        <p:sp>
          <p:nvSpPr>
            <p:cNvPr id="68" name="Text 62">
              <a:extLst>
                <a:ext uri="{FF2B5EF4-FFF2-40B4-BE49-F238E27FC236}">
                  <a16:creationId xmlns:a16="http://schemas.microsoft.com/office/drawing/2014/main" id="{2E98AF38-DEB7-95B4-C49B-85A4E360B45F}"/>
                </a:ext>
              </a:extLst>
            </p:cNvPr>
            <p:cNvSpPr/>
            <p:nvPr/>
          </p:nvSpPr>
          <p:spPr>
            <a:xfrm>
              <a:off x="567335" y="5839708"/>
              <a:ext cx="2213608" cy="279049"/>
            </a:xfrm>
            <a:prstGeom prst="rect">
              <a:avLst/>
            </a:prstGeom>
            <a:noFill/>
            <a:ln/>
          </p:spPr>
          <p:txBody>
            <a:bodyPr wrap="square" lIns="25400" tIns="25400" rIns="25400" bIns="25400" rtlCol="0" anchor="t">
              <a:noAutofit/>
            </a:bodyPr>
            <a:lstStyle/>
            <a:p>
              <a:pPr marL="0" indent="0" algn="l">
                <a:lnSpc>
                  <a:spcPct val="98981"/>
                </a:lnSpc>
                <a:buNone/>
              </a:pPr>
              <a:r>
                <a:rPr lang="en-US" sz="1200" dirty="0">
                  <a:solidFill>
                    <a:srgbClr val="5D5D60"/>
                  </a:solidFill>
                  <a:latin typeface="Arial" pitchFamily="34" charset="0"/>
                  <a:ea typeface="Arial" pitchFamily="34" charset="-122"/>
                  <a:cs typeface="Arial" pitchFamily="34" charset="-120"/>
                </a:rPr>
                <a:t>Enterprise SSO</a:t>
              </a:r>
              <a:endParaRPr lang="en-US" sz="1200" dirty="0"/>
            </a:p>
          </p:txBody>
        </p:sp>
      </p:grpSp>
      <p:grpSp>
        <p:nvGrpSpPr>
          <p:cNvPr id="216" name="Group 215">
            <a:extLst>
              <a:ext uri="{FF2B5EF4-FFF2-40B4-BE49-F238E27FC236}">
                <a16:creationId xmlns:a16="http://schemas.microsoft.com/office/drawing/2014/main" id="{3FEB2914-220B-D1A2-2EEE-5D50D3022444}"/>
              </a:ext>
            </a:extLst>
          </p:cNvPr>
          <p:cNvGrpSpPr/>
          <p:nvPr/>
        </p:nvGrpSpPr>
        <p:grpSpPr>
          <a:xfrm>
            <a:off x="15470692" y="4666368"/>
            <a:ext cx="1781210" cy="1118125"/>
            <a:chOff x="15335228" y="4886236"/>
            <a:chExt cx="1781210" cy="1118125"/>
          </a:xfrm>
        </p:grpSpPr>
        <p:sp>
          <p:nvSpPr>
            <p:cNvPr id="70" name="Shape 64">
              <a:extLst>
                <a:ext uri="{FF2B5EF4-FFF2-40B4-BE49-F238E27FC236}">
                  <a16:creationId xmlns:a16="http://schemas.microsoft.com/office/drawing/2014/main" id="{EBB914E6-D0B2-257A-F97E-9FD17104C994}"/>
                </a:ext>
              </a:extLst>
            </p:cNvPr>
            <p:cNvSpPr/>
            <p:nvPr/>
          </p:nvSpPr>
          <p:spPr>
            <a:xfrm>
              <a:off x="15335228" y="4886236"/>
              <a:ext cx="1781210" cy="1104888"/>
            </a:xfrm>
            <a:prstGeom prst="rect">
              <a:avLst/>
            </a:prstGeom>
            <a:solidFill>
              <a:srgbClr val="FFFFFF"/>
            </a:solidFill>
            <a:ln w="13043">
              <a:solidFill>
                <a:srgbClr val="416180"/>
              </a:solidFill>
              <a:prstDash val="solid"/>
            </a:ln>
          </p:spPr>
          <p:txBody>
            <a:bodyPr/>
            <a:lstStyle/>
            <a:p>
              <a:endParaRPr lang="en-US" sz="1400"/>
            </a:p>
          </p:txBody>
        </p:sp>
        <p:pic>
          <p:nvPicPr>
            <p:cNvPr id="71" name="Image 4" descr="preencoded.png">
              <a:extLst>
                <a:ext uri="{FF2B5EF4-FFF2-40B4-BE49-F238E27FC236}">
                  <a16:creationId xmlns:a16="http://schemas.microsoft.com/office/drawing/2014/main" id="{6DA360DF-4582-512B-FE6A-7EADC28B147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5500638" y="4939561"/>
              <a:ext cx="180967" cy="180967"/>
            </a:xfrm>
            <a:prstGeom prst="rect">
              <a:avLst/>
            </a:prstGeom>
          </p:spPr>
        </p:pic>
        <p:sp>
          <p:nvSpPr>
            <p:cNvPr id="72" name="Text 65">
              <a:extLst>
                <a:ext uri="{FF2B5EF4-FFF2-40B4-BE49-F238E27FC236}">
                  <a16:creationId xmlns:a16="http://schemas.microsoft.com/office/drawing/2014/main" id="{D6EED477-F70D-EBF6-C9CB-3AB26E045FDF}"/>
                </a:ext>
              </a:extLst>
            </p:cNvPr>
            <p:cNvSpPr/>
            <p:nvPr/>
          </p:nvSpPr>
          <p:spPr>
            <a:xfrm>
              <a:off x="15757754" y="4911030"/>
              <a:ext cx="1311046" cy="582902"/>
            </a:xfrm>
            <a:prstGeom prst="rect">
              <a:avLst/>
            </a:prstGeom>
            <a:noFill/>
            <a:ln/>
          </p:spPr>
          <p:txBody>
            <a:bodyPr wrap="square" lIns="25400" tIns="25400" rIns="25400" bIns="25400" rtlCol="0" anchor="t">
              <a:normAutofit/>
            </a:bodyPr>
            <a:lstStyle/>
            <a:p>
              <a:pPr marL="0" indent="0" algn="l">
                <a:lnSpc>
                  <a:spcPct val="94939"/>
                </a:lnSpc>
                <a:buNone/>
              </a:pPr>
              <a:r>
                <a:rPr lang="en-US" sz="1600" b="1" dirty="0">
                  <a:solidFill>
                    <a:srgbClr val="1D2D3D"/>
                  </a:solidFill>
                  <a:latin typeface="Arial" pitchFamily="34" charset="0"/>
                  <a:ea typeface="Arial" pitchFamily="34" charset="-122"/>
                  <a:cs typeface="Arial" pitchFamily="34" charset="-120"/>
                </a:rPr>
                <a:t>Microsoft SharePoint</a:t>
              </a:r>
              <a:endParaRPr lang="en-US" sz="1600" dirty="0"/>
            </a:p>
          </p:txBody>
        </p:sp>
        <p:sp>
          <p:nvSpPr>
            <p:cNvPr id="73" name="Text 66">
              <a:extLst>
                <a:ext uri="{FF2B5EF4-FFF2-40B4-BE49-F238E27FC236}">
                  <a16:creationId xmlns:a16="http://schemas.microsoft.com/office/drawing/2014/main" id="{42498E82-B085-7DAE-3A76-3C31D29C4F92}"/>
                </a:ext>
              </a:extLst>
            </p:cNvPr>
            <p:cNvSpPr/>
            <p:nvPr/>
          </p:nvSpPr>
          <p:spPr>
            <a:xfrm>
              <a:off x="15500638" y="5484363"/>
              <a:ext cx="1401829" cy="519998"/>
            </a:xfrm>
            <a:prstGeom prst="rect">
              <a:avLst/>
            </a:prstGeom>
            <a:noFill/>
            <a:ln/>
          </p:spPr>
          <p:txBody>
            <a:bodyPr wrap="square" lIns="25400" tIns="25400" rIns="25400" bIns="25400" rtlCol="0" anchor="t">
              <a:noAutofit/>
            </a:bodyPr>
            <a:lstStyle/>
            <a:p>
              <a:pPr marL="0" indent="0" algn="l">
                <a:lnSpc>
                  <a:spcPct val="98981"/>
                </a:lnSpc>
                <a:buNone/>
              </a:pPr>
              <a:r>
                <a:rPr lang="en-US" sz="1400" dirty="0">
                  <a:solidFill>
                    <a:srgbClr val="5D5D60"/>
                  </a:solidFill>
                  <a:latin typeface="Arial" pitchFamily="34" charset="0"/>
                  <a:ea typeface="Arial" pitchFamily="34" charset="-122"/>
                  <a:cs typeface="Arial" pitchFamily="34" charset="-120"/>
                </a:rPr>
                <a:t>System of record for documents</a:t>
              </a:r>
              <a:endParaRPr lang="en-US" sz="1400" dirty="0"/>
            </a:p>
          </p:txBody>
        </p:sp>
      </p:grpSp>
      <p:sp>
        <p:nvSpPr>
          <p:cNvPr id="74" name="Shape 67">
            <a:extLst>
              <a:ext uri="{FF2B5EF4-FFF2-40B4-BE49-F238E27FC236}">
                <a16:creationId xmlns:a16="http://schemas.microsoft.com/office/drawing/2014/main" id="{6C0BAC03-B5DC-3930-FC42-BD69F41F7AA2}"/>
              </a:ext>
            </a:extLst>
          </p:cNvPr>
          <p:cNvSpPr/>
          <p:nvPr/>
        </p:nvSpPr>
        <p:spPr>
          <a:xfrm>
            <a:off x="3448013" y="1911455"/>
            <a:ext cx="2666949" cy="1142997"/>
          </a:xfrm>
          <a:prstGeom prst="rect">
            <a:avLst/>
          </a:prstGeom>
          <a:solidFill>
            <a:schemeClr val="bg1">
              <a:lumMod val="95000"/>
            </a:schemeClr>
          </a:solidFill>
          <a:ln w="13043">
            <a:solidFill>
              <a:srgbClr val="416180"/>
            </a:solidFill>
            <a:prstDash val="solid"/>
          </a:ln>
        </p:spPr>
        <p:txBody>
          <a:bodyPr/>
          <a:lstStyle/>
          <a:p>
            <a:endParaRPr lang="en-US" sz="1600"/>
          </a:p>
        </p:txBody>
      </p:sp>
      <p:pic>
        <p:nvPicPr>
          <p:cNvPr id="75" name="Image 5" descr="preencoded.png">
            <a:extLst>
              <a:ext uri="{FF2B5EF4-FFF2-40B4-BE49-F238E27FC236}">
                <a16:creationId xmlns:a16="http://schemas.microsoft.com/office/drawing/2014/main" id="{C705FC38-53E6-A10C-7B64-B002BD36DCD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632444" y="2257153"/>
            <a:ext cx="190477" cy="190477"/>
          </a:xfrm>
          <a:prstGeom prst="rect">
            <a:avLst/>
          </a:prstGeom>
        </p:spPr>
      </p:pic>
      <p:sp>
        <p:nvSpPr>
          <p:cNvPr id="76" name="Text 68">
            <a:extLst>
              <a:ext uri="{FF2B5EF4-FFF2-40B4-BE49-F238E27FC236}">
                <a16:creationId xmlns:a16="http://schemas.microsoft.com/office/drawing/2014/main" id="{101F37D5-9BB9-9DD0-F101-962DEF81A7C3}"/>
              </a:ext>
            </a:extLst>
          </p:cNvPr>
          <p:cNvSpPr/>
          <p:nvPr/>
        </p:nvSpPr>
        <p:spPr>
          <a:xfrm>
            <a:off x="3899071" y="2195269"/>
            <a:ext cx="2393468" cy="352414"/>
          </a:xfrm>
          <a:prstGeom prst="rect">
            <a:avLst/>
          </a:prstGeom>
          <a:noFill/>
          <a:ln/>
        </p:spPr>
        <p:txBody>
          <a:bodyPr wrap="none" lIns="25400" tIns="25400" rIns="25400" bIns="25400" rtlCol="0" anchor="t">
            <a:normAutofit/>
          </a:bodyPr>
          <a:lstStyle/>
          <a:p>
            <a:pPr marL="0" indent="0" algn="l">
              <a:lnSpc>
                <a:spcPct val="96399"/>
              </a:lnSpc>
              <a:buNone/>
            </a:pPr>
            <a:r>
              <a:rPr lang="en-US" b="1" dirty="0">
                <a:solidFill>
                  <a:srgbClr val="1D2D3D"/>
                </a:solidFill>
                <a:latin typeface="Arial" pitchFamily="34" charset="0"/>
                <a:ea typeface="Arial" pitchFamily="34" charset="-122"/>
                <a:cs typeface="Arial" pitchFamily="34" charset="-120"/>
              </a:rPr>
              <a:t>AI Chat Frontend</a:t>
            </a:r>
            <a:endParaRPr lang="en-US" dirty="0"/>
          </a:p>
        </p:txBody>
      </p:sp>
      <p:sp>
        <p:nvSpPr>
          <p:cNvPr id="77" name="Text 69">
            <a:extLst>
              <a:ext uri="{FF2B5EF4-FFF2-40B4-BE49-F238E27FC236}">
                <a16:creationId xmlns:a16="http://schemas.microsoft.com/office/drawing/2014/main" id="{CCBFB9B2-49B4-2A65-014F-C96604F4BB56}"/>
              </a:ext>
            </a:extLst>
          </p:cNvPr>
          <p:cNvSpPr/>
          <p:nvPr/>
        </p:nvSpPr>
        <p:spPr>
          <a:xfrm>
            <a:off x="3632444" y="2519093"/>
            <a:ext cx="2527895" cy="289578"/>
          </a:xfrm>
          <a:prstGeom prst="rect">
            <a:avLst/>
          </a:prstGeom>
          <a:noFill/>
          <a:ln/>
        </p:spPr>
        <p:txBody>
          <a:bodyPr wrap="none" lIns="25400" tIns="25400" rIns="25400" bIns="25400" rtlCol="0" anchor="t">
            <a:noAutofit/>
          </a:bodyPr>
          <a:lstStyle/>
          <a:p>
            <a:pPr marL="0" indent="0" algn="l">
              <a:lnSpc>
                <a:spcPct val="103285"/>
              </a:lnSpc>
              <a:buNone/>
            </a:pPr>
            <a:r>
              <a:rPr lang="en-US" sz="1400" dirty="0">
                <a:solidFill>
                  <a:srgbClr val="597EA3"/>
                </a:solidFill>
                <a:latin typeface="Arial" pitchFamily="34" charset="0"/>
                <a:ea typeface="Arial" pitchFamily="34" charset="-122"/>
                <a:cs typeface="Arial" pitchFamily="34" charset="-120"/>
              </a:rPr>
              <a:t>Screens · Navigation</a:t>
            </a:r>
            <a:endParaRPr lang="en-US" sz="1400" dirty="0"/>
          </a:p>
        </p:txBody>
      </p:sp>
      <p:sp>
        <p:nvSpPr>
          <p:cNvPr id="78" name="Shape 70">
            <a:extLst>
              <a:ext uri="{FF2B5EF4-FFF2-40B4-BE49-F238E27FC236}">
                <a16:creationId xmlns:a16="http://schemas.microsoft.com/office/drawing/2014/main" id="{5D42B923-DDF8-B5EB-99B9-F476C9F4F38F}"/>
              </a:ext>
            </a:extLst>
          </p:cNvPr>
          <p:cNvSpPr/>
          <p:nvPr/>
        </p:nvSpPr>
        <p:spPr>
          <a:xfrm>
            <a:off x="3448013" y="3321148"/>
            <a:ext cx="2666949" cy="1219147"/>
          </a:xfrm>
          <a:prstGeom prst="rect">
            <a:avLst/>
          </a:prstGeom>
          <a:solidFill>
            <a:schemeClr val="bg1">
              <a:lumMod val="95000"/>
            </a:schemeClr>
          </a:solidFill>
          <a:ln w="13043">
            <a:solidFill>
              <a:srgbClr val="416180"/>
            </a:solidFill>
            <a:prstDash val="solid"/>
          </a:ln>
        </p:spPr>
        <p:txBody>
          <a:bodyPr/>
          <a:lstStyle/>
          <a:p>
            <a:endParaRPr lang="en-US" sz="1600"/>
          </a:p>
        </p:txBody>
      </p:sp>
      <p:pic>
        <p:nvPicPr>
          <p:cNvPr id="79" name="Image 6" descr="preencoded.png">
            <a:extLst>
              <a:ext uri="{FF2B5EF4-FFF2-40B4-BE49-F238E27FC236}">
                <a16:creationId xmlns:a16="http://schemas.microsoft.com/office/drawing/2014/main" id="{86E1727C-6D92-69D2-D550-A3ADF5DFB1C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632444" y="3555440"/>
            <a:ext cx="190477" cy="190477"/>
          </a:xfrm>
          <a:prstGeom prst="rect">
            <a:avLst/>
          </a:prstGeom>
        </p:spPr>
      </p:pic>
      <p:sp>
        <p:nvSpPr>
          <p:cNvPr id="80" name="Text 71">
            <a:extLst>
              <a:ext uri="{FF2B5EF4-FFF2-40B4-BE49-F238E27FC236}">
                <a16:creationId xmlns:a16="http://schemas.microsoft.com/office/drawing/2014/main" id="{FB389049-6CD0-5C97-99E4-C2A623A46E38}"/>
              </a:ext>
            </a:extLst>
          </p:cNvPr>
          <p:cNvSpPr/>
          <p:nvPr/>
        </p:nvSpPr>
        <p:spPr>
          <a:xfrm>
            <a:off x="3899071" y="3493555"/>
            <a:ext cx="2131487" cy="352414"/>
          </a:xfrm>
          <a:prstGeom prst="rect">
            <a:avLst/>
          </a:prstGeom>
          <a:noFill/>
          <a:ln/>
        </p:spPr>
        <p:txBody>
          <a:bodyPr wrap="none" lIns="25400" tIns="25400" rIns="25400" bIns="25400" rtlCol="0" anchor="t">
            <a:normAutofit/>
          </a:bodyPr>
          <a:lstStyle/>
          <a:p>
            <a:pPr marL="0" indent="0" algn="l">
              <a:lnSpc>
                <a:spcPct val="96399"/>
              </a:lnSpc>
              <a:buNone/>
            </a:pPr>
            <a:r>
              <a:rPr lang="en-US" b="1" dirty="0">
                <a:solidFill>
                  <a:srgbClr val="1D2D3D"/>
                </a:solidFill>
                <a:latin typeface="Arial" pitchFamily="34" charset="0"/>
                <a:ea typeface="Arial" pitchFamily="34" charset="-122"/>
                <a:cs typeface="Arial" pitchFamily="34" charset="-120"/>
              </a:rPr>
              <a:t>Backend router</a:t>
            </a:r>
            <a:endParaRPr lang="en-US" dirty="0"/>
          </a:p>
        </p:txBody>
      </p:sp>
      <p:sp>
        <p:nvSpPr>
          <p:cNvPr id="81" name="Text 72">
            <a:extLst>
              <a:ext uri="{FF2B5EF4-FFF2-40B4-BE49-F238E27FC236}">
                <a16:creationId xmlns:a16="http://schemas.microsoft.com/office/drawing/2014/main" id="{BADB242A-D66F-9015-BEEF-4A6C7A371206}"/>
              </a:ext>
            </a:extLst>
          </p:cNvPr>
          <p:cNvSpPr/>
          <p:nvPr/>
        </p:nvSpPr>
        <p:spPr>
          <a:xfrm>
            <a:off x="3632444" y="3817379"/>
            <a:ext cx="2527895" cy="289578"/>
          </a:xfrm>
          <a:prstGeom prst="rect">
            <a:avLst/>
          </a:prstGeom>
          <a:noFill/>
          <a:ln/>
        </p:spPr>
        <p:txBody>
          <a:bodyPr wrap="none" lIns="25400" tIns="25400" rIns="25400" bIns="25400" rtlCol="0" anchor="t">
            <a:noAutofit/>
          </a:bodyPr>
          <a:lstStyle/>
          <a:p>
            <a:pPr>
              <a:lnSpc>
                <a:spcPct val="103285"/>
              </a:lnSpc>
            </a:pPr>
            <a:r>
              <a:rPr lang="en-US" sz="1400" dirty="0">
                <a:solidFill>
                  <a:srgbClr val="597EA3"/>
                </a:solidFill>
                <a:latin typeface="Arial" pitchFamily="34" charset="0"/>
                <a:ea typeface="Arial" pitchFamily="34" charset="-122"/>
                <a:cs typeface="Arial" pitchFamily="34" charset="-120"/>
              </a:rPr>
              <a:t>AWS · EC2 · Python · </a:t>
            </a:r>
            <a:r>
              <a:rPr lang="en-US" sz="1400" dirty="0" err="1">
                <a:solidFill>
                  <a:srgbClr val="597EA3"/>
                </a:solidFill>
                <a:latin typeface="Arial" pitchFamily="34" charset="0"/>
                <a:ea typeface="Arial" pitchFamily="34" charset="-122"/>
                <a:cs typeface="Arial" pitchFamily="34" charset="-120"/>
              </a:rPr>
              <a:t>FastAPI</a:t>
            </a:r>
            <a:endParaRPr lang="en-US" sz="1400" dirty="0"/>
          </a:p>
        </p:txBody>
      </p:sp>
      <p:sp>
        <p:nvSpPr>
          <p:cNvPr id="82" name="Text 73">
            <a:extLst>
              <a:ext uri="{FF2B5EF4-FFF2-40B4-BE49-F238E27FC236}">
                <a16:creationId xmlns:a16="http://schemas.microsoft.com/office/drawing/2014/main" id="{1FF2B803-B421-1C4C-F1E4-FAA34350762D}"/>
              </a:ext>
            </a:extLst>
          </p:cNvPr>
          <p:cNvSpPr/>
          <p:nvPr/>
        </p:nvSpPr>
        <p:spPr>
          <a:xfrm>
            <a:off x="3632444" y="4116409"/>
            <a:ext cx="2527895" cy="289578"/>
          </a:xfrm>
          <a:prstGeom prst="rect">
            <a:avLst/>
          </a:prstGeom>
          <a:noFill/>
          <a:ln/>
        </p:spPr>
        <p:txBody>
          <a:bodyPr wrap="square" lIns="25400" tIns="25400" rIns="25400" bIns="25400" rtlCol="0" anchor="t">
            <a:noAutofit/>
          </a:bodyPr>
          <a:lstStyle/>
          <a:p>
            <a:pPr marL="0" indent="0" algn="l">
              <a:lnSpc>
                <a:spcPct val="103285"/>
              </a:lnSpc>
              <a:buNone/>
            </a:pPr>
            <a:r>
              <a:rPr lang="en-US" sz="1400" dirty="0">
                <a:solidFill>
                  <a:srgbClr val="5D5D60"/>
                </a:solidFill>
                <a:latin typeface="Arial" pitchFamily="34" charset="0"/>
                <a:ea typeface="Arial" pitchFamily="34" charset="-122"/>
                <a:cs typeface="Arial" pitchFamily="34" charset="-120"/>
              </a:rPr>
              <a:t> Orchestration</a:t>
            </a:r>
            <a:endParaRPr lang="en-US" sz="1400" dirty="0"/>
          </a:p>
        </p:txBody>
      </p:sp>
      <p:sp>
        <p:nvSpPr>
          <p:cNvPr id="88" name="Shape 78">
            <a:extLst>
              <a:ext uri="{FF2B5EF4-FFF2-40B4-BE49-F238E27FC236}">
                <a16:creationId xmlns:a16="http://schemas.microsoft.com/office/drawing/2014/main" id="{A73BF004-C111-3C89-E291-919CE33B80DB}"/>
              </a:ext>
            </a:extLst>
          </p:cNvPr>
          <p:cNvSpPr/>
          <p:nvPr/>
        </p:nvSpPr>
        <p:spPr>
          <a:xfrm>
            <a:off x="8782046" y="2273389"/>
            <a:ext cx="6019791" cy="514301"/>
          </a:xfrm>
          <a:prstGeom prst="rect">
            <a:avLst/>
          </a:prstGeom>
          <a:solidFill>
            <a:schemeClr val="bg1">
              <a:lumMod val="95000"/>
            </a:schemeClr>
          </a:solidFill>
          <a:ln w="13043">
            <a:solidFill>
              <a:srgbClr val="416180"/>
            </a:solidFill>
            <a:prstDash val="solid"/>
          </a:ln>
        </p:spPr>
        <p:txBody>
          <a:bodyPr/>
          <a:lstStyle/>
          <a:p>
            <a:endParaRPr lang="en-US" sz="1600"/>
          </a:p>
        </p:txBody>
      </p:sp>
      <p:sp>
        <p:nvSpPr>
          <p:cNvPr id="89" name="Text 79">
            <a:extLst>
              <a:ext uri="{FF2B5EF4-FFF2-40B4-BE49-F238E27FC236}">
                <a16:creationId xmlns:a16="http://schemas.microsoft.com/office/drawing/2014/main" id="{0829BB55-B062-8374-9B60-31E597BBE9B6}"/>
              </a:ext>
            </a:extLst>
          </p:cNvPr>
          <p:cNvSpPr/>
          <p:nvPr/>
        </p:nvSpPr>
        <p:spPr>
          <a:xfrm>
            <a:off x="9214153" y="2295058"/>
            <a:ext cx="5441404" cy="288832"/>
          </a:xfrm>
          <a:prstGeom prst="rect">
            <a:avLst/>
          </a:prstGeom>
          <a:solidFill>
            <a:schemeClr val="accent6">
              <a:lumMod val="20000"/>
              <a:lumOff val="80000"/>
            </a:schemeClr>
          </a:solidFill>
          <a:ln/>
        </p:spPr>
        <p:txBody>
          <a:bodyPr wrap="none" lIns="25400" tIns="25400" rIns="25400" bIns="25400" rtlCol="0" anchor="t">
            <a:noAutofit/>
          </a:bodyPr>
          <a:lstStyle/>
          <a:p>
            <a:pPr marL="0" indent="0" algn="l">
              <a:lnSpc>
                <a:spcPct val="93948"/>
              </a:lnSpc>
              <a:buNone/>
            </a:pPr>
            <a:r>
              <a:rPr lang="en-US" sz="1400" dirty="0">
                <a:solidFill>
                  <a:srgbClr val="1D2D3D"/>
                </a:solidFill>
                <a:latin typeface="Arial" pitchFamily="34" charset="0"/>
                <a:ea typeface="Arial" pitchFamily="34" charset="-122"/>
                <a:cs typeface="Arial" pitchFamily="34" charset="-120"/>
              </a:rPr>
              <a:t>Team space management</a:t>
            </a:r>
            <a:endParaRPr lang="en-US" sz="1400" dirty="0"/>
          </a:p>
        </p:txBody>
      </p:sp>
      <p:sp>
        <p:nvSpPr>
          <p:cNvPr id="90" name="Text 80">
            <a:extLst>
              <a:ext uri="{FF2B5EF4-FFF2-40B4-BE49-F238E27FC236}">
                <a16:creationId xmlns:a16="http://schemas.microsoft.com/office/drawing/2014/main" id="{4DF9D288-E081-7BE2-B86B-722BBD0C002B}"/>
              </a:ext>
            </a:extLst>
          </p:cNvPr>
          <p:cNvSpPr/>
          <p:nvPr/>
        </p:nvSpPr>
        <p:spPr>
          <a:xfrm>
            <a:off x="9214153" y="2541430"/>
            <a:ext cx="5432289" cy="262689"/>
          </a:xfrm>
          <a:prstGeom prst="rect">
            <a:avLst/>
          </a:prstGeom>
          <a:noFill/>
          <a:ln/>
        </p:spPr>
        <p:txBody>
          <a:bodyPr wrap="none" lIns="25400" tIns="25400" rIns="25400" bIns="25400" rtlCol="0" anchor="t">
            <a:normAutofit/>
          </a:bodyPr>
          <a:lstStyle/>
          <a:p>
            <a:pPr marL="0" indent="0" algn="l">
              <a:lnSpc>
                <a:spcPct val="97981"/>
              </a:lnSpc>
              <a:buNone/>
            </a:pPr>
            <a:r>
              <a:rPr lang="en-US" sz="1200" dirty="0">
                <a:solidFill>
                  <a:srgbClr val="5D5D60"/>
                </a:solidFill>
                <a:latin typeface="Arial" pitchFamily="34" charset="0"/>
                <a:cs typeface="Arial" pitchFamily="34" charset="-120"/>
              </a:rPr>
              <a:t>Internal screens for orchestration</a:t>
            </a:r>
            <a:endParaRPr lang="en-US" sz="1200" dirty="0"/>
          </a:p>
        </p:txBody>
      </p:sp>
      <p:sp>
        <p:nvSpPr>
          <p:cNvPr id="91" name="Shape 81">
            <a:extLst>
              <a:ext uri="{FF2B5EF4-FFF2-40B4-BE49-F238E27FC236}">
                <a16:creationId xmlns:a16="http://schemas.microsoft.com/office/drawing/2014/main" id="{92AF6173-4702-EE6F-648E-3648C083EC71}"/>
              </a:ext>
            </a:extLst>
          </p:cNvPr>
          <p:cNvSpPr/>
          <p:nvPr/>
        </p:nvSpPr>
        <p:spPr>
          <a:xfrm>
            <a:off x="8782046" y="2835377"/>
            <a:ext cx="6019791" cy="514301"/>
          </a:xfrm>
          <a:prstGeom prst="rect">
            <a:avLst/>
          </a:prstGeom>
          <a:solidFill>
            <a:schemeClr val="bg1">
              <a:lumMod val="95000"/>
            </a:schemeClr>
          </a:solidFill>
          <a:ln w="13043">
            <a:solidFill>
              <a:srgbClr val="416180"/>
            </a:solidFill>
            <a:prstDash val="solid"/>
          </a:ln>
        </p:spPr>
        <p:txBody>
          <a:bodyPr/>
          <a:lstStyle/>
          <a:p>
            <a:endParaRPr lang="en-US" sz="1600"/>
          </a:p>
        </p:txBody>
      </p:sp>
      <p:sp>
        <p:nvSpPr>
          <p:cNvPr id="92" name="Text 82">
            <a:extLst>
              <a:ext uri="{FF2B5EF4-FFF2-40B4-BE49-F238E27FC236}">
                <a16:creationId xmlns:a16="http://schemas.microsoft.com/office/drawing/2014/main" id="{F9A78733-ADD2-C889-DCE0-1AD79C057C2D}"/>
              </a:ext>
            </a:extLst>
          </p:cNvPr>
          <p:cNvSpPr/>
          <p:nvPr/>
        </p:nvSpPr>
        <p:spPr>
          <a:xfrm>
            <a:off x="9214152" y="2857047"/>
            <a:ext cx="5441405" cy="280406"/>
          </a:xfrm>
          <a:prstGeom prst="rect">
            <a:avLst/>
          </a:prstGeom>
          <a:solidFill>
            <a:schemeClr val="accent6">
              <a:lumMod val="20000"/>
              <a:lumOff val="80000"/>
            </a:schemeClr>
          </a:solidFill>
          <a:ln/>
        </p:spPr>
        <p:txBody>
          <a:bodyPr wrap="none" lIns="25400" tIns="25400" rIns="25400" bIns="25400" rtlCol="0" anchor="t">
            <a:noAutofit/>
          </a:bodyPr>
          <a:lstStyle/>
          <a:p>
            <a:pPr marL="0" indent="0" algn="l">
              <a:lnSpc>
                <a:spcPct val="93948"/>
              </a:lnSpc>
              <a:buNone/>
            </a:pPr>
            <a:r>
              <a:rPr lang="en-US" sz="1400" dirty="0">
                <a:solidFill>
                  <a:srgbClr val="1D2D3D"/>
                </a:solidFill>
                <a:latin typeface="Arial" pitchFamily="34" charset="0"/>
                <a:ea typeface="Arial" pitchFamily="34" charset="-122"/>
                <a:cs typeface="Arial" pitchFamily="34" charset="-120"/>
              </a:rPr>
              <a:t>Document library (shared) - Team</a:t>
            </a:r>
            <a:endParaRPr lang="en-US" sz="1400" dirty="0"/>
          </a:p>
        </p:txBody>
      </p:sp>
      <p:sp>
        <p:nvSpPr>
          <p:cNvPr id="93" name="Text 83">
            <a:extLst>
              <a:ext uri="{FF2B5EF4-FFF2-40B4-BE49-F238E27FC236}">
                <a16:creationId xmlns:a16="http://schemas.microsoft.com/office/drawing/2014/main" id="{FDFDD31B-4FC0-2152-77B8-11819C2864C7}"/>
              </a:ext>
            </a:extLst>
          </p:cNvPr>
          <p:cNvSpPr/>
          <p:nvPr/>
        </p:nvSpPr>
        <p:spPr>
          <a:xfrm>
            <a:off x="9214153" y="3092426"/>
            <a:ext cx="5549508" cy="273682"/>
          </a:xfrm>
          <a:prstGeom prst="rect">
            <a:avLst/>
          </a:prstGeom>
          <a:noFill/>
          <a:ln/>
        </p:spPr>
        <p:txBody>
          <a:bodyPr wrap="none" lIns="25400" tIns="25400" rIns="25400" bIns="25400" rtlCol="0" anchor="t">
            <a:normAutofit/>
          </a:bodyPr>
          <a:lstStyle/>
          <a:p>
            <a:pPr>
              <a:lnSpc>
                <a:spcPct val="97981"/>
              </a:lnSpc>
            </a:pPr>
            <a:r>
              <a:rPr lang="en-US" sz="1200" dirty="0">
                <a:solidFill>
                  <a:srgbClr val="5D5D60"/>
                </a:solidFill>
                <a:latin typeface="Arial" pitchFamily="34" charset="0"/>
                <a:cs typeface="Arial" pitchFamily="34" charset="-120"/>
              </a:rPr>
              <a:t>Internal screens for orchestration</a:t>
            </a:r>
            <a:endParaRPr lang="en-US" sz="1200" dirty="0"/>
          </a:p>
        </p:txBody>
      </p:sp>
      <p:sp>
        <p:nvSpPr>
          <p:cNvPr id="94" name="Shape 84">
            <a:extLst>
              <a:ext uri="{FF2B5EF4-FFF2-40B4-BE49-F238E27FC236}">
                <a16:creationId xmlns:a16="http://schemas.microsoft.com/office/drawing/2014/main" id="{EDF1A606-A678-1ADB-F016-8BB14F4D74E1}"/>
              </a:ext>
            </a:extLst>
          </p:cNvPr>
          <p:cNvSpPr/>
          <p:nvPr/>
        </p:nvSpPr>
        <p:spPr>
          <a:xfrm>
            <a:off x="8782046" y="3397366"/>
            <a:ext cx="6019791" cy="514301"/>
          </a:xfrm>
          <a:prstGeom prst="rect">
            <a:avLst/>
          </a:prstGeom>
          <a:solidFill>
            <a:schemeClr val="bg1">
              <a:lumMod val="95000"/>
            </a:schemeClr>
          </a:solidFill>
          <a:ln w="13043">
            <a:solidFill>
              <a:srgbClr val="416180"/>
            </a:solidFill>
            <a:prstDash val="solid"/>
          </a:ln>
        </p:spPr>
        <p:txBody>
          <a:bodyPr/>
          <a:lstStyle/>
          <a:p>
            <a:endParaRPr lang="en-US" sz="1600"/>
          </a:p>
        </p:txBody>
      </p:sp>
      <p:sp>
        <p:nvSpPr>
          <p:cNvPr id="95" name="Text 85">
            <a:extLst>
              <a:ext uri="{FF2B5EF4-FFF2-40B4-BE49-F238E27FC236}">
                <a16:creationId xmlns:a16="http://schemas.microsoft.com/office/drawing/2014/main" id="{242657E3-4CAA-3422-D9F8-FA9B5569BC75}"/>
              </a:ext>
            </a:extLst>
          </p:cNvPr>
          <p:cNvSpPr/>
          <p:nvPr/>
        </p:nvSpPr>
        <p:spPr>
          <a:xfrm>
            <a:off x="9214152" y="3419035"/>
            <a:ext cx="5985425" cy="279049"/>
          </a:xfrm>
          <a:prstGeom prst="rect">
            <a:avLst/>
          </a:prstGeom>
          <a:noFill/>
          <a:ln/>
        </p:spPr>
        <p:txBody>
          <a:bodyPr wrap="none" lIns="25400" tIns="25400" rIns="25400" bIns="25400" rtlCol="0" anchor="t">
            <a:noAutofit/>
          </a:bodyPr>
          <a:lstStyle/>
          <a:p>
            <a:pPr marL="0" indent="0" algn="l">
              <a:lnSpc>
                <a:spcPct val="93948"/>
              </a:lnSpc>
              <a:buNone/>
            </a:pPr>
            <a:r>
              <a:rPr lang="en-US" sz="1400" dirty="0">
                <a:solidFill>
                  <a:srgbClr val="1D2D3D"/>
                </a:solidFill>
                <a:latin typeface="Arial" pitchFamily="34" charset="0"/>
                <a:ea typeface="Arial" pitchFamily="34" charset="-122"/>
                <a:cs typeface="Arial" pitchFamily="34" charset="-120"/>
              </a:rPr>
              <a:t>Document library - Personal</a:t>
            </a:r>
            <a:endParaRPr lang="en-US" sz="1400" dirty="0"/>
          </a:p>
        </p:txBody>
      </p:sp>
      <p:sp>
        <p:nvSpPr>
          <p:cNvPr id="96" name="Text 86">
            <a:extLst>
              <a:ext uri="{FF2B5EF4-FFF2-40B4-BE49-F238E27FC236}">
                <a16:creationId xmlns:a16="http://schemas.microsoft.com/office/drawing/2014/main" id="{773B613B-180C-B714-1640-B5CFF497A8E9}"/>
              </a:ext>
            </a:extLst>
          </p:cNvPr>
          <p:cNvSpPr/>
          <p:nvPr/>
        </p:nvSpPr>
        <p:spPr>
          <a:xfrm>
            <a:off x="9214153" y="3665293"/>
            <a:ext cx="5549508" cy="262803"/>
          </a:xfrm>
          <a:prstGeom prst="rect">
            <a:avLst/>
          </a:prstGeom>
          <a:noFill/>
          <a:ln/>
        </p:spPr>
        <p:txBody>
          <a:bodyPr wrap="none" lIns="25400" tIns="25400" rIns="25400" bIns="25400" rtlCol="0" anchor="t">
            <a:normAutofit/>
          </a:bodyPr>
          <a:lstStyle/>
          <a:p>
            <a:pPr marL="0" indent="0" algn="l">
              <a:lnSpc>
                <a:spcPct val="97981"/>
              </a:lnSpc>
              <a:buNone/>
            </a:pPr>
            <a:r>
              <a:rPr lang="en-US" sz="1200" dirty="0">
                <a:solidFill>
                  <a:srgbClr val="5D5D60"/>
                </a:solidFill>
                <a:latin typeface="Arial" pitchFamily="34" charset="0"/>
                <a:ea typeface="Arial" pitchFamily="34" charset="-122"/>
                <a:cs typeface="Arial" pitchFamily="34" charset="-120"/>
              </a:rPr>
              <a:t>Uploads + SharePoint pulls</a:t>
            </a:r>
            <a:endParaRPr lang="en-US" sz="1200" dirty="0"/>
          </a:p>
        </p:txBody>
      </p:sp>
      <p:sp>
        <p:nvSpPr>
          <p:cNvPr id="97" name="Shape 87">
            <a:extLst>
              <a:ext uri="{FF2B5EF4-FFF2-40B4-BE49-F238E27FC236}">
                <a16:creationId xmlns:a16="http://schemas.microsoft.com/office/drawing/2014/main" id="{58C2F16A-D280-B5F8-F74F-876A5430F5D0}"/>
              </a:ext>
            </a:extLst>
          </p:cNvPr>
          <p:cNvSpPr/>
          <p:nvPr/>
        </p:nvSpPr>
        <p:spPr>
          <a:xfrm>
            <a:off x="8782046" y="3959354"/>
            <a:ext cx="6019791" cy="514301"/>
          </a:xfrm>
          <a:prstGeom prst="rect">
            <a:avLst/>
          </a:prstGeom>
          <a:solidFill>
            <a:schemeClr val="bg1">
              <a:lumMod val="95000"/>
            </a:schemeClr>
          </a:solidFill>
          <a:ln w="13043">
            <a:solidFill>
              <a:srgbClr val="416180"/>
            </a:solidFill>
            <a:prstDash val="solid"/>
          </a:ln>
        </p:spPr>
        <p:txBody>
          <a:bodyPr/>
          <a:lstStyle/>
          <a:p>
            <a:endParaRPr lang="en-US" sz="1600"/>
          </a:p>
        </p:txBody>
      </p:sp>
      <p:sp>
        <p:nvSpPr>
          <p:cNvPr id="98" name="Text 88">
            <a:extLst>
              <a:ext uri="{FF2B5EF4-FFF2-40B4-BE49-F238E27FC236}">
                <a16:creationId xmlns:a16="http://schemas.microsoft.com/office/drawing/2014/main" id="{D6071039-1AB2-CD4B-4952-7B6105445AFF}"/>
              </a:ext>
            </a:extLst>
          </p:cNvPr>
          <p:cNvSpPr/>
          <p:nvPr/>
        </p:nvSpPr>
        <p:spPr>
          <a:xfrm>
            <a:off x="9214152" y="3981024"/>
            <a:ext cx="5985425" cy="279049"/>
          </a:xfrm>
          <a:prstGeom prst="rect">
            <a:avLst/>
          </a:prstGeom>
          <a:noFill/>
          <a:ln/>
        </p:spPr>
        <p:txBody>
          <a:bodyPr wrap="none" lIns="25400" tIns="25400" rIns="25400" bIns="25400" rtlCol="0" anchor="t">
            <a:noAutofit/>
          </a:bodyPr>
          <a:lstStyle/>
          <a:p>
            <a:pPr marL="0" indent="0" algn="l">
              <a:lnSpc>
                <a:spcPct val="93948"/>
              </a:lnSpc>
              <a:buNone/>
            </a:pPr>
            <a:r>
              <a:rPr lang="en-US" sz="1400" dirty="0">
                <a:solidFill>
                  <a:srgbClr val="1D2D3D"/>
                </a:solidFill>
                <a:latin typeface="Arial" pitchFamily="34" charset="0"/>
                <a:ea typeface="Arial" pitchFamily="34" charset="-122"/>
                <a:cs typeface="Arial" pitchFamily="34" charset="-120"/>
              </a:rPr>
              <a:t>SharePoint management</a:t>
            </a:r>
            <a:endParaRPr lang="en-US" sz="1400" dirty="0"/>
          </a:p>
        </p:txBody>
      </p:sp>
      <p:sp>
        <p:nvSpPr>
          <p:cNvPr id="99" name="Text 89">
            <a:extLst>
              <a:ext uri="{FF2B5EF4-FFF2-40B4-BE49-F238E27FC236}">
                <a16:creationId xmlns:a16="http://schemas.microsoft.com/office/drawing/2014/main" id="{5ED37B76-AB09-5887-9370-4471EED660EF}"/>
              </a:ext>
            </a:extLst>
          </p:cNvPr>
          <p:cNvSpPr/>
          <p:nvPr/>
        </p:nvSpPr>
        <p:spPr>
          <a:xfrm>
            <a:off x="9214153" y="4227283"/>
            <a:ext cx="5549508" cy="262802"/>
          </a:xfrm>
          <a:prstGeom prst="rect">
            <a:avLst/>
          </a:prstGeom>
          <a:noFill/>
          <a:ln/>
        </p:spPr>
        <p:txBody>
          <a:bodyPr wrap="none" lIns="25400" tIns="25400" rIns="25400" bIns="25400" rtlCol="0" anchor="t">
            <a:normAutofit/>
          </a:bodyPr>
          <a:lstStyle/>
          <a:p>
            <a:pPr marL="0" indent="0" algn="l">
              <a:lnSpc>
                <a:spcPct val="97981"/>
              </a:lnSpc>
              <a:buNone/>
            </a:pPr>
            <a:r>
              <a:rPr lang="en-US" sz="1200" dirty="0">
                <a:solidFill>
                  <a:srgbClr val="5D5D60"/>
                </a:solidFill>
                <a:latin typeface="Arial" pitchFamily="34" charset="0"/>
                <a:ea typeface="Arial" pitchFamily="34" charset="-122"/>
                <a:cs typeface="Arial" pitchFamily="34" charset="-120"/>
              </a:rPr>
              <a:t>Site &amp; library registry</a:t>
            </a:r>
            <a:endParaRPr lang="en-US" sz="1200" dirty="0"/>
          </a:p>
        </p:txBody>
      </p:sp>
      <p:sp>
        <p:nvSpPr>
          <p:cNvPr id="100" name="Shape 90">
            <a:extLst>
              <a:ext uri="{FF2B5EF4-FFF2-40B4-BE49-F238E27FC236}">
                <a16:creationId xmlns:a16="http://schemas.microsoft.com/office/drawing/2014/main" id="{BD2A0147-498E-8ACB-C395-A61F3D7013C5}"/>
              </a:ext>
            </a:extLst>
          </p:cNvPr>
          <p:cNvSpPr/>
          <p:nvPr/>
        </p:nvSpPr>
        <p:spPr>
          <a:xfrm>
            <a:off x="3827257" y="5418121"/>
            <a:ext cx="3047971" cy="1025750"/>
          </a:xfrm>
          <a:prstGeom prst="rect">
            <a:avLst/>
          </a:prstGeom>
          <a:solidFill>
            <a:srgbClr val="FFFFFF"/>
          </a:solidFill>
          <a:ln w="13043">
            <a:solidFill>
              <a:srgbClr val="416180"/>
            </a:solidFill>
            <a:prstDash val="solid"/>
          </a:ln>
        </p:spPr>
        <p:txBody>
          <a:bodyPr/>
          <a:lstStyle/>
          <a:p>
            <a:endParaRPr lang="en-US" sz="1600"/>
          </a:p>
        </p:txBody>
      </p:sp>
      <p:pic>
        <p:nvPicPr>
          <p:cNvPr id="101" name="Image 8" descr="preencoded.png">
            <a:extLst>
              <a:ext uri="{FF2B5EF4-FFF2-40B4-BE49-F238E27FC236}">
                <a16:creationId xmlns:a16="http://schemas.microsoft.com/office/drawing/2014/main" id="{0E21BDF4-F78B-3344-B172-15AC2FE2AF23}"/>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992668" y="5520900"/>
            <a:ext cx="180967" cy="180967"/>
          </a:xfrm>
          <a:prstGeom prst="rect">
            <a:avLst/>
          </a:prstGeom>
        </p:spPr>
      </p:pic>
      <p:sp>
        <p:nvSpPr>
          <p:cNvPr id="102" name="Text 91">
            <a:extLst>
              <a:ext uri="{FF2B5EF4-FFF2-40B4-BE49-F238E27FC236}">
                <a16:creationId xmlns:a16="http://schemas.microsoft.com/office/drawing/2014/main" id="{AA2938BA-06C6-3676-C178-B36A78ED0332}"/>
              </a:ext>
            </a:extLst>
          </p:cNvPr>
          <p:cNvSpPr/>
          <p:nvPr/>
        </p:nvSpPr>
        <p:spPr>
          <a:xfrm>
            <a:off x="4249784" y="5464722"/>
            <a:ext cx="1761307" cy="331424"/>
          </a:xfrm>
          <a:prstGeom prst="rect">
            <a:avLst/>
          </a:prstGeom>
          <a:noFill/>
          <a:ln/>
        </p:spPr>
        <p:txBody>
          <a:bodyPr wrap="none" lIns="25400" tIns="25400" rIns="25400" bIns="25400" rtlCol="0" anchor="t">
            <a:noAutofit/>
          </a:bodyPr>
          <a:lstStyle/>
          <a:p>
            <a:pPr marL="0" indent="0" algn="l">
              <a:lnSpc>
                <a:spcPct val="95041"/>
              </a:lnSpc>
              <a:buNone/>
            </a:pPr>
            <a:r>
              <a:rPr lang="en-US" b="1" dirty="0">
                <a:solidFill>
                  <a:srgbClr val="1D2D3D"/>
                </a:solidFill>
                <a:latin typeface="Arial" pitchFamily="34" charset="0"/>
                <a:ea typeface="Arial" pitchFamily="34" charset="-122"/>
                <a:cs typeface="Arial" pitchFamily="34" charset="-120"/>
              </a:rPr>
              <a:t>Ingestion Worker</a:t>
            </a:r>
            <a:endParaRPr lang="en-US" dirty="0"/>
          </a:p>
        </p:txBody>
      </p:sp>
      <p:sp>
        <p:nvSpPr>
          <p:cNvPr id="103" name="Text 92">
            <a:extLst>
              <a:ext uri="{FF2B5EF4-FFF2-40B4-BE49-F238E27FC236}">
                <a16:creationId xmlns:a16="http://schemas.microsoft.com/office/drawing/2014/main" id="{80FEEC90-8C4D-71CD-4BE8-9329ED0E4399}"/>
              </a:ext>
            </a:extLst>
          </p:cNvPr>
          <p:cNvSpPr/>
          <p:nvPr/>
        </p:nvSpPr>
        <p:spPr>
          <a:xfrm>
            <a:off x="3937248" y="5767556"/>
            <a:ext cx="2988864" cy="289578"/>
          </a:xfrm>
          <a:prstGeom prst="rect">
            <a:avLst/>
          </a:prstGeom>
          <a:noFill/>
          <a:ln/>
        </p:spPr>
        <p:txBody>
          <a:bodyPr wrap="square" lIns="25400" tIns="25400" rIns="25400" bIns="25400" rtlCol="0" anchor="t">
            <a:noAutofit/>
          </a:bodyPr>
          <a:lstStyle/>
          <a:p>
            <a:pPr marL="0" indent="0" algn="l">
              <a:lnSpc>
                <a:spcPct val="103285"/>
              </a:lnSpc>
              <a:buNone/>
            </a:pPr>
            <a:r>
              <a:rPr lang="en-US" sz="1600" dirty="0">
                <a:solidFill>
                  <a:srgbClr val="597EA3"/>
                </a:solidFill>
                <a:latin typeface="Arial" pitchFamily="34" charset="0"/>
                <a:ea typeface="Arial" pitchFamily="34" charset="-122"/>
                <a:cs typeface="Arial" pitchFamily="34" charset="-120"/>
              </a:rPr>
              <a:t>Azure Function</a:t>
            </a:r>
            <a:endParaRPr lang="en-US" sz="1600" dirty="0"/>
          </a:p>
        </p:txBody>
      </p:sp>
      <p:sp>
        <p:nvSpPr>
          <p:cNvPr id="104" name="Text 93">
            <a:extLst>
              <a:ext uri="{FF2B5EF4-FFF2-40B4-BE49-F238E27FC236}">
                <a16:creationId xmlns:a16="http://schemas.microsoft.com/office/drawing/2014/main" id="{FA3F6549-B2AE-65CC-287E-DB9B7057BDA0}"/>
              </a:ext>
            </a:extLst>
          </p:cNvPr>
          <p:cNvSpPr/>
          <p:nvPr/>
        </p:nvSpPr>
        <p:spPr>
          <a:xfrm>
            <a:off x="3937248" y="6028544"/>
            <a:ext cx="2988864" cy="289578"/>
          </a:xfrm>
          <a:prstGeom prst="rect">
            <a:avLst/>
          </a:prstGeom>
          <a:noFill/>
          <a:ln/>
        </p:spPr>
        <p:txBody>
          <a:bodyPr wrap="square" lIns="25400" tIns="25400" rIns="25400" bIns="25400" rtlCol="0" anchor="t">
            <a:noAutofit/>
          </a:bodyPr>
          <a:lstStyle/>
          <a:p>
            <a:pPr marL="0" indent="0" algn="l">
              <a:lnSpc>
                <a:spcPct val="103285"/>
              </a:lnSpc>
              <a:buNone/>
            </a:pPr>
            <a:r>
              <a:rPr lang="en-US" sz="1600" dirty="0">
                <a:solidFill>
                  <a:srgbClr val="5D5D60"/>
                </a:solidFill>
                <a:latin typeface="Arial" pitchFamily="34" charset="0"/>
                <a:ea typeface="Arial" pitchFamily="34" charset="-122"/>
                <a:cs typeface="Arial" pitchFamily="34" charset="-120"/>
              </a:rPr>
              <a:t>Policy documents · live uploads</a:t>
            </a:r>
            <a:endParaRPr lang="en-US" sz="1600" dirty="0"/>
          </a:p>
        </p:txBody>
      </p:sp>
      <p:sp>
        <p:nvSpPr>
          <p:cNvPr id="105" name="Shape 94">
            <a:extLst>
              <a:ext uri="{FF2B5EF4-FFF2-40B4-BE49-F238E27FC236}">
                <a16:creationId xmlns:a16="http://schemas.microsoft.com/office/drawing/2014/main" id="{111B7418-A1BC-0B13-168A-FB223B0CC7CF}"/>
              </a:ext>
            </a:extLst>
          </p:cNvPr>
          <p:cNvSpPr/>
          <p:nvPr/>
        </p:nvSpPr>
        <p:spPr>
          <a:xfrm>
            <a:off x="3827257" y="6634348"/>
            <a:ext cx="3047971" cy="1866864"/>
          </a:xfrm>
          <a:prstGeom prst="rect">
            <a:avLst/>
          </a:prstGeom>
          <a:solidFill>
            <a:schemeClr val="accent6">
              <a:lumMod val="20000"/>
              <a:lumOff val="80000"/>
            </a:schemeClr>
          </a:solidFill>
          <a:ln w="13043">
            <a:solidFill>
              <a:srgbClr val="416180"/>
            </a:solidFill>
            <a:prstDash val="solid"/>
          </a:ln>
        </p:spPr>
        <p:txBody>
          <a:bodyPr/>
          <a:lstStyle/>
          <a:p>
            <a:endParaRPr lang="en-US"/>
          </a:p>
        </p:txBody>
      </p:sp>
      <p:pic>
        <p:nvPicPr>
          <p:cNvPr id="106" name="Image 9" descr="preencoded.png">
            <a:extLst>
              <a:ext uri="{FF2B5EF4-FFF2-40B4-BE49-F238E27FC236}">
                <a16:creationId xmlns:a16="http://schemas.microsoft.com/office/drawing/2014/main" id="{02473FC6-1B67-0351-B3B7-01356D1E5B28}"/>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973647" y="6757506"/>
            <a:ext cx="180967" cy="180967"/>
          </a:xfrm>
          <a:prstGeom prst="rect">
            <a:avLst/>
          </a:prstGeom>
        </p:spPr>
      </p:pic>
      <p:sp>
        <p:nvSpPr>
          <p:cNvPr id="107" name="Text 95">
            <a:extLst>
              <a:ext uri="{FF2B5EF4-FFF2-40B4-BE49-F238E27FC236}">
                <a16:creationId xmlns:a16="http://schemas.microsoft.com/office/drawing/2014/main" id="{1CFF4ACA-B23B-6620-780D-5009353250DE}"/>
              </a:ext>
            </a:extLst>
          </p:cNvPr>
          <p:cNvSpPr/>
          <p:nvPr/>
        </p:nvSpPr>
        <p:spPr>
          <a:xfrm>
            <a:off x="4230764" y="6701328"/>
            <a:ext cx="2208090" cy="331424"/>
          </a:xfrm>
          <a:prstGeom prst="rect">
            <a:avLst/>
          </a:prstGeom>
          <a:noFill/>
          <a:ln/>
        </p:spPr>
        <p:txBody>
          <a:bodyPr wrap="none" lIns="25400" tIns="25400" rIns="25400" bIns="25400" rtlCol="0" anchor="t">
            <a:noAutofit/>
          </a:bodyPr>
          <a:lstStyle/>
          <a:p>
            <a:pPr marL="0" indent="0" algn="l">
              <a:lnSpc>
                <a:spcPct val="95041"/>
              </a:lnSpc>
              <a:buNone/>
            </a:pPr>
            <a:r>
              <a:rPr lang="en-US" b="1" dirty="0">
                <a:solidFill>
                  <a:srgbClr val="1D2D3D"/>
                </a:solidFill>
                <a:latin typeface="Arial" pitchFamily="34" charset="0"/>
                <a:ea typeface="Arial" pitchFamily="34" charset="-122"/>
                <a:cs typeface="Arial" pitchFamily="34" charset="-120"/>
              </a:rPr>
              <a:t>Azure Blob Storage</a:t>
            </a:r>
            <a:endParaRPr lang="en-US" dirty="0"/>
          </a:p>
        </p:txBody>
      </p:sp>
      <p:sp>
        <p:nvSpPr>
          <p:cNvPr id="108" name="Shape 96">
            <a:extLst>
              <a:ext uri="{FF2B5EF4-FFF2-40B4-BE49-F238E27FC236}">
                <a16:creationId xmlns:a16="http://schemas.microsoft.com/office/drawing/2014/main" id="{6E206AE1-8FA7-ECA9-92D1-89FECD67D0C1}"/>
              </a:ext>
            </a:extLst>
          </p:cNvPr>
          <p:cNvSpPr/>
          <p:nvPr/>
        </p:nvSpPr>
        <p:spPr>
          <a:xfrm>
            <a:off x="3973647" y="7070801"/>
            <a:ext cx="2755190" cy="298011"/>
          </a:xfrm>
          <a:prstGeom prst="rect">
            <a:avLst/>
          </a:prstGeom>
          <a:solidFill>
            <a:srgbClr val="E7E7EA"/>
          </a:solidFill>
          <a:ln>
            <a:solidFill>
              <a:schemeClr val="accent6">
                <a:lumMod val="50000"/>
              </a:schemeClr>
            </a:solidFill>
          </a:ln>
        </p:spPr>
        <p:txBody>
          <a:bodyPr/>
          <a:lstStyle/>
          <a:p>
            <a:endParaRPr lang="en-US" sz="1400"/>
          </a:p>
        </p:txBody>
      </p:sp>
      <p:sp>
        <p:nvSpPr>
          <p:cNvPr id="109" name="Text 97">
            <a:extLst>
              <a:ext uri="{FF2B5EF4-FFF2-40B4-BE49-F238E27FC236}">
                <a16:creationId xmlns:a16="http://schemas.microsoft.com/office/drawing/2014/main" id="{5BB1CF26-A90B-BDC6-706C-DA2C14099150}"/>
              </a:ext>
            </a:extLst>
          </p:cNvPr>
          <p:cNvSpPr/>
          <p:nvPr/>
        </p:nvSpPr>
        <p:spPr>
          <a:xfrm>
            <a:off x="4013478" y="7069830"/>
            <a:ext cx="2715360" cy="308508"/>
          </a:xfrm>
          <a:prstGeom prst="rect">
            <a:avLst/>
          </a:prstGeom>
          <a:noFill/>
          <a:ln>
            <a:noFill/>
          </a:ln>
        </p:spPr>
        <p:txBody>
          <a:bodyPr wrap="square" lIns="25400" tIns="25400" rIns="25400" bIns="25400" rtlCol="0" anchor="t">
            <a:noAutofit/>
          </a:bodyPr>
          <a:lstStyle/>
          <a:p>
            <a:pPr marL="0" indent="0" algn="l">
              <a:lnSpc>
                <a:spcPct val="98981"/>
              </a:lnSpc>
              <a:buNone/>
            </a:pPr>
            <a:r>
              <a:rPr lang="en-US" sz="1400" dirty="0">
                <a:solidFill>
                  <a:srgbClr val="424244"/>
                </a:solidFill>
                <a:latin typeface="Arial" pitchFamily="34" charset="0"/>
                <a:ea typeface="Arial" pitchFamily="34" charset="-122"/>
                <a:cs typeface="Arial" pitchFamily="34" charset="-120"/>
              </a:rPr>
              <a:t>Enterprise shared corpus</a:t>
            </a:r>
            <a:endParaRPr lang="en-US" sz="1400" dirty="0"/>
          </a:p>
        </p:txBody>
      </p:sp>
      <p:sp>
        <p:nvSpPr>
          <p:cNvPr id="110" name="Shape 98">
            <a:extLst>
              <a:ext uri="{FF2B5EF4-FFF2-40B4-BE49-F238E27FC236}">
                <a16:creationId xmlns:a16="http://schemas.microsoft.com/office/drawing/2014/main" id="{101AE2A6-1258-1A68-27E3-5C3277C83171}"/>
              </a:ext>
            </a:extLst>
          </p:cNvPr>
          <p:cNvSpPr/>
          <p:nvPr/>
        </p:nvSpPr>
        <p:spPr>
          <a:xfrm>
            <a:off x="3973647" y="7444962"/>
            <a:ext cx="2755190" cy="298011"/>
          </a:xfrm>
          <a:prstGeom prst="rect">
            <a:avLst/>
          </a:prstGeom>
          <a:solidFill>
            <a:srgbClr val="E7E7EA"/>
          </a:solidFill>
          <a:ln>
            <a:solidFill>
              <a:schemeClr val="accent6">
                <a:lumMod val="50000"/>
              </a:schemeClr>
            </a:solidFill>
          </a:ln>
        </p:spPr>
        <p:txBody>
          <a:bodyPr/>
          <a:lstStyle/>
          <a:p>
            <a:endParaRPr lang="en-US" sz="1400"/>
          </a:p>
        </p:txBody>
      </p:sp>
      <p:sp>
        <p:nvSpPr>
          <p:cNvPr id="111" name="Text 99">
            <a:extLst>
              <a:ext uri="{FF2B5EF4-FFF2-40B4-BE49-F238E27FC236}">
                <a16:creationId xmlns:a16="http://schemas.microsoft.com/office/drawing/2014/main" id="{158ACE71-6406-D5A0-92F8-B080A4EC30FC}"/>
              </a:ext>
            </a:extLst>
          </p:cNvPr>
          <p:cNvSpPr/>
          <p:nvPr/>
        </p:nvSpPr>
        <p:spPr>
          <a:xfrm>
            <a:off x="4013478" y="7453907"/>
            <a:ext cx="2715360" cy="298591"/>
          </a:xfrm>
          <a:prstGeom prst="rect">
            <a:avLst/>
          </a:prstGeom>
          <a:noFill/>
          <a:ln>
            <a:noFill/>
          </a:ln>
        </p:spPr>
        <p:txBody>
          <a:bodyPr wrap="square" lIns="25400" tIns="25400" rIns="25400" bIns="25400" rtlCol="0" anchor="t">
            <a:noAutofit/>
          </a:bodyPr>
          <a:lstStyle/>
          <a:p>
            <a:pPr marL="0" indent="0" algn="l">
              <a:lnSpc>
                <a:spcPct val="98981"/>
              </a:lnSpc>
              <a:buNone/>
            </a:pPr>
            <a:r>
              <a:rPr lang="en-US" sz="1400" dirty="0">
                <a:solidFill>
                  <a:srgbClr val="424244"/>
                </a:solidFill>
                <a:latin typeface="Arial" pitchFamily="34" charset="0"/>
                <a:ea typeface="Arial" pitchFamily="34" charset="-122"/>
                <a:cs typeface="Arial" pitchFamily="34" charset="-120"/>
              </a:rPr>
              <a:t>Team documents</a:t>
            </a:r>
            <a:endParaRPr lang="en-US" sz="1400" dirty="0"/>
          </a:p>
        </p:txBody>
      </p:sp>
      <p:sp>
        <p:nvSpPr>
          <p:cNvPr id="112" name="Shape 100">
            <a:extLst>
              <a:ext uri="{FF2B5EF4-FFF2-40B4-BE49-F238E27FC236}">
                <a16:creationId xmlns:a16="http://schemas.microsoft.com/office/drawing/2014/main" id="{0008DAC3-3482-0F0C-2B81-5F35753A099D}"/>
              </a:ext>
            </a:extLst>
          </p:cNvPr>
          <p:cNvSpPr/>
          <p:nvPr/>
        </p:nvSpPr>
        <p:spPr>
          <a:xfrm>
            <a:off x="3973647" y="7819123"/>
            <a:ext cx="2755190" cy="298011"/>
          </a:xfrm>
          <a:prstGeom prst="rect">
            <a:avLst/>
          </a:prstGeom>
          <a:solidFill>
            <a:srgbClr val="E7E7EA"/>
          </a:solidFill>
          <a:ln>
            <a:solidFill>
              <a:schemeClr val="accent6">
                <a:lumMod val="50000"/>
              </a:schemeClr>
            </a:solidFill>
          </a:ln>
        </p:spPr>
        <p:txBody>
          <a:bodyPr/>
          <a:lstStyle/>
          <a:p>
            <a:endParaRPr lang="en-US" sz="1400"/>
          </a:p>
        </p:txBody>
      </p:sp>
      <p:sp>
        <p:nvSpPr>
          <p:cNvPr id="113" name="Text 101">
            <a:extLst>
              <a:ext uri="{FF2B5EF4-FFF2-40B4-BE49-F238E27FC236}">
                <a16:creationId xmlns:a16="http://schemas.microsoft.com/office/drawing/2014/main" id="{683F21CA-3084-21DC-C074-F1E3F4D77B63}"/>
              </a:ext>
            </a:extLst>
          </p:cNvPr>
          <p:cNvSpPr/>
          <p:nvPr/>
        </p:nvSpPr>
        <p:spPr>
          <a:xfrm>
            <a:off x="4013478" y="7828068"/>
            <a:ext cx="2715360" cy="298592"/>
          </a:xfrm>
          <a:prstGeom prst="rect">
            <a:avLst/>
          </a:prstGeom>
          <a:noFill/>
          <a:ln>
            <a:noFill/>
          </a:ln>
        </p:spPr>
        <p:txBody>
          <a:bodyPr wrap="square" lIns="25400" tIns="25400" rIns="25400" bIns="25400" rtlCol="0" anchor="t">
            <a:noAutofit/>
          </a:bodyPr>
          <a:lstStyle/>
          <a:p>
            <a:pPr marL="0" indent="0" algn="l">
              <a:lnSpc>
                <a:spcPct val="98981"/>
              </a:lnSpc>
              <a:buNone/>
            </a:pPr>
            <a:r>
              <a:rPr lang="en-US" sz="1400" dirty="0">
                <a:solidFill>
                  <a:srgbClr val="424244"/>
                </a:solidFill>
                <a:latin typeface="Arial" pitchFamily="34" charset="0"/>
                <a:ea typeface="Arial" pitchFamily="34" charset="-122"/>
                <a:cs typeface="Arial" pitchFamily="34" charset="-120"/>
              </a:rPr>
              <a:t>Personal documents</a:t>
            </a:r>
            <a:endParaRPr lang="en-US" sz="1400" dirty="0"/>
          </a:p>
        </p:txBody>
      </p:sp>
      <p:sp>
        <p:nvSpPr>
          <p:cNvPr id="115" name="Shape 103">
            <a:extLst>
              <a:ext uri="{FF2B5EF4-FFF2-40B4-BE49-F238E27FC236}">
                <a16:creationId xmlns:a16="http://schemas.microsoft.com/office/drawing/2014/main" id="{C3C1A74C-A54B-FD58-EB67-AE914668B23C}"/>
              </a:ext>
            </a:extLst>
          </p:cNvPr>
          <p:cNvSpPr/>
          <p:nvPr/>
        </p:nvSpPr>
        <p:spPr>
          <a:xfrm>
            <a:off x="7296136" y="5788130"/>
            <a:ext cx="7467592" cy="769931"/>
          </a:xfrm>
          <a:prstGeom prst="rect">
            <a:avLst/>
          </a:prstGeom>
          <a:solidFill>
            <a:srgbClr val="FFFFFF"/>
          </a:solidFill>
          <a:ln w="13043">
            <a:solidFill>
              <a:srgbClr val="416180"/>
            </a:solidFill>
            <a:prstDash val="solid"/>
          </a:ln>
        </p:spPr>
        <p:txBody>
          <a:bodyPr/>
          <a:lstStyle/>
          <a:p>
            <a:endParaRPr lang="en-US" sz="1600"/>
          </a:p>
        </p:txBody>
      </p:sp>
      <p:pic>
        <p:nvPicPr>
          <p:cNvPr id="116" name="Image 10" descr="preencoded.png">
            <a:extLst>
              <a:ext uri="{FF2B5EF4-FFF2-40B4-BE49-F238E27FC236}">
                <a16:creationId xmlns:a16="http://schemas.microsoft.com/office/drawing/2014/main" id="{11056857-75CE-812C-29FB-E2A4D56E89CD}"/>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480567" y="5913368"/>
            <a:ext cx="190477" cy="190477"/>
          </a:xfrm>
          <a:prstGeom prst="rect">
            <a:avLst/>
          </a:prstGeom>
        </p:spPr>
      </p:pic>
      <p:sp>
        <p:nvSpPr>
          <p:cNvPr id="117" name="Text 104">
            <a:extLst>
              <a:ext uri="{FF2B5EF4-FFF2-40B4-BE49-F238E27FC236}">
                <a16:creationId xmlns:a16="http://schemas.microsoft.com/office/drawing/2014/main" id="{FEEA08DB-0A85-B50E-2205-318CD6F93F80}"/>
              </a:ext>
            </a:extLst>
          </p:cNvPr>
          <p:cNvSpPr/>
          <p:nvPr/>
        </p:nvSpPr>
        <p:spPr>
          <a:xfrm>
            <a:off x="7747194" y="5861875"/>
            <a:ext cx="2137241" cy="352414"/>
          </a:xfrm>
          <a:prstGeom prst="rect">
            <a:avLst/>
          </a:prstGeom>
          <a:noFill/>
          <a:ln/>
        </p:spPr>
        <p:txBody>
          <a:bodyPr wrap="none" lIns="25400" tIns="25400" rIns="25400" bIns="25400" rtlCol="0" anchor="t">
            <a:normAutofit/>
          </a:bodyPr>
          <a:lstStyle/>
          <a:p>
            <a:pPr marL="0" indent="0" algn="l">
              <a:lnSpc>
                <a:spcPct val="96399"/>
              </a:lnSpc>
              <a:buNone/>
            </a:pPr>
            <a:r>
              <a:rPr lang="en-US" b="1" dirty="0">
                <a:solidFill>
                  <a:srgbClr val="1D2D3D"/>
                </a:solidFill>
                <a:latin typeface="Arial" pitchFamily="34" charset="0"/>
                <a:ea typeface="Arial" pitchFamily="34" charset="-122"/>
                <a:cs typeface="Arial" pitchFamily="34" charset="-120"/>
              </a:rPr>
              <a:t>Model Deployments</a:t>
            </a:r>
            <a:endParaRPr lang="en-US" dirty="0"/>
          </a:p>
        </p:txBody>
      </p:sp>
      <p:sp>
        <p:nvSpPr>
          <p:cNvPr id="118" name="Text 105">
            <a:extLst>
              <a:ext uri="{FF2B5EF4-FFF2-40B4-BE49-F238E27FC236}">
                <a16:creationId xmlns:a16="http://schemas.microsoft.com/office/drawing/2014/main" id="{53975A19-09C7-F391-5D93-D6349F1F08B6}"/>
              </a:ext>
            </a:extLst>
          </p:cNvPr>
          <p:cNvSpPr/>
          <p:nvPr/>
        </p:nvSpPr>
        <p:spPr>
          <a:xfrm>
            <a:off x="7480567" y="6195209"/>
            <a:ext cx="7165875" cy="289612"/>
          </a:xfrm>
          <a:prstGeom prst="rect">
            <a:avLst/>
          </a:prstGeom>
          <a:noFill/>
          <a:ln/>
        </p:spPr>
        <p:txBody>
          <a:bodyPr wrap="square" lIns="25400" tIns="25400" rIns="25400" bIns="25400" rtlCol="0" anchor="t">
            <a:noAutofit/>
          </a:bodyPr>
          <a:lstStyle/>
          <a:p>
            <a:pPr marL="0" indent="0" algn="l">
              <a:lnSpc>
                <a:spcPct val="98981"/>
              </a:lnSpc>
              <a:buNone/>
            </a:pPr>
            <a:r>
              <a:rPr lang="en-US" sz="1600" dirty="0">
                <a:solidFill>
                  <a:srgbClr val="5D5D60"/>
                </a:solidFill>
                <a:latin typeface="Arial" pitchFamily="34" charset="0"/>
                <a:ea typeface="Arial" pitchFamily="34" charset="-122"/>
                <a:cs typeface="Arial" pitchFamily="34" charset="-120"/>
              </a:rPr>
              <a:t>GPT 5.4· embeddings</a:t>
            </a:r>
            <a:endParaRPr lang="en-US" sz="1600" dirty="0"/>
          </a:p>
        </p:txBody>
      </p:sp>
      <p:sp>
        <p:nvSpPr>
          <p:cNvPr id="119" name="Shape 106">
            <a:extLst>
              <a:ext uri="{FF2B5EF4-FFF2-40B4-BE49-F238E27FC236}">
                <a16:creationId xmlns:a16="http://schemas.microsoft.com/office/drawing/2014/main" id="{ACC23EBA-C50B-3B56-B6DA-86EEBB800CB6}"/>
              </a:ext>
            </a:extLst>
          </p:cNvPr>
          <p:cNvSpPr/>
          <p:nvPr/>
        </p:nvSpPr>
        <p:spPr>
          <a:xfrm>
            <a:off x="7296136" y="6735280"/>
            <a:ext cx="3467042" cy="734396"/>
          </a:xfrm>
          <a:prstGeom prst="rect">
            <a:avLst/>
          </a:prstGeom>
          <a:solidFill>
            <a:srgbClr val="FFFFFF"/>
          </a:solidFill>
          <a:ln w="13043">
            <a:solidFill>
              <a:srgbClr val="416180"/>
            </a:solidFill>
            <a:prstDash val="solid"/>
          </a:ln>
        </p:spPr>
        <p:txBody>
          <a:bodyPr/>
          <a:lstStyle/>
          <a:p>
            <a:endParaRPr lang="en-US" sz="1600"/>
          </a:p>
        </p:txBody>
      </p:sp>
      <p:pic>
        <p:nvPicPr>
          <p:cNvPr id="120" name="Image 11" descr="preencoded.png">
            <a:extLst>
              <a:ext uri="{FF2B5EF4-FFF2-40B4-BE49-F238E27FC236}">
                <a16:creationId xmlns:a16="http://schemas.microsoft.com/office/drawing/2014/main" id="{CCE2F0CF-A361-0121-A9EB-88B59E8132E6}"/>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7442526" y="6938664"/>
            <a:ext cx="180967" cy="180967"/>
          </a:xfrm>
          <a:prstGeom prst="rect">
            <a:avLst/>
          </a:prstGeom>
        </p:spPr>
      </p:pic>
      <p:sp>
        <p:nvSpPr>
          <p:cNvPr id="121" name="Text 107">
            <a:extLst>
              <a:ext uri="{FF2B5EF4-FFF2-40B4-BE49-F238E27FC236}">
                <a16:creationId xmlns:a16="http://schemas.microsoft.com/office/drawing/2014/main" id="{1CBAFDB3-8879-4CBD-1279-DEFF5EE58CC9}"/>
              </a:ext>
            </a:extLst>
          </p:cNvPr>
          <p:cNvSpPr/>
          <p:nvPr/>
        </p:nvSpPr>
        <p:spPr>
          <a:xfrm>
            <a:off x="7699643" y="6892947"/>
            <a:ext cx="721607" cy="310501"/>
          </a:xfrm>
          <a:prstGeom prst="rect">
            <a:avLst/>
          </a:prstGeom>
          <a:noFill/>
          <a:ln/>
        </p:spPr>
        <p:txBody>
          <a:bodyPr wrap="none" lIns="25400" tIns="25400" rIns="25400" bIns="25400" rtlCol="0" anchor="t">
            <a:noAutofit/>
          </a:bodyPr>
          <a:lstStyle/>
          <a:p>
            <a:pPr marL="0" indent="0" algn="l">
              <a:lnSpc>
                <a:spcPct val="94939"/>
              </a:lnSpc>
              <a:buNone/>
            </a:pPr>
            <a:r>
              <a:rPr lang="en-US" sz="1600" dirty="0">
                <a:solidFill>
                  <a:srgbClr val="1D2D3D"/>
                </a:solidFill>
                <a:latin typeface="Arial" pitchFamily="34" charset="0"/>
                <a:ea typeface="Arial" pitchFamily="34" charset="-122"/>
                <a:cs typeface="Arial" pitchFamily="34" charset="-120"/>
              </a:rPr>
              <a:t>Indexer</a:t>
            </a:r>
            <a:endParaRPr lang="en-US" sz="1600" dirty="0"/>
          </a:p>
        </p:txBody>
      </p:sp>
      <p:sp>
        <p:nvSpPr>
          <p:cNvPr id="122" name="Text 108">
            <a:extLst>
              <a:ext uri="{FF2B5EF4-FFF2-40B4-BE49-F238E27FC236}">
                <a16:creationId xmlns:a16="http://schemas.microsoft.com/office/drawing/2014/main" id="{A61D3CFA-998E-B847-CF15-DD66729AA1EC}"/>
              </a:ext>
            </a:extLst>
          </p:cNvPr>
          <p:cNvSpPr/>
          <p:nvPr/>
        </p:nvSpPr>
        <p:spPr>
          <a:xfrm>
            <a:off x="7442526" y="7174858"/>
            <a:ext cx="3680280" cy="279049"/>
          </a:xfrm>
          <a:prstGeom prst="rect">
            <a:avLst/>
          </a:prstGeom>
          <a:noFill/>
          <a:ln/>
        </p:spPr>
        <p:txBody>
          <a:bodyPr wrap="square" lIns="25400" tIns="25400" rIns="25400" bIns="25400" rtlCol="0" anchor="t">
            <a:noAutofit/>
          </a:bodyPr>
          <a:lstStyle/>
          <a:p>
            <a:pPr marL="0" indent="0" algn="l">
              <a:lnSpc>
                <a:spcPct val="98981"/>
              </a:lnSpc>
              <a:buNone/>
            </a:pPr>
            <a:r>
              <a:rPr lang="en-US" sz="1400" dirty="0">
                <a:solidFill>
                  <a:srgbClr val="5D5D60"/>
                </a:solidFill>
                <a:latin typeface="Arial" pitchFamily="34" charset="0"/>
                <a:ea typeface="Arial" pitchFamily="34" charset="-122"/>
                <a:cs typeface="Arial" pitchFamily="34" charset="-120"/>
              </a:rPr>
              <a:t>Crawls Blob, runs enrichment</a:t>
            </a:r>
            <a:endParaRPr lang="en-US" sz="1400" dirty="0"/>
          </a:p>
        </p:txBody>
      </p:sp>
      <p:sp>
        <p:nvSpPr>
          <p:cNvPr id="123" name="Shape 109">
            <a:extLst>
              <a:ext uri="{FF2B5EF4-FFF2-40B4-BE49-F238E27FC236}">
                <a16:creationId xmlns:a16="http://schemas.microsoft.com/office/drawing/2014/main" id="{DE44781C-7192-900E-BCCB-43944518B1CD}"/>
              </a:ext>
            </a:extLst>
          </p:cNvPr>
          <p:cNvSpPr/>
          <p:nvPr/>
        </p:nvSpPr>
        <p:spPr>
          <a:xfrm>
            <a:off x="11125171" y="6735280"/>
            <a:ext cx="3638490" cy="734396"/>
          </a:xfrm>
          <a:prstGeom prst="rect">
            <a:avLst/>
          </a:prstGeom>
          <a:solidFill>
            <a:srgbClr val="FFFFFF"/>
          </a:solidFill>
          <a:ln w="13043">
            <a:solidFill>
              <a:srgbClr val="416180"/>
            </a:solidFill>
            <a:prstDash val="solid"/>
          </a:ln>
        </p:spPr>
        <p:txBody>
          <a:bodyPr/>
          <a:lstStyle/>
          <a:p>
            <a:endParaRPr lang="en-US" sz="1600"/>
          </a:p>
        </p:txBody>
      </p:sp>
      <p:pic>
        <p:nvPicPr>
          <p:cNvPr id="124" name="Image 12" descr="preencoded.png">
            <a:extLst>
              <a:ext uri="{FF2B5EF4-FFF2-40B4-BE49-F238E27FC236}">
                <a16:creationId xmlns:a16="http://schemas.microsoft.com/office/drawing/2014/main" id="{CA505B7C-33D8-2857-FD9C-044D3263E78B}"/>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1271561" y="6938664"/>
            <a:ext cx="180967" cy="180967"/>
          </a:xfrm>
          <a:prstGeom prst="rect">
            <a:avLst/>
          </a:prstGeom>
        </p:spPr>
      </p:pic>
      <p:sp>
        <p:nvSpPr>
          <p:cNvPr id="125" name="Text 110">
            <a:extLst>
              <a:ext uri="{FF2B5EF4-FFF2-40B4-BE49-F238E27FC236}">
                <a16:creationId xmlns:a16="http://schemas.microsoft.com/office/drawing/2014/main" id="{991BFD1F-7C1C-FA70-1815-A237DDAC75E0}"/>
              </a:ext>
            </a:extLst>
          </p:cNvPr>
          <p:cNvSpPr/>
          <p:nvPr/>
        </p:nvSpPr>
        <p:spPr>
          <a:xfrm>
            <a:off x="11528678" y="6892947"/>
            <a:ext cx="699258" cy="310501"/>
          </a:xfrm>
          <a:prstGeom prst="rect">
            <a:avLst/>
          </a:prstGeom>
          <a:noFill/>
          <a:ln/>
        </p:spPr>
        <p:txBody>
          <a:bodyPr wrap="none" lIns="25400" tIns="25400" rIns="25400" bIns="25400" rtlCol="0" anchor="t">
            <a:noAutofit/>
          </a:bodyPr>
          <a:lstStyle/>
          <a:p>
            <a:pPr marL="0" indent="0" algn="l">
              <a:lnSpc>
                <a:spcPct val="94939"/>
              </a:lnSpc>
              <a:buNone/>
            </a:pPr>
            <a:r>
              <a:rPr lang="en-US" sz="1600" dirty="0">
                <a:solidFill>
                  <a:srgbClr val="1D2D3D"/>
                </a:solidFill>
                <a:latin typeface="Arial" pitchFamily="34" charset="0"/>
                <a:ea typeface="Arial" pitchFamily="34" charset="-122"/>
                <a:cs typeface="Arial" pitchFamily="34" charset="-120"/>
              </a:rPr>
              <a:t>Skillset</a:t>
            </a:r>
            <a:endParaRPr lang="en-US" sz="1600" dirty="0"/>
          </a:p>
        </p:txBody>
      </p:sp>
      <p:sp>
        <p:nvSpPr>
          <p:cNvPr id="126" name="Text 111">
            <a:extLst>
              <a:ext uri="{FF2B5EF4-FFF2-40B4-BE49-F238E27FC236}">
                <a16:creationId xmlns:a16="http://schemas.microsoft.com/office/drawing/2014/main" id="{A91F134D-3C71-286B-1E4E-63697E017921}"/>
              </a:ext>
            </a:extLst>
          </p:cNvPr>
          <p:cNvSpPr/>
          <p:nvPr/>
        </p:nvSpPr>
        <p:spPr>
          <a:xfrm>
            <a:off x="11271561" y="7174858"/>
            <a:ext cx="3680280" cy="279049"/>
          </a:xfrm>
          <a:prstGeom prst="rect">
            <a:avLst/>
          </a:prstGeom>
          <a:noFill/>
          <a:ln/>
        </p:spPr>
        <p:txBody>
          <a:bodyPr wrap="square" lIns="25400" tIns="25400" rIns="25400" bIns="25400" rtlCol="0" anchor="t">
            <a:noAutofit/>
          </a:bodyPr>
          <a:lstStyle/>
          <a:p>
            <a:pPr marL="0" indent="0" algn="l">
              <a:lnSpc>
                <a:spcPct val="98981"/>
              </a:lnSpc>
              <a:buNone/>
            </a:pPr>
            <a:r>
              <a:rPr lang="en-US" sz="1400" dirty="0">
                <a:solidFill>
                  <a:srgbClr val="5D5D60"/>
                </a:solidFill>
                <a:latin typeface="Arial" pitchFamily="34" charset="0"/>
                <a:ea typeface="Arial" pitchFamily="34" charset="-122"/>
                <a:cs typeface="Arial" pitchFamily="34" charset="-120"/>
              </a:rPr>
              <a:t>OCR · chunking · embedding</a:t>
            </a:r>
            <a:endParaRPr lang="en-US" sz="1400" dirty="0"/>
          </a:p>
        </p:txBody>
      </p:sp>
      <p:sp>
        <p:nvSpPr>
          <p:cNvPr id="127" name="Shape 112">
            <a:extLst>
              <a:ext uri="{FF2B5EF4-FFF2-40B4-BE49-F238E27FC236}">
                <a16:creationId xmlns:a16="http://schemas.microsoft.com/office/drawing/2014/main" id="{1688EDEC-7074-26C4-CCDE-C249C87877F4}"/>
              </a:ext>
            </a:extLst>
          </p:cNvPr>
          <p:cNvSpPr/>
          <p:nvPr/>
        </p:nvSpPr>
        <p:spPr>
          <a:xfrm>
            <a:off x="7296136" y="7785292"/>
            <a:ext cx="2362145" cy="696900"/>
          </a:xfrm>
          <a:prstGeom prst="rect">
            <a:avLst/>
          </a:prstGeom>
          <a:solidFill>
            <a:srgbClr val="FFFFFF"/>
          </a:solidFill>
          <a:ln w="13043">
            <a:solidFill>
              <a:srgbClr val="416180"/>
            </a:solidFill>
            <a:prstDash val="solid"/>
          </a:ln>
        </p:spPr>
        <p:txBody>
          <a:bodyPr/>
          <a:lstStyle/>
          <a:p>
            <a:endParaRPr lang="en-US"/>
          </a:p>
        </p:txBody>
      </p:sp>
      <p:sp>
        <p:nvSpPr>
          <p:cNvPr id="128" name="Text 113">
            <a:extLst>
              <a:ext uri="{FF2B5EF4-FFF2-40B4-BE49-F238E27FC236}">
                <a16:creationId xmlns:a16="http://schemas.microsoft.com/office/drawing/2014/main" id="{E7F8429E-7F37-FEF0-8981-543A30B981FF}"/>
              </a:ext>
            </a:extLst>
          </p:cNvPr>
          <p:cNvSpPr/>
          <p:nvPr/>
        </p:nvSpPr>
        <p:spPr>
          <a:xfrm>
            <a:off x="7423438" y="7836921"/>
            <a:ext cx="2318296" cy="278098"/>
          </a:xfrm>
          <a:prstGeom prst="rect">
            <a:avLst/>
          </a:prstGeom>
          <a:noFill/>
          <a:ln/>
        </p:spPr>
        <p:txBody>
          <a:bodyPr wrap="square" lIns="25400" tIns="25400" rIns="25400" bIns="25400" rtlCol="0" anchor="t">
            <a:normAutofit/>
          </a:bodyPr>
          <a:lstStyle/>
          <a:p>
            <a:pPr marL="0" indent="0" algn="l">
              <a:lnSpc>
                <a:spcPct val="90509"/>
              </a:lnSpc>
              <a:buNone/>
            </a:pPr>
            <a:r>
              <a:rPr lang="en-US" sz="1400" dirty="0">
                <a:solidFill>
                  <a:srgbClr val="1D2D3D"/>
                </a:solidFill>
                <a:latin typeface="Arial" pitchFamily="34" charset="0"/>
                <a:ea typeface="Arial" pitchFamily="34" charset="-122"/>
                <a:cs typeface="Arial" pitchFamily="34" charset="-120"/>
              </a:rPr>
              <a:t>Knowledge Store</a:t>
            </a:r>
            <a:endParaRPr lang="en-US" sz="1400" dirty="0"/>
          </a:p>
        </p:txBody>
      </p:sp>
      <p:sp>
        <p:nvSpPr>
          <p:cNvPr id="129" name="Text 114">
            <a:extLst>
              <a:ext uri="{FF2B5EF4-FFF2-40B4-BE49-F238E27FC236}">
                <a16:creationId xmlns:a16="http://schemas.microsoft.com/office/drawing/2014/main" id="{B9D4DCBA-F59E-F1D8-C7E6-7E30811BB4B1}"/>
              </a:ext>
            </a:extLst>
          </p:cNvPr>
          <p:cNvSpPr/>
          <p:nvPr/>
        </p:nvSpPr>
        <p:spPr>
          <a:xfrm>
            <a:off x="7423438" y="8086429"/>
            <a:ext cx="2318296" cy="279049"/>
          </a:xfrm>
          <a:prstGeom prst="rect">
            <a:avLst/>
          </a:prstGeom>
          <a:noFill/>
          <a:ln/>
        </p:spPr>
        <p:txBody>
          <a:bodyPr wrap="square" lIns="25400" tIns="25400" rIns="25400" bIns="25400" rtlCol="0" anchor="t">
            <a:noAutofit/>
          </a:bodyPr>
          <a:lstStyle/>
          <a:p>
            <a:pPr marL="0" indent="0" algn="l">
              <a:lnSpc>
                <a:spcPct val="98981"/>
              </a:lnSpc>
              <a:buNone/>
            </a:pPr>
            <a:r>
              <a:rPr lang="en-US" sz="1400" dirty="0">
                <a:solidFill>
                  <a:srgbClr val="5D5D60"/>
                </a:solidFill>
                <a:latin typeface="Arial" pitchFamily="34" charset="0"/>
                <a:ea typeface="Arial" pitchFamily="34" charset="-122"/>
                <a:cs typeface="Arial" pitchFamily="34" charset="-120"/>
              </a:rPr>
              <a:t>RAW file contents as JSON</a:t>
            </a:r>
            <a:endParaRPr lang="en-US" sz="1400" dirty="0"/>
          </a:p>
        </p:txBody>
      </p:sp>
      <p:sp>
        <p:nvSpPr>
          <p:cNvPr id="130" name="Shape 115">
            <a:extLst>
              <a:ext uri="{FF2B5EF4-FFF2-40B4-BE49-F238E27FC236}">
                <a16:creationId xmlns:a16="http://schemas.microsoft.com/office/drawing/2014/main" id="{0E6A9116-7EC1-8ECD-1C50-BAC20CF689F2}"/>
              </a:ext>
            </a:extLst>
          </p:cNvPr>
          <p:cNvSpPr/>
          <p:nvPr/>
        </p:nvSpPr>
        <p:spPr>
          <a:xfrm>
            <a:off x="9848826" y="7785292"/>
            <a:ext cx="2362145" cy="696900"/>
          </a:xfrm>
          <a:prstGeom prst="rect">
            <a:avLst/>
          </a:prstGeom>
          <a:solidFill>
            <a:srgbClr val="FFFFFF"/>
          </a:solidFill>
          <a:ln w="13043">
            <a:solidFill>
              <a:srgbClr val="416180"/>
            </a:solidFill>
            <a:prstDash val="solid"/>
          </a:ln>
        </p:spPr>
        <p:txBody>
          <a:bodyPr/>
          <a:lstStyle/>
          <a:p>
            <a:endParaRPr lang="en-US"/>
          </a:p>
        </p:txBody>
      </p:sp>
      <p:sp>
        <p:nvSpPr>
          <p:cNvPr id="131" name="Text 116">
            <a:extLst>
              <a:ext uri="{FF2B5EF4-FFF2-40B4-BE49-F238E27FC236}">
                <a16:creationId xmlns:a16="http://schemas.microsoft.com/office/drawing/2014/main" id="{4C1B90C8-C521-A6BC-6574-94F2A0CEB74C}"/>
              </a:ext>
            </a:extLst>
          </p:cNvPr>
          <p:cNvSpPr/>
          <p:nvPr/>
        </p:nvSpPr>
        <p:spPr>
          <a:xfrm>
            <a:off x="9976127" y="7836921"/>
            <a:ext cx="2318296" cy="278098"/>
          </a:xfrm>
          <a:prstGeom prst="rect">
            <a:avLst/>
          </a:prstGeom>
          <a:noFill/>
          <a:ln/>
        </p:spPr>
        <p:txBody>
          <a:bodyPr wrap="square" lIns="25400" tIns="25400" rIns="25400" bIns="25400" rtlCol="0" anchor="t">
            <a:normAutofit/>
          </a:bodyPr>
          <a:lstStyle/>
          <a:p>
            <a:pPr marL="0" indent="0" algn="l">
              <a:lnSpc>
                <a:spcPct val="90509"/>
              </a:lnSpc>
              <a:buNone/>
            </a:pPr>
            <a:r>
              <a:rPr lang="en-US" sz="1400" dirty="0">
                <a:solidFill>
                  <a:srgbClr val="1D2D3D"/>
                </a:solidFill>
                <a:latin typeface="Arial" pitchFamily="34" charset="0"/>
                <a:ea typeface="Arial" pitchFamily="34" charset="-122"/>
                <a:cs typeface="Arial" pitchFamily="34" charset="-120"/>
              </a:rPr>
              <a:t>User Search Index</a:t>
            </a:r>
            <a:endParaRPr lang="en-US" sz="1400" dirty="0"/>
          </a:p>
        </p:txBody>
      </p:sp>
      <p:sp>
        <p:nvSpPr>
          <p:cNvPr id="132" name="Text 117">
            <a:extLst>
              <a:ext uri="{FF2B5EF4-FFF2-40B4-BE49-F238E27FC236}">
                <a16:creationId xmlns:a16="http://schemas.microsoft.com/office/drawing/2014/main" id="{218A6D63-E3F2-E564-E30B-F9EBF4BA3365}"/>
              </a:ext>
            </a:extLst>
          </p:cNvPr>
          <p:cNvSpPr/>
          <p:nvPr/>
        </p:nvSpPr>
        <p:spPr>
          <a:xfrm>
            <a:off x="9976127" y="8086429"/>
            <a:ext cx="2318296" cy="279049"/>
          </a:xfrm>
          <a:prstGeom prst="rect">
            <a:avLst/>
          </a:prstGeom>
          <a:noFill/>
          <a:ln/>
        </p:spPr>
        <p:txBody>
          <a:bodyPr wrap="square" lIns="25400" tIns="25400" rIns="25400" bIns="25400" rtlCol="0" anchor="t">
            <a:noAutofit/>
          </a:bodyPr>
          <a:lstStyle/>
          <a:p>
            <a:pPr marL="0" indent="0" algn="l">
              <a:lnSpc>
                <a:spcPct val="98981"/>
              </a:lnSpc>
              <a:buNone/>
            </a:pPr>
            <a:r>
              <a:rPr lang="en-US" sz="1400" dirty="0">
                <a:solidFill>
                  <a:srgbClr val="5D5D60"/>
                </a:solidFill>
                <a:latin typeface="Arial" pitchFamily="34" charset="0"/>
                <a:ea typeface="Arial" pitchFamily="34" charset="-122"/>
                <a:cs typeface="Arial" pitchFamily="34" charset="-120"/>
              </a:rPr>
              <a:t>Per-chat uploads</a:t>
            </a:r>
            <a:endParaRPr lang="en-US" sz="1400" dirty="0"/>
          </a:p>
        </p:txBody>
      </p:sp>
      <p:sp>
        <p:nvSpPr>
          <p:cNvPr id="133" name="Shape 118">
            <a:extLst>
              <a:ext uri="{FF2B5EF4-FFF2-40B4-BE49-F238E27FC236}">
                <a16:creationId xmlns:a16="http://schemas.microsoft.com/office/drawing/2014/main" id="{BB1A7B40-C285-A860-848A-1460637708F5}"/>
              </a:ext>
            </a:extLst>
          </p:cNvPr>
          <p:cNvSpPr/>
          <p:nvPr/>
        </p:nvSpPr>
        <p:spPr>
          <a:xfrm>
            <a:off x="12401515" y="7785292"/>
            <a:ext cx="2362145" cy="696900"/>
          </a:xfrm>
          <a:prstGeom prst="rect">
            <a:avLst/>
          </a:prstGeom>
          <a:solidFill>
            <a:srgbClr val="FFFFFF"/>
          </a:solidFill>
          <a:ln w="13043">
            <a:solidFill>
              <a:srgbClr val="416180"/>
            </a:solidFill>
            <a:prstDash val="solid"/>
          </a:ln>
        </p:spPr>
        <p:txBody>
          <a:bodyPr/>
          <a:lstStyle/>
          <a:p>
            <a:endParaRPr lang="en-US"/>
          </a:p>
        </p:txBody>
      </p:sp>
      <p:sp>
        <p:nvSpPr>
          <p:cNvPr id="134" name="Text 119">
            <a:extLst>
              <a:ext uri="{FF2B5EF4-FFF2-40B4-BE49-F238E27FC236}">
                <a16:creationId xmlns:a16="http://schemas.microsoft.com/office/drawing/2014/main" id="{6818E813-BF39-9A2E-9342-3B779AD0373E}"/>
              </a:ext>
            </a:extLst>
          </p:cNvPr>
          <p:cNvSpPr/>
          <p:nvPr/>
        </p:nvSpPr>
        <p:spPr>
          <a:xfrm>
            <a:off x="12528817" y="7836921"/>
            <a:ext cx="2318296" cy="278098"/>
          </a:xfrm>
          <a:prstGeom prst="rect">
            <a:avLst/>
          </a:prstGeom>
          <a:noFill/>
          <a:ln/>
        </p:spPr>
        <p:txBody>
          <a:bodyPr wrap="square" lIns="25400" tIns="25400" rIns="25400" bIns="25400" rtlCol="0" anchor="t">
            <a:normAutofit/>
          </a:bodyPr>
          <a:lstStyle/>
          <a:p>
            <a:pPr marL="0" indent="0" algn="l">
              <a:lnSpc>
                <a:spcPct val="90509"/>
              </a:lnSpc>
              <a:buNone/>
            </a:pPr>
            <a:r>
              <a:rPr lang="en-US" sz="1400" dirty="0">
                <a:solidFill>
                  <a:srgbClr val="1D2D3D"/>
                </a:solidFill>
                <a:latin typeface="Arial" pitchFamily="34" charset="0"/>
                <a:ea typeface="Arial" pitchFamily="34" charset="-122"/>
                <a:cs typeface="Arial" pitchFamily="34" charset="-120"/>
              </a:rPr>
              <a:t>Enterprise Search Index</a:t>
            </a:r>
            <a:endParaRPr lang="en-US" sz="1400" dirty="0"/>
          </a:p>
        </p:txBody>
      </p:sp>
      <p:sp>
        <p:nvSpPr>
          <p:cNvPr id="135" name="Text 120">
            <a:extLst>
              <a:ext uri="{FF2B5EF4-FFF2-40B4-BE49-F238E27FC236}">
                <a16:creationId xmlns:a16="http://schemas.microsoft.com/office/drawing/2014/main" id="{20EC5A32-AA3D-B156-4C0F-0C06C54E674F}"/>
              </a:ext>
            </a:extLst>
          </p:cNvPr>
          <p:cNvSpPr/>
          <p:nvPr/>
        </p:nvSpPr>
        <p:spPr>
          <a:xfrm>
            <a:off x="12528817" y="8086429"/>
            <a:ext cx="2318296" cy="279049"/>
          </a:xfrm>
          <a:prstGeom prst="rect">
            <a:avLst/>
          </a:prstGeom>
          <a:noFill/>
          <a:ln/>
        </p:spPr>
        <p:txBody>
          <a:bodyPr wrap="square" lIns="25400" tIns="25400" rIns="25400" bIns="25400" rtlCol="0" anchor="t">
            <a:normAutofit/>
          </a:bodyPr>
          <a:lstStyle/>
          <a:p>
            <a:pPr marL="0" indent="0" algn="l">
              <a:lnSpc>
                <a:spcPct val="98981"/>
              </a:lnSpc>
              <a:buNone/>
            </a:pPr>
            <a:r>
              <a:rPr lang="en-US" sz="1400" dirty="0">
                <a:solidFill>
                  <a:srgbClr val="5D5D60"/>
                </a:solidFill>
                <a:latin typeface="Arial" pitchFamily="34" charset="0"/>
                <a:ea typeface="Arial" pitchFamily="34" charset="-122"/>
                <a:cs typeface="Arial" pitchFamily="34" charset="-120"/>
              </a:rPr>
              <a:t>Shared corpus</a:t>
            </a:r>
            <a:endParaRPr lang="en-US" sz="1400" dirty="0"/>
          </a:p>
        </p:txBody>
      </p:sp>
      <p:sp>
        <p:nvSpPr>
          <p:cNvPr id="136" name="Text 121">
            <a:extLst>
              <a:ext uri="{FF2B5EF4-FFF2-40B4-BE49-F238E27FC236}">
                <a16:creationId xmlns:a16="http://schemas.microsoft.com/office/drawing/2014/main" id="{B4D77643-EED8-FCC2-6B8E-FE817BB55FD5}"/>
              </a:ext>
            </a:extLst>
          </p:cNvPr>
          <p:cNvSpPr/>
          <p:nvPr/>
        </p:nvSpPr>
        <p:spPr>
          <a:xfrm>
            <a:off x="2079572" y="2089715"/>
            <a:ext cx="990544" cy="333326"/>
          </a:xfrm>
          <a:prstGeom prst="rect">
            <a:avLst/>
          </a:prstGeom>
          <a:noFill/>
          <a:ln/>
        </p:spPr>
        <p:txBody>
          <a:bodyPr wrap="square" lIns="25400" tIns="25400" rIns="25400" bIns="25400" rtlCol="0" anchor="t">
            <a:normAutofit/>
          </a:bodyPr>
          <a:lstStyle/>
          <a:p>
            <a:pPr marL="0" indent="0" algn="r">
              <a:lnSpc>
                <a:spcPct val="135835"/>
              </a:lnSpc>
              <a:buNone/>
            </a:pPr>
            <a:r>
              <a:rPr lang="en-US" sz="1400" i="1" dirty="0">
                <a:solidFill>
                  <a:srgbClr val="5D5D60"/>
                </a:solidFill>
                <a:latin typeface="Arial" pitchFamily="34" charset="0"/>
                <a:ea typeface="Arial" pitchFamily="34" charset="-122"/>
                <a:cs typeface="Arial" pitchFamily="34" charset="-120"/>
              </a:rPr>
              <a:t>SSO</a:t>
            </a:r>
            <a:endParaRPr lang="en-US" sz="1400" dirty="0"/>
          </a:p>
        </p:txBody>
      </p:sp>
      <p:sp>
        <p:nvSpPr>
          <p:cNvPr id="137" name="Text 122">
            <a:extLst>
              <a:ext uri="{FF2B5EF4-FFF2-40B4-BE49-F238E27FC236}">
                <a16:creationId xmlns:a16="http://schemas.microsoft.com/office/drawing/2014/main" id="{328E85BE-F32F-9C30-0D04-9EE521D2FADC}"/>
              </a:ext>
            </a:extLst>
          </p:cNvPr>
          <p:cNvSpPr/>
          <p:nvPr/>
        </p:nvSpPr>
        <p:spPr>
          <a:xfrm rot="-5400000">
            <a:off x="5903218" y="3363798"/>
            <a:ext cx="819150" cy="333375"/>
          </a:xfrm>
          <a:prstGeom prst="rect">
            <a:avLst/>
          </a:prstGeom>
          <a:noFill/>
          <a:ln/>
        </p:spPr>
        <p:txBody>
          <a:bodyPr wrap="none" lIns="25400" tIns="25400" rIns="25400" bIns="25400" rtlCol="0" anchor="t">
            <a:normAutofit/>
          </a:bodyPr>
          <a:lstStyle/>
          <a:p>
            <a:pPr marL="0" indent="0" algn="l">
              <a:lnSpc>
                <a:spcPct val="135835"/>
              </a:lnSpc>
              <a:buNone/>
            </a:pPr>
            <a:r>
              <a:rPr lang="en-US" sz="1400" i="1" dirty="0">
                <a:solidFill>
                  <a:srgbClr val="5D5D60"/>
                </a:solidFill>
                <a:latin typeface="Arial" pitchFamily="34" charset="0"/>
                <a:ea typeface="Arial" pitchFamily="34" charset="-122"/>
                <a:cs typeface="Arial" pitchFamily="34" charset="-120"/>
              </a:rPr>
              <a:t>sessions</a:t>
            </a:r>
            <a:endParaRPr lang="en-US" sz="1400" dirty="0"/>
          </a:p>
        </p:txBody>
      </p:sp>
      <p:sp>
        <p:nvSpPr>
          <p:cNvPr id="138" name="Text 123">
            <a:extLst>
              <a:ext uri="{FF2B5EF4-FFF2-40B4-BE49-F238E27FC236}">
                <a16:creationId xmlns:a16="http://schemas.microsoft.com/office/drawing/2014/main" id="{02EDB141-CABF-B9F1-B3AA-53DDF8DCF33B}"/>
              </a:ext>
            </a:extLst>
          </p:cNvPr>
          <p:cNvSpPr/>
          <p:nvPr/>
        </p:nvSpPr>
        <p:spPr>
          <a:xfrm>
            <a:off x="2487690" y="7072499"/>
            <a:ext cx="769778" cy="333326"/>
          </a:xfrm>
          <a:prstGeom prst="rect">
            <a:avLst/>
          </a:prstGeom>
          <a:noFill/>
          <a:ln/>
        </p:spPr>
        <p:txBody>
          <a:bodyPr wrap="square" lIns="25400" tIns="25400" rIns="25400" bIns="25400" rtlCol="0" anchor="t">
            <a:normAutofit/>
          </a:bodyPr>
          <a:lstStyle/>
          <a:p>
            <a:pPr marL="0" indent="0" algn="r">
              <a:lnSpc>
                <a:spcPct val="135835"/>
              </a:lnSpc>
              <a:buNone/>
            </a:pPr>
            <a:r>
              <a:rPr lang="en-US" sz="1400" i="1" dirty="0">
                <a:solidFill>
                  <a:srgbClr val="5D5D60"/>
                </a:solidFill>
                <a:latin typeface="Arial" pitchFamily="34" charset="0"/>
                <a:ea typeface="Arial" pitchFamily="34" charset="-122"/>
                <a:cs typeface="Arial" pitchFamily="34" charset="-120"/>
              </a:rPr>
              <a:t>upload</a:t>
            </a:r>
            <a:endParaRPr lang="en-US" sz="1400" dirty="0"/>
          </a:p>
        </p:txBody>
      </p:sp>
      <p:sp>
        <p:nvSpPr>
          <p:cNvPr id="139" name="Text 124">
            <a:extLst>
              <a:ext uri="{FF2B5EF4-FFF2-40B4-BE49-F238E27FC236}">
                <a16:creationId xmlns:a16="http://schemas.microsoft.com/office/drawing/2014/main" id="{14C9240D-8B11-76AB-12E5-D54734F8054C}"/>
              </a:ext>
            </a:extLst>
          </p:cNvPr>
          <p:cNvSpPr/>
          <p:nvPr/>
        </p:nvSpPr>
        <p:spPr>
          <a:xfrm>
            <a:off x="3696612" y="4587253"/>
            <a:ext cx="584455" cy="333326"/>
          </a:xfrm>
          <a:prstGeom prst="rect">
            <a:avLst/>
          </a:prstGeom>
          <a:noFill/>
          <a:ln/>
        </p:spPr>
        <p:txBody>
          <a:bodyPr wrap="square" lIns="25400" tIns="25400" rIns="25400" bIns="25400" rtlCol="0" anchor="t">
            <a:normAutofit/>
          </a:bodyPr>
          <a:lstStyle/>
          <a:p>
            <a:pPr marL="0" indent="0" algn="l">
              <a:lnSpc>
                <a:spcPct val="135835"/>
              </a:lnSpc>
              <a:buNone/>
            </a:pPr>
            <a:r>
              <a:rPr lang="en-US" sz="1400" i="1" dirty="0">
                <a:solidFill>
                  <a:srgbClr val="5D5D60"/>
                </a:solidFill>
                <a:latin typeface="Arial" pitchFamily="34" charset="0"/>
                <a:ea typeface="Arial" pitchFamily="34" charset="-122"/>
                <a:cs typeface="Arial" pitchFamily="34" charset="-120"/>
              </a:rPr>
              <a:t>ingest</a:t>
            </a:r>
            <a:endParaRPr lang="en-US" sz="1400" dirty="0"/>
          </a:p>
        </p:txBody>
      </p:sp>
      <p:sp>
        <p:nvSpPr>
          <p:cNvPr id="140" name="Text 125">
            <a:extLst>
              <a:ext uri="{FF2B5EF4-FFF2-40B4-BE49-F238E27FC236}">
                <a16:creationId xmlns:a16="http://schemas.microsoft.com/office/drawing/2014/main" id="{75CC8411-7335-7B5E-2287-53644D91E4DE}"/>
              </a:ext>
            </a:extLst>
          </p:cNvPr>
          <p:cNvSpPr/>
          <p:nvPr/>
        </p:nvSpPr>
        <p:spPr>
          <a:xfrm>
            <a:off x="11077517" y="4919852"/>
            <a:ext cx="488945" cy="252623"/>
          </a:xfrm>
          <a:prstGeom prst="rect">
            <a:avLst/>
          </a:prstGeom>
          <a:noFill/>
          <a:ln/>
        </p:spPr>
        <p:txBody>
          <a:bodyPr wrap="square" lIns="25400" tIns="25400" rIns="25400" bIns="25400" rtlCol="0" anchor="t">
            <a:normAutofit fontScale="85000" lnSpcReduction="20000"/>
          </a:bodyPr>
          <a:lstStyle/>
          <a:p>
            <a:pPr marL="0" indent="0" algn="l">
              <a:lnSpc>
                <a:spcPct val="135835"/>
              </a:lnSpc>
              <a:buNone/>
            </a:pPr>
            <a:r>
              <a:rPr lang="en-US" sz="1400" i="1" dirty="0">
                <a:latin typeface="Arial" pitchFamily="34" charset="0"/>
                <a:ea typeface="Arial" pitchFamily="34" charset="-122"/>
                <a:cs typeface="Arial" pitchFamily="34" charset="-120"/>
              </a:rPr>
              <a:t>RAG</a:t>
            </a:r>
            <a:endParaRPr lang="en-US" sz="1400" dirty="0"/>
          </a:p>
        </p:txBody>
      </p:sp>
      <p:sp>
        <p:nvSpPr>
          <p:cNvPr id="141" name="Text 126">
            <a:extLst>
              <a:ext uri="{FF2B5EF4-FFF2-40B4-BE49-F238E27FC236}">
                <a16:creationId xmlns:a16="http://schemas.microsoft.com/office/drawing/2014/main" id="{E002CBD4-905A-8D55-EE1D-F7FE77F56BDA}"/>
              </a:ext>
            </a:extLst>
          </p:cNvPr>
          <p:cNvSpPr/>
          <p:nvPr/>
        </p:nvSpPr>
        <p:spPr>
          <a:xfrm>
            <a:off x="15502903" y="3828208"/>
            <a:ext cx="1350949" cy="333326"/>
          </a:xfrm>
          <a:prstGeom prst="rect">
            <a:avLst/>
          </a:prstGeom>
          <a:noFill/>
          <a:ln/>
        </p:spPr>
        <p:txBody>
          <a:bodyPr wrap="none" lIns="25400" tIns="25400" rIns="25400" bIns="25400" rtlCol="0" anchor="t">
            <a:normAutofit/>
          </a:bodyPr>
          <a:lstStyle/>
          <a:p>
            <a:pPr marL="0" indent="0" algn="r">
              <a:lnSpc>
                <a:spcPct val="135835"/>
              </a:lnSpc>
              <a:buNone/>
            </a:pPr>
            <a:r>
              <a:rPr lang="en-US" sz="1400" i="1" dirty="0">
                <a:solidFill>
                  <a:srgbClr val="5D5D60"/>
                </a:solidFill>
                <a:latin typeface="Arial" pitchFamily="34" charset="0"/>
                <a:ea typeface="Arial" pitchFamily="34" charset="-122"/>
                <a:cs typeface="Arial" pitchFamily="34" charset="-120"/>
              </a:rPr>
              <a:t>MS Graph API</a:t>
            </a:r>
            <a:endParaRPr lang="en-US" sz="1400" dirty="0"/>
          </a:p>
        </p:txBody>
      </p:sp>
      <p:sp>
        <p:nvSpPr>
          <p:cNvPr id="142" name="Text 127">
            <a:extLst>
              <a:ext uri="{FF2B5EF4-FFF2-40B4-BE49-F238E27FC236}">
                <a16:creationId xmlns:a16="http://schemas.microsoft.com/office/drawing/2014/main" id="{19B555EC-EDE4-19E6-EEC2-277EB1C9855E}"/>
              </a:ext>
            </a:extLst>
          </p:cNvPr>
          <p:cNvSpPr/>
          <p:nvPr/>
        </p:nvSpPr>
        <p:spPr>
          <a:xfrm>
            <a:off x="15171834" y="7859958"/>
            <a:ext cx="753670" cy="333326"/>
          </a:xfrm>
          <a:prstGeom prst="rect">
            <a:avLst/>
          </a:prstGeom>
          <a:noFill/>
          <a:ln/>
        </p:spPr>
        <p:txBody>
          <a:bodyPr wrap="none" lIns="25400" tIns="25400" rIns="25400" bIns="25400" rtlCol="0" anchor="t">
            <a:normAutofit/>
          </a:bodyPr>
          <a:lstStyle/>
          <a:p>
            <a:pPr marL="0" indent="0" algn="l">
              <a:lnSpc>
                <a:spcPct val="135835"/>
              </a:lnSpc>
              <a:buNone/>
            </a:pPr>
            <a:r>
              <a:rPr lang="en-US" sz="1400" i="1" dirty="0">
                <a:solidFill>
                  <a:srgbClr val="5D5D60"/>
                </a:solidFill>
                <a:latin typeface="Arial" pitchFamily="34" charset="0"/>
                <a:ea typeface="Arial" pitchFamily="34" charset="-122"/>
                <a:cs typeface="Arial" pitchFamily="34" charset="-120"/>
              </a:rPr>
              <a:t>retrieval</a:t>
            </a:r>
            <a:endParaRPr lang="en-US" sz="1400" dirty="0"/>
          </a:p>
        </p:txBody>
      </p:sp>
      <p:sp>
        <p:nvSpPr>
          <p:cNvPr id="143" name="Shape 128">
            <a:extLst>
              <a:ext uri="{FF2B5EF4-FFF2-40B4-BE49-F238E27FC236}">
                <a16:creationId xmlns:a16="http://schemas.microsoft.com/office/drawing/2014/main" id="{685F223D-20B5-36A6-1EE6-A931089872F5}"/>
              </a:ext>
            </a:extLst>
          </p:cNvPr>
          <p:cNvSpPr/>
          <p:nvPr/>
        </p:nvSpPr>
        <p:spPr>
          <a:xfrm>
            <a:off x="8858196" y="2397226"/>
            <a:ext cx="266695" cy="266695"/>
          </a:xfrm>
          <a:prstGeom prst="rect">
            <a:avLst/>
          </a:prstGeom>
          <a:solidFill>
            <a:schemeClr val="accent6">
              <a:lumMod val="75000"/>
            </a:schemeClr>
          </a:solidFill>
          <a:ln/>
        </p:spPr>
        <p:txBody>
          <a:bodyPr/>
          <a:lstStyle/>
          <a:p>
            <a:endParaRPr lang="en-US" sz="1600"/>
          </a:p>
        </p:txBody>
      </p:sp>
      <p:sp>
        <p:nvSpPr>
          <p:cNvPr id="144" name="Text 129">
            <a:extLst>
              <a:ext uri="{FF2B5EF4-FFF2-40B4-BE49-F238E27FC236}">
                <a16:creationId xmlns:a16="http://schemas.microsoft.com/office/drawing/2014/main" id="{CA69E07C-12A3-6FB4-070D-4FA89D6B5E62}"/>
              </a:ext>
            </a:extLst>
          </p:cNvPr>
          <p:cNvSpPr/>
          <p:nvPr/>
        </p:nvSpPr>
        <p:spPr>
          <a:xfrm>
            <a:off x="8820097" y="2397227"/>
            <a:ext cx="339162" cy="262690"/>
          </a:xfrm>
          <a:prstGeom prst="rect">
            <a:avLst/>
          </a:prstGeom>
          <a:noFill/>
          <a:ln/>
        </p:spPr>
        <p:txBody>
          <a:bodyPr wrap="square" lIns="25400" tIns="25400" rIns="25400" bIns="25400" rtlCol="0" anchor="ctr">
            <a:normAutofit fontScale="92500"/>
          </a:bodyPr>
          <a:lstStyle/>
          <a:p>
            <a:pPr marL="0" indent="0" algn="ctr">
              <a:lnSpc>
                <a:spcPct val="135835"/>
              </a:lnSpc>
              <a:buNone/>
            </a:pPr>
            <a:r>
              <a:rPr lang="en-US" sz="1200" b="1" dirty="0">
                <a:solidFill>
                  <a:srgbClr val="F2F2F3"/>
                </a:solidFill>
                <a:latin typeface="Arial" pitchFamily="34" charset="0"/>
                <a:ea typeface="Arial" pitchFamily="34" charset="-122"/>
                <a:cs typeface="Arial" pitchFamily="34" charset="-120"/>
              </a:rPr>
              <a:t>1</a:t>
            </a:r>
            <a:endParaRPr lang="en-US" sz="1200" dirty="0"/>
          </a:p>
        </p:txBody>
      </p:sp>
      <p:sp>
        <p:nvSpPr>
          <p:cNvPr id="145" name="Shape 130">
            <a:extLst>
              <a:ext uri="{FF2B5EF4-FFF2-40B4-BE49-F238E27FC236}">
                <a16:creationId xmlns:a16="http://schemas.microsoft.com/office/drawing/2014/main" id="{FED3D39B-3A09-D989-5C87-9A548D554916}"/>
              </a:ext>
            </a:extLst>
          </p:cNvPr>
          <p:cNvSpPr/>
          <p:nvPr/>
        </p:nvSpPr>
        <p:spPr>
          <a:xfrm>
            <a:off x="8858196" y="2959214"/>
            <a:ext cx="266695" cy="266695"/>
          </a:xfrm>
          <a:prstGeom prst="rect">
            <a:avLst/>
          </a:prstGeom>
          <a:solidFill>
            <a:schemeClr val="accent6">
              <a:lumMod val="75000"/>
            </a:schemeClr>
          </a:solidFill>
          <a:ln/>
        </p:spPr>
        <p:txBody>
          <a:bodyPr/>
          <a:lstStyle/>
          <a:p>
            <a:endParaRPr lang="en-US" sz="1600"/>
          </a:p>
        </p:txBody>
      </p:sp>
      <p:sp>
        <p:nvSpPr>
          <p:cNvPr id="146" name="Text 131">
            <a:extLst>
              <a:ext uri="{FF2B5EF4-FFF2-40B4-BE49-F238E27FC236}">
                <a16:creationId xmlns:a16="http://schemas.microsoft.com/office/drawing/2014/main" id="{24051BBD-B130-3891-6092-E0A3079C65F5}"/>
              </a:ext>
            </a:extLst>
          </p:cNvPr>
          <p:cNvSpPr/>
          <p:nvPr/>
        </p:nvSpPr>
        <p:spPr>
          <a:xfrm>
            <a:off x="8820097" y="2959214"/>
            <a:ext cx="323904" cy="260933"/>
          </a:xfrm>
          <a:prstGeom prst="rect">
            <a:avLst/>
          </a:prstGeom>
          <a:noFill/>
          <a:ln/>
        </p:spPr>
        <p:txBody>
          <a:bodyPr wrap="square" lIns="25400" tIns="25400" rIns="25400" bIns="25400" rtlCol="0" anchor="ctr">
            <a:normAutofit fontScale="92500"/>
          </a:bodyPr>
          <a:lstStyle/>
          <a:p>
            <a:pPr marL="0" indent="0" algn="ctr">
              <a:lnSpc>
                <a:spcPct val="135835"/>
              </a:lnSpc>
              <a:buNone/>
            </a:pPr>
            <a:r>
              <a:rPr lang="en-US" sz="1200" b="1" dirty="0">
                <a:solidFill>
                  <a:srgbClr val="F2F2F3"/>
                </a:solidFill>
                <a:latin typeface="Arial" pitchFamily="34" charset="0"/>
                <a:ea typeface="Arial" pitchFamily="34" charset="-122"/>
                <a:cs typeface="Arial" pitchFamily="34" charset="-120"/>
              </a:rPr>
              <a:t>2</a:t>
            </a:r>
            <a:endParaRPr lang="en-US" sz="1200" dirty="0"/>
          </a:p>
        </p:txBody>
      </p:sp>
      <p:sp>
        <p:nvSpPr>
          <p:cNvPr id="151" name="Shape 136">
            <a:extLst>
              <a:ext uri="{FF2B5EF4-FFF2-40B4-BE49-F238E27FC236}">
                <a16:creationId xmlns:a16="http://schemas.microsoft.com/office/drawing/2014/main" id="{DEC9C070-5C7B-2779-83D7-BE3F8D37F747}"/>
              </a:ext>
            </a:extLst>
          </p:cNvPr>
          <p:cNvSpPr/>
          <p:nvPr/>
        </p:nvSpPr>
        <p:spPr>
          <a:xfrm>
            <a:off x="6513362" y="6710566"/>
            <a:ext cx="285715" cy="285715"/>
          </a:xfrm>
          <a:prstGeom prst="rect">
            <a:avLst/>
          </a:prstGeom>
          <a:solidFill>
            <a:schemeClr val="accent6">
              <a:lumMod val="75000"/>
            </a:schemeClr>
          </a:solidFill>
          <a:ln/>
        </p:spPr>
        <p:txBody>
          <a:bodyPr/>
          <a:lstStyle/>
          <a:p>
            <a:endParaRPr lang="en-US" sz="1600"/>
          </a:p>
        </p:txBody>
      </p:sp>
      <p:sp>
        <p:nvSpPr>
          <p:cNvPr id="152" name="Text 137">
            <a:extLst>
              <a:ext uri="{FF2B5EF4-FFF2-40B4-BE49-F238E27FC236}">
                <a16:creationId xmlns:a16="http://schemas.microsoft.com/office/drawing/2014/main" id="{AFE7B847-08CD-D0F5-A212-60C4336FD44A}"/>
              </a:ext>
            </a:extLst>
          </p:cNvPr>
          <p:cNvSpPr/>
          <p:nvPr/>
        </p:nvSpPr>
        <p:spPr>
          <a:xfrm>
            <a:off x="6475262" y="6710566"/>
            <a:ext cx="361915" cy="323815"/>
          </a:xfrm>
          <a:prstGeom prst="rect">
            <a:avLst/>
          </a:prstGeom>
          <a:noFill/>
          <a:ln/>
        </p:spPr>
        <p:txBody>
          <a:bodyPr wrap="square" lIns="25400" tIns="25400" rIns="25400" bIns="25400" rtlCol="0" anchor="ctr">
            <a:normAutofit/>
          </a:bodyPr>
          <a:lstStyle/>
          <a:p>
            <a:pPr marL="0" indent="0" algn="ctr">
              <a:lnSpc>
                <a:spcPct val="132062"/>
              </a:lnSpc>
              <a:buNone/>
            </a:pPr>
            <a:r>
              <a:rPr lang="en-US" sz="1400" b="1" dirty="0">
                <a:solidFill>
                  <a:srgbClr val="F2F2F3"/>
                </a:solidFill>
                <a:latin typeface="Arial" pitchFamily="34" charset="0"/>
                <a:ea typeface="Arial" pitchFamily="34" charset="-122"/>
                <a:cs typeface="Arial" pitchFamily="34" charset="-120"/>
              </a:rPr>
              <a:t>4</a:t>
            </a:r>
            <a:endParaRPr lang="en-US" sz="1400" dirty="0"/>
          </a:p>
        </p:txBody>
      </p:sp>
      <p:sp>
        <p:nvSpPr>
          <p:cNvPr id="155" name="Text 140">
            <a:extLst>
              <a:ext uri="{FF2B5EF4-FFF2-40B4-BE49-F238E27FC236}">
                <a16:creationId xmlns:a16="http://schemas.microsoft.com/office/drawing/2014/main" id="{B5E0C0EB-2188-90CE-B7C7-EE5956E679C8}"/>
              </a:ext>
            </a:extLst>
          </p:cNvPr>
          <p:cNvSpPr/>
          <p:nvPr/>
        </p:nvSpPr>
        <p:spPr>
          <a:xfrm>
            <a:off x="1226620" y="9091061"/>
            <a:ext cx="1214374" cy="258127"/>
          </a:xfrm>
          <a:prstGeom prst="rect">
            <a:avLst/>
          </a:prstGeom>
          <a:noFill/>
          <a:ln/>
        </p:spPr>
        <p:txBody>
          <a:bodyPr wrap="none" lIns="25400" tIns="25400" rIns="25400" bIns="25400" rtlCol="0" anchor="t">
            <a:normAutofit lnSpcReduction="10000"/>
          </a:bodyPr>
          <a:lstStyle/>
          <a:p>
            <a:pPr marL="0" indent="0" algn="l">
              <a:lnSpc>
                <a:spcPct val="93721"/>
              </a:lnSpc>
              <a:buNone/>
            </a:pPr>
            <a:r>
              <a:rPr lang="en-US" sz="1575" dirty="0">
                <a:solidFill>
                  <a:srgbClr val="5D5D60"/>
                </a:solidFill>
                <a:latin typeface="Arial" pitchFamily="34" charset="0"/>
                <a:ea typeface="Arial" pitchFamily="34" charset="-122"/>
                <a:cs typeface="Arial" pitchFamily="34" charset="-120"/>
              </a:rPr>
              <a:t>Runtime flow</a:t>
            </a:r>
            <a:endParaRPr lang="en-US" sz="1575" dirty="0"/>
          </a:p>
        </p:txBody>
      </p:sp>
      <p:sp>
        <p:nvSpPr>
          <p:cNvPr id="158" name="Text 143">
            <a:extLst>
              <a:ext uri="{FF2B5EF4-FFF2-40B4-BE49-F238E27FC236}">
                <a16:creationId xmlns:a16="http://schemas.microsoft.com/office/drawing/2014/main" id="{B861572C-3FB4-6290-3F42-ECB07A0CEC5E}"/>
              </a:ext>
            </a:extLst>
          </p:cNvPr>
          <p:cNvSpPr/>
          <p:nvPr/>
        </p:nvSpPr>
        <p:spPr>
          <a:xfrm>
            <a:off x="3191372" y="9091061"/>
            <a:ext cx="1926222" cy="258127"/>
          </a:xfrm>
          <a:prstGeom prst="rect">
            <a:avLst/>
          </a:prstGeom>
          <a:noFill/>
          <a:ln/>
        </p:spPr>
        <p:txBody>
          <a:bodyPr wrap="none" lIns="25400" tIns="25400" rIns="25400" bIns="25400" rtlCol="0" anchor="t">
            <a:normAutofit lnSpcReduction="10000"/>
          </a:bodyPr>
          <a:lstStyle/>
          <a:p>
            <a:pPr marL="0" indent="0" algn="l">
              <a:lnSpc>
                <a:spcPct val="93721"/>
              </a:lnSpc>
              <a:buNone/>
            </a:pPr>
            <a:r>
              <a:rPr lang="en-US" sz="1575" dirty="0">
                <a:solidFill>
                  <a:srgbClr val="5D5D60"/>
                </a:solidFill>
                <a:latin typeface="Arial" pitchFamily="34" charset="0"/>
                <a:ea typeface="Arial" pitchFamily="34" charset="-122"/>
                <a:cs typeface="Arial" pitchFamily="34" charset="-120"/>
              </a:rPr>
              <a:t>Ingestion &amp; indexing</a:t>
            </a:r>
            <a:endParaRPr lang="en-US" sz="1575" dirty="0"/>
          </a:p>
        </p:txBody>
      </p:sp>
      <p:sp>
        <p:nvSpPr>
          <p:cNvPr id="159" name="Shape 144">
            <a:extLst>
              <a:ext uri="{FF2B5EF4-FFF2-40B4-BE49-F238E27FC236}">
                <a16:creationId xmlns:a16="http://schemas.microsoft.com/office/drawing/2014/main" id="{FB27ACD3-35C9-9A15-5DE6-AB24F2C36494}"/>
              </a:ext>
            </a:extLst>
          </p:cNvPr>
          <p:cNvSpPr/>
          <p:nvPr/>
        </p:nvSpPr>
        <p:spPr>
          <a:xfrm>
            <a:off x="5321726" y="9096292"/>
            <a:ext cx="209497" cy="209497"/>
          </a:xfrm>
          <a:prstGeom prst="rect">
            <a:avLst/>
          </a:prstGeom>
          <a:solidFill>
            <a:srgbClr val="C8651B"/>
          </a:solidFill>
          <a:ln/>
        </p:spPr>
        <p:txBody>
          <a:bodyPr/>
          <a:lstStyle/>
          <a:p>
            <a:endParaRPr lang="en-US" sz="1600"/>
          </a:p>
        </p:txBody>
      </p:sp>
      <p:sp>
        <p:nvSpPr>
          <p:cNvPr id="160" name="Text 145">
            <a:extLst>
              <a:ext uri="{FF2B5EF4-FFF2-40B4-BE49-F238E27FC236}">
                <a16:creationId xmlns:a16="http://schemas.microsoft.com/office/drawing/2014/main" id="{D0DFB797-5BAD-7080-7419-E14E58BFC60B}"/>
              </a:ext>
            </a:extLst>
          </p:cNvPr>
          <p:cNvSpPr/>
          <p:nvPr/>
        </p:nvSpPr>
        <p:spPr>
          <a:xfrm>
            <a:off x="5571043" y="9091061"/>
            <a:ext cx="1646158" cy="258127"/>
          </a:xfrm>
          <a:prstGeom prst="rect">
            <a:avLst/>
          </a:prstGeom>
          <a:noFill/>
          <a:ln/>
        </p:spPr>
        <p:txBody>
          <a:bodyPr wrap="none" lIns="25400" tIns="25400" rIns="25400" bIns="25400" rtlCol="0" anchor="t">
            <a:normAutofit lnSpcReduction="10000"/>
          </a:bodyPr>
          <a:lstStyle/>
          <a:p>
            <a:pPr marL="0" indent="0" algn="l">
              <a:lnSpc>
                <a:spcPct val="93721"/>
              </a:lnSpc>
              <a:buNone/>
            </a:pPr>
            <a:r>
              <a:rPr lang="en-US" sz="1575" dirty="0">
                <a:solidFill>
                  <a:srgbClr val="5D5D60"/>
                </a:solidFill>
                <a:latin typeface="Arial" pitchFamily="34" charset="0"/>
                <a:ea typeface="Arial" pitchFamily="34" charset="-122"/>
                <a:cs typeface="Arial" pitchFamily="34" charset="-120"/>
              </a:rPr>
              <a:t>Architectural gap</a:t>
            </a:r>
            <a:endParaRPr lang="en-US" sz="1575" dirty="0"/>
          </a:p>
        </p:txBody>
      </p:sp>
      <p:sp>
        <p:nvSpPr>
          <p:cNvPr id="161" name="Text 146">
            <a:extLst>
              <a:ext uri="{FF2B5EF4-FFF2-40B4-BE49-F238E27FC236}">
                <a16:creationId xmlns:a16="http://schemas.microsoft.com/office/drawing/2014/main" id="{34241750-9F20-CC69-98FE-7AF1B74D08E8}"/>
              </a:ext>
            </a:extLst>
          </p:cNvPr>
          <p:cNvSpPr/>
          <p:nvPr/>
        </p:nvSpPr>
        <p:spPr>
          <a:xfrm>
            <a:off x="10485076" y="9104792"/>
            <a:ext cx="7532051" cy="258127"/>
          </a:xfrm>
          <a:prstGeom prst="rect">
            <a:avLst/>
          </a:prstGeom>
          <a:noFill/>
          <a:ln/>
        </p:spPr>
        <p:txBody>
          <a:bodyPr wrap="none" lIns="25400" tIns="25400" rIns="25400" bIns="25400" rtlCol="0" anchor="t">
            <a:normAutofit lnSpcReduction="10000"/>
          </a:bodyPr>
          <a:lstStyle/>
          <a:p>
            <a:pPr marL="0" indent="0" algn="l">
              <a:lnSpc>
                <a:spcPct val="93721"/>
              </a:lnSpc>
              <a:buNone/>
            </a:pPr>
            <a:r>
              <a:rPr lang="en-US" sz="1575" i="1" dirty="0">
                <a:solidFill>
                  <a:srgbClr val="5D5D60"/>
                </a:solidFill>
                <a:latin typeface="Arial" pitchFamily="34" charset="0"/>
                <a:ea typeface="Arial" pitchFamily="34" charset="-122"/>
                <a:cs typeface="Arial" pitchFamily="34" charset="-120"/>
              </a:rPr>
              <a:t>Numbered as in Gaps at a Glance · service-to-service auth: managed identity</a:t>
            </a:r>
            <a:endParaRPr lang="en-US" sz="1575" dirty="0"/>
          </a:p>
        </p:txBody>
      </p:sp>
      <p:cxnSp>
        <p:nvCxnSpPr>
          <p:cNvPr id="164" name="Straight Arrow Connector 163">
            <a:extLst>
              <a:ext uri="{FF2B5EF4-FFF2-40B4-BE49-F238E27FC236}">
                <a16:creationId xmlns:a16="http://schemas.microsoft.com/office/drawing/2014/main" id="{A428A83B-25BC-16BA-561F-3CD81B646ECC}"/>
              </a:ext>
            </a:extLst>
          </p:cNvPr>
          <p:cNvCxnSpPr>
            <a:stCxn id="61" idx="2"/>
            <a:endCxn id="65" idx="0"/>
          </p:cNvCxnSpPr>
          <p:nvPr/>
        </p:nvCxnSpPr>
        <p:spPr>
          <a:xfrm>
            <a:off x="1500861" y="4805525"/>
            <a:ext cx="0" cy="438513"/>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Straight Arrow Connector 165">
            <a:extLst>
              <a:ext uri="{FF2B5EF4-FFF2-40B4-BE49-F238E27FC236}">
                <a16:creationId xmlns:a16="http://schemas.microsoft.com/office/drawing/2014/main" id="{C097DE3F-D03F-68C1-06E2-77D3AADFBE7D}"/>
              </a:ext>
            </a:extLst>
          </p:cNvPr>
          <p:cNvCxnSpPr>
            <a:stCxn id="65" idx="3"/>
            <a:endCxn id="74" idx="1"/>
          </p:cNvCxnSpPr>
          <p:nvPr/>
        </p:nvCxnSpPr>
        <p:spPr>
          <a:xfrm flipV="1">
            <a:off x="2718690" y="2482954"/>
            <a:ext cx="729323" cy="3204127"/>
          </a:xfrm>
          <a:prstGeom prst="bentConnector3">
            <a:avLst>
              <a:gd name="adj1" fmla="val 50000"/>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0" name="Straight Arrow Connector 165">
            <a:extLst>
              <a:ext uri="{FF2B5EF4-FFF2-40B4-BE49-F238E27FC236}">
                <a16:creationId xmlns:a16="http://schemas.microsoft.com/office/drawing/2014/main" id="{E417E7FC-D056-C435-5EB7-BDA12A36426C}"/>
              </a:ext>
            </a:extLst>
          </p:cNvPr>
          <p:cNvCxnSpPr>
            <a:cxnSpLocks/>
            <a:endCxn id="105" idx="1"/>
          </p:cNvCxnSpPr>
          <p:nvPr/>
        </p:nvCxnSpPr>
        <p:spPr>
          <a:xfrm rot="16200000" flipH="1">
            <a:off x="2179767" y="5920289"/>
            <a:ext cx="2991867" cy="303113"/>
          </a:xfrm>
          <a:prstGeom prst="bent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Straight Arrow Connector 172">
            <a:extLst>
              <a:ext uri="{FF2B5EF4-FFF2-40B4-BE49-F238E27FC236}">
                <a16:creationId xmlns:a16="http://schemas.microsoft.com/office/drawing/2014/main" id="{1FAE35FB-D905-1AFC-FE3D-3086D12C373D}"/>
              </a:ext>
            </a:extLst>
          </p:cNvPr>
          <p:cNvCxnSpPr>
            <a:cxnSpLocks/>
          </p:cNvCxnSpPr>
          <p:nvPr/>
        </p:nvCxnSpPr>
        <p:spPr>
          <a:xfrm>
            <a:off x="775696" y="9191701"/>
            <a:ext cx="329585"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76" name="Straight Arrow Connector 165">
            <a:extLst>
              <a:ext uri="{FF2B5EF4-FFF2-40B4-BE49-F238E27FC236}">
                <a16:creationId xmlns:a16="http://schemas.microsoft.com/office/drawing/2014/main" id="{3028A595-5C01-D19C-228A-6E344D5DC33A}"/>
              </a:ext>
            </a:extLst>
          </p:cNvPr>
          <p:cNvCxnSpPr>
            <a:cxnSpLocks/>
            <a:endCxn id="100" idx="1"/>
          </p:cNvCxnSpPr>
          <p:nvPr/>
        </p:nvCxnSpPr>
        <p:spPr>
          <a:xfrm rot="16200000" flipH="1">
            <a:off x="3042238" y="5145977"/>
            <a:ext cx="1364938" cy="205100"/>
          </a:xfrm>
          <a:prstGeom prst="bentConnector2">
            <a:avLst/>
          </a:prstGeom>
          <a:ln w="28575">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83" name="Straight Arrow Connector 182">
            <a:extLst>
              <a:ext uri="{FF2B5EF4-FFF2-40B4-BE49-F238E27FC236}">
                <a16:creationId xmlns:a16="http://schemas.microsoft.com/office/drawing/2014/main" id="{29095D11-14BC-AFE7-73BA-7409B7051EC9}"/>
              </a:ext>
            </a:extLst>
          </p:cNvPr>
          <p:cNvCxnSpPr>
            <a:cxnSpLocks/>
            <a:stCxn id="74" idx="2"/>
            <a:endCxn id="78" idx="0"/>
          </p:cNvCxnSpPr>
          <p:nvPr/>
        </p:nvCxnSpPr>
        <p:spPr>
          <a:xfrm>
            <a:off x="4781488" y="3054452"/>
            <a:ext cx="0" cy="266696"/>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91" name="Straight Arrow Connector 190">
            <a:extLst>
              <a:ext uri="{FF2B5EF4-FFF2-40B4-BE49-F238E27FC236}">
                <a16:creationId xmlns:a16="http://schemas.microsoft.com/office/drawing/2014/main" id="{B6A14F2C-1A0A-154E-D2C8-CF3751C271D5}"/>
              </a:ext>
            </a:extLst>
          </p:cNvPr>
          <p:cNvCxnSpPr>
            <a:cxnSpLocks/>
            <a:stCxn id="78" idx="3"/>
          </p:cNvCxnSpPr>
          <p:nvPr/>
        </p:nvCxnSpPr>
        <p:spPr>
          <a:xfrm>
            <a:off x="6114962" y="3930722"/>
            <a:ext cx="323892" cy="0"/>
          </a:xfrm>
          <a:prstGeom prst="straightConnector1">
            <a:avLst/>
          </a:prstGeom>
          <a:ln w="28575">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4" name="Straight Arrow Connector 165">
            <a:extLst>
              <a:ext uri="{FF2B5EF4-FFF2-40B4-BE49-F238E27FC236}">
                <a16:creationId xmlns:a16="http://schemas.microsoft.com/office/drawing/2014/main" id="{8948AE93-8306-035C-3D1E-0BCAEC28FAE1}"/>
              </a:ext>
            </a:extLst>
          </p:cNvPr>
          <p:cNvCxnSpPr>
            <a:cxnSpLocks/>
            <a:stCxn id="78" idx="2"/>
            <a:endCxn id="115" idx="0"/>
          </p:cNvCxnSpPr>
          <p:nvPr/>
        </p:nvCxnSpPr>
        <p:spPr>
          <a:xfrm rot="16200000" flipH="1">
            <a:off x="7281793" y="2039990"/>
            <a:ext cx="1247835" cy="6248444"/>
          </a:xfrm>
          <a:prstGeom prst="bentConnector3">
            <a:avLst>
              <a:gd name="adj1" fmla="val 20688"/>
            </a:avLst>
          </a:prstGeom>
          <a:solidFill>
            <a:srgbClr val="D6EBFF"/>
          </a:solidFill>
          <a:ln w="13043">
            <a:solidFill>
              <a:srgbClr val="597EA3"/>
            </a:solidFill>
            <a:prstDash val="dash"/>
          </a:ln>
        </p:spPr>
      </p:cxnSp>
      <p:cxnSp>
        <p:nvCxnSpPr>
          <p:cNvPr id="201" name="Straight Arrow Connector 165">
            <a:extLst>
              <a:ext uri="{FF2B5EF4-FFF2-40B4-BE49-F238E27FC236}">
                <a16:creationId xmlns:a16="http://schemas.microsoft.com/office/drawing/2014/main" id="{15A290C8-30E0-9B77-DC2B-36BA6F705DD7}"/>
              </a:ext>
            </a:extLst>
          </p:cNvPr>
          <p:cNvCxnSpPr>
            <a:cxnSpLocks/>
            <a:stCxn id="78" idx="2"/>
            <a:endCxn id="133" idx="3"/>
          </p:cNvCxnSpPr>
          <p:nvPr/>
        </p:nvCxnSpPr>
        <p:spPr>
          <a:xfrm rot="16200000" flipH="1">
            <a:off x="7975851" y="1345932"/>
            <a:ext cx="3593447" cy="9982172"/>
          </a:xfrm>
          <a:prstGeom prst="bentConnector4">
            <a:avLst>
              <a:gd name="adj1" fmla="val 6983"/>
              <a:gd name="adj2" fmla="val 10139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Straight Arrow Connector 204">
            <a:extLst>
              <a:ext uri="{FF2B5EF4-FFF2-40B4-BE49-F238E27FC236}">
                <a16:creationId xmlns:a16="http://schemas.microsoft.com/office/drawing/2014/main" id="{E88EF468-2A6E-CB25-EBAF-AE31E54E2B68}"/>
              </a:ext>
            </a:extLst>
          </p:cNvPr>
          <p:cNvCxnSpPr>
            <a:cxnSpLocks/>
            <a:stCxn id="119" idx="3"/>
            <a:endCxn id="123" idx="1"/>
          </p:cNvCxnSpPr>
          <p:nvPr/>
        </p:nvCxnSpPr>
        <p:spPr>
          <a:xfrm>
            <a:off x="10763178" y="7102478"/>
            <a:ext cx="361993" cy="0"/>
          </a:xfrm>
          <a:prstGeom prst="straightConnector1">
            <a:avLst/>
          </a:prstGeom>
          <a:ln w="28575">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8" name="Straight Arrow Connector 165">
            <a:extLst>
              <a:ext uri="{FF2B5EF4-FFF2-40B4-BE49-F238E27FC236}">
                <a16:creationId xmlns:a16="http://schemas.microsoft.com/office/drawing/2014/main" id="{FCDF017E-BA28-DEBC-3844-814E53431027}"/>
              </a:ext>
            </a:extLst>
          </p:cNvPr>
          <p:cNvCxnSpPr>
            <a:cxnSpLocks/>
            <a:stCxn id="100" idx="3"/>
            <a:endCxn id="119" idx="1"/>
          </p:cNvCxnSpPr>
          <p:nvPr/>
        </p:nvCxnSpPr>
        <p:spPr>
          <a:xfrm>
            <a:off x="6875228" y="5930996"/>
            <a:ext cx="420908" cy="1171482"/>
          </a:xfrm>
          <a:prstGeom prst="bentConnector3">
            <a:avLst>
              <a:gd name="adj1" fmla="val 32719"/>
            </a:avLst>
          </a:prstGeom>
          <a:ln w="28575">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2" name="Straight Arrow Connector 165">
            <a:extLst>
              <a:ext uri="{FF2B5EF4-FFF2-40B4-BE49-F238E27FC236}">
                <a16:creationId xmlns:a16="http://schemas.microsoft.com/office/drawing/2014/main" id="{E4CCE270-5B6C-1EA7-3798-FCAE8089E25A}"/>
              </a:ext>
            </a:extLst>
          </p:cNvPr>
          <p:cNvCxnSpPr>
            <a:cxnSpLocks/>
            <a:stCxn id="97" idx="3"/>
            <a:endCxn id="70" idx="0"/>
          </p:cNvCxnSpPr>
          <p:nvPr/>
        </p:nvCxnSpPr>
        <p:spPr>
          <a:xfrm>
            <a:off x="14801837" y="4216505"/>
            <a:ext cx="1559460" cy="449863"/>
          </a:xfrm>
          <a:prstGeom prst="bent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19" name="Straight Arrow Connector 165">
            <a:extLst>
              <a:ext uri="{FF2B5EF4-FFF2-40B4-BE49-F238E27FC236}">
                <a16:creationId xmlns:a16="http://schemas.microsoft.com/office/drawing/2014/main" id="{38BC78F4-4BCA-EE6B-AE02-A29EB5BC74DE}"/>
              </a:ext>
            </a:extLst>
          </p:cNvPr>
          <p:cNvCxnSpPr>
            <a:cxnSpLocks/>
            <a:stCxn id="123" idx="2"/>
            <a:endCxn id="127" idx="0"/>
          </p:cNvCxnSpPr>
          <p:nvPr/>
        </p:nvCxnSpPr>
        <p:spPr>
          <a:xfrm rot="5400000">
            <a:off x="10553005" y="5393881"/>
            <a:ext cx="315616" cy="4467207"/>
          </a:xfrm>
          <a:prstGeom prst="bentConnector3">
            <a:avLst>
              <a:gd name="adj1" fmla="val 50000"/>
            </a:avLst>
          </a:prstGeom>
          <a:ln w="28575">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28" name="Straight Arrow Connector 165">
            <a:extLst>
              <a:ext uri="{FF2B5EF4-FFF2-40B4-BE49-F238E27FC236}">
                <a16:creationId xmlns:a16="http://schemas.microsoft.com/office/drawing/2014/main" id="{A5A4D923-4113-B6BA-177A-D5F95D30D08A}"/>
              </a:ext>
            </a:extLst>
          </p:cNvPr>
          <p:cNvCxnSpPr>
            <a:cxnSpLocks/>
            <a:stCxn id="123" idx="2"/>
            <a:endCxn id="130" idx="0"/>
          </p:cNvCxnSpPr>
          <p:nvPr/>
        </p:nvCxnSpPr>
        <p:spPr>
          <a:xfrm rot="5400000">
            <a:off x="11829350" y="6670226"/>
            <a:ext cx="315616" cy="1914517"/>
          </a:xfrm>
          <a:prstGeom prst="bentConnector3">
            <a:avLst>
              <a:gd name="adj1" fmla="val 50000"/>
            </a:avLst>
          </a:prstGeom>
          <a:ln w="28575">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31" name="Straight Arrow Connector 165">
            <a:extLst>
              <a:ext uri="{FF2B5EF4-FFF2-40B4-BE49-F238E27FC236}">
                <a16:creationId xmlns:a16="http://schemas.microsoft.com/office/drawing/2014/main" id="{D8583D0E-D6A9-E05B-D07A-5090B678DB74}"/>
              </a:ext>
            </a:extLst>
          </p:cNvPr>
          <p:cNvCxnSpPr>
            <a:cxnSpLocks/>
            <a:stCxn id="123" idx="2"/>
            <a:endCxn id="133" idx="0"/>
          </p:cNvCxnSpPr>
          <p:nvPr/>
        </p:nvCxnSpPr>
        <p:spPr>
          <a:xfrm rot="16200000" flipH="1">
            <a:off x="13105694" y="7308398"/>
            <a:ext cx="315616" cy="638172"/>
          </a:xfrm>
          <a:prstGeom prst="bentConnector3">
            <a:avLst>
              <a:gd name="adj1" fmla="val 50000"/>
            </a:avLst>
          </a:prstGeom>
          <a:ln w="28575">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38" name="Text 121">
            <a:extLst>
              <a:ext uri="{FF2B5EF4-FFF2-40B4-BE49-F238E27FC236}">
                <a16:creationId xmlns:a16="http://schemas.microsoft.com/office/drawing/2014/main" id="{98BD54DC-19E6-36CF-1B8C-221DEFEC82C5}"/>
              </a:ext>
            </a:extLst>
          </p:cNvPr>
          <p:cNvSpPr/>
          <p:nvPr/>
        </p:nvSpPr>
        <p:spPr>
          <a:xfrm>
            <a:off x="1507958" y="2610682"/>
            <a:ext cx="1427461" cy="561989"/>
          </a:xfrm>
          <a:prstGeom prst="rect">
            <a:avLst/>
          </a:prstGeom>
          <a:noFill/>
          <a:ln/>
        </p:spPr>
        <p:txBody>
          <a:bodyPr wrap="square" lIns="25400" tIns="25400" rIns="25400" bIns="25400" rtlCol="0" anchor="t">
            <a:normAutofit/>
          </a:bodyPr>
          <a:lstStyle/>
          <a:p>
            <a:pPr marL="0" indent="0" algn="r">
              <a:lnSpc>
                <a:spcPct val="135835"/>
              </a:lnSpc>
              <a:buNone/>
            </a:pPr>
            <a:r>
              <a:rPr lang="en-US" sz="1200" i="1" dirty="0">
                <a:solidFill>
                  <a:srgbClr val="FF0000"/>
                </a:solidFill>
                <a:latin typeface="Arial" pitchFamily="34" charset="0"/>
                <a:ea typeface="Arial" pitchFamily="34" charset="-122"/>
                <a:cs typeface="Arial" pitchFamily="34" charset="-120"/>
              </a:rPr>
              <a:t>Entra ID or </a:t>
            </a:r>
            <a:r>
              <a:rPr lang="en-US" sz="1200" i="1" dirty="0" err="1">
                <a:solidFill>
                  <a:srgbClr val="FF0000"/>
                </a:solidFill>
                <a:latin typeface="Arial" pitchFamily="34" charset="0"/>
                <a:ea typeface="Arial" pitchFamily="34" charset="-122"/>
                <a:cs typeface="Arial" pitchFamily="34" charset="-120"/>
              </a:rPr>
              <a:t>WebSEAL</a:t>
            </a:r>
            <a:r>
              <a:rPr lang="en-US" sz="1200" i="1" dirty="0">
                <a:solidFill>
                  <a:srgbClr val="FF0000"/>
                </a:solidFill>
                <a:latin typeface="Arial" pitchFamily="34" charset="0"/>
                <a:ea typeface="Arial" pitchFamily="34" charset="-122"/>
                <a:cs typeface="Arial" pitchFamily="34" charset="-120"/>
              </a:rPr>
              <a:t> token?</a:t>
            </a:r>
            <a:endParaRPr lang="en-US" sz="1200" dirty="0">
              <a:solidFill>
                <a:srgbClr val="FF0000"/>
              </a:solidFill>
            </a:endParaRPr>
          </a:p>
        </p:txBody>
      </p:sp>
      <p:cxnSp>
        <p:nvCxnSpPr>
          <p:cNvPr id="239" name="Straight Arrow Connector 238">
            <a:extLst>
              <a:ext uri="{FF2B5EF4-FFF2-40B4-BE49-F238E27FC236}">
                <a16:creationId xmlns:a16="http://schemas.microsoft.com/office/drawing/2014/main" id="{5461DA96-9D8D-E38A-6852-3997483092E0}"/>
              </a:ext>
            </a:extLst>
          </p:cNvPr>
          <p:cNvCxnSpPr>
            <a:cxnSpLocks/>
          </p:cNvCxnSpPr>
          <p:nvPr/>
        </p:nvCxnSpPr>
        <p:spPr>
          <a:xfrm>
            <a:off x="2723172" y="9198313"/>
            <a:ext cx="361993" cy="0"/>
          </a:xfrm>
          <a:prstGeom prst="straightConnector1">
            <a:avLst/>
          </a:prstGeom>
          <a:ln w="28575">
            <a:solidFill>
              <a:schemeClr val="tx2">
                <a:lumMod val="60000"/>
                <a:lumOff val="4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7" name="Straight Arrow Connector 246">
            <a:extLst>
              <a:ext uri="{FF2B5EF4-FFF2-40B4-BE49-F238E27FC236}">
                <a16:creationId xmlns:a16="http://schemas.microsoft.com/office/drawing/2014/main" id="{1DC8F82A-9C38-2EC2-253F-F11284215CD0}"/>
              </a:ext>
            </a:extLst>
          </p:cNvPr>
          <p:cNvCxnSpPr>
            <a:cxnSpLocks/>
          </p:cNvCxnSpPr>
          <p:nvPr/>
        </p:nvCxnSpPr>
        <p:spPr>
          <a:xfrm>
            <a:off x="6861470" y="7368812"/>
            <a:ext cx="434666" cy="0"/>
          </a:xfrm>
          <a:prstGeom prst="straightConnector1">
            <a:avLst/>
          </a:prstGeom>
          <a:ln w="28575">
            <a:solidFill>
              <a:schemeClr val="tx2"/>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9" name="Straight Arrow Connector 165">
            <a:extLst>
              <a:ext uri="{FF2B5EF4-FFF2-40B4-BE49-F238E27FC236}">
                <a16:creationId xmlns:a16="http://schemas.microsoft.com/office/drawing/2014/main" id="{557619E5-9669-7E1C-D5A9-D5710F20A9A0}"/>
              </a:ext>
            </a:extLst>
          </p:cNvPr>
          <p:cNvCxnSpPr>
            <a:cxnSpLocks/>
            <a:stCxn id="73" idx="2"/>
            <a:endCxn id="119" idx="0"/>
          </p:cNvCxnSpPr>
          <p:nvPr/>
        </p:nvCxnSpPr>
        <p:spPr>
          <a:xfrm rot="5400000">
            <a:off x="12207944" y="2606206"/>
            <a:ext cx="950787" cy="7307360"/>
          </a:xfrm>
          <a:prstGeom prst="bentConnector3">
            <a:avLst>
              <a:gd name="adj1" fmla="val 88106"/>
            </a:avLst>
          </a:prstGeom>
          <a:ln w="28575">
            <a:solidFill>
              <a:schemeClr val="accent6">
                <a:lumMod val="7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52" name="Text 126">
            <a:extLst>
              <a:ext uri="{FF2B5EF4-FFF2-40B4-BE49-F238E27FC236}">
                <a16:creationId xmlns:a16="http://schemas.microsoft.com/office/drawing/2014/main" id="{537AE08E-02D6-2668-42A5-9AF4366F2E6F}"/>
              </a:ext>
            </a:extLst>
          </p:cNvPr>
          <p:cNvSpPr/>
          <p:nvPr/>
        </p:nvSpPr>
        <p:spPr>
          <a:xfrm>
            <a:off x="16342285" y="5838080"/>
            <a:ext cx="797811" cy="267597"/>
          </a:xfrm>
          <a:prstGeom prst="rect">
            <a:avLst/>
          </a:prstGeom>
          <a:noFill/>
          <a:ln/>
        </p:spPr>
        <p:txBody>
          <a:bodyPr wrap="none" lIns="25400" tIns="25400" rIns="25400" bIns="25400" rtlCol="0" anchor="t">
            <a:normAutofit fontScale="92500" lnSpcReduction="20000"/>
          </a:bodyPr>
          <a:lstStyle/>
          <a:p>
            <a:pPr marL="0" indent="0" algn="ctr">
              <a:lnSpc>
                <a:spcPct val="135835"/>
              </a:lnSpc>
              <a:buNone/>
            </a:pPr>
            <a:r>
              <a:rPr lang="en-US" sz="1400" i="1" dirty="0">
                <a:solidFill>
                  <a:srgbClr val="5D5D60"/>
                </a:solidFill>
                <a:latin typeface="Arial" pitchFamily="34" charset="0"/>
                <a:ea typeface="Arial" pitchFamily="34" charset="-122"/>
                <a:cs typeface="Arial" pitchFamily="34" charset="-120"/>
              </a:rPr>
              <a:t>Index</a:t>
            </a:r>
            <a:endParaRPr lang="en-US" sz="1400" dirty="0"/>
          </a:p>
        </p:txBody>
      </p:sp>
      <p:sp>
        <p:nvSpPr>
          <p:cNvPr id="254" name="Shape 134">
            <a:extLst>
              <a:ext uri="{FF2B5EF4-FFF2-40B4-BE49-F238E27FC236}">
                <a16:creationId xmlns:a16="http://schemas.microsoft.com/office/drawing/2014/main" id="{A598B6D5-53FB-72F8-92A3-A6AA0800526F}"/>
              </a:ext>
            </a:extLst>
          </p:cNvPr>
          <p:cNvSpPr/>
          <p:nvPr/>
        </p:nvSpPr>
        <p:spPr>
          <a:xfrm>
            <a:off x="16498327" y="6150004"/>
            <a:ext cx="285715" cy="285715"/>
          </a:xfrm>
          <a:prstGeom prst="rect">
            <a:avLst/>
          </a:prstGeom>
          <a:solidFill>
            <a:srgbClr val="C8651B"/>
          </a:solidFill>
          <a:ln/>
        </p:spPr>
        <p:txBody>
          <a:bodyPr/>
          <a:lstStyle/>
          <a:p>
            <a:endParaRPr lang="en-US" sz="1600"/>
          </a:p>
        </p:txBody>
      </p:sp>
      <p:sp>
        <p:nvSpPr>
          <p:cNvPr id="255" name="Text 135">
            <a:extLst>
              <a:ext uri="{FF2B5EF4-FFF2-40B4-BE49-F238E27FC236}">
                <a16:creationId xmlns:a16="http://schemas.microsoft.com/office/drawing/2014/main" id="{1EDAE6A2-0281-AD60-F784-F32B826E7A67}"/>
              </a:ext>
            </a:extLst>
          </p:cNvPr>
          <p:cNvSpPr/>
          <p:nvPr/>
        </p:nvSpPr>
        <p:spPr>
          <a:xfrm>
            <a:off x="16460227" y="6150004"/>
            <a:ext cx="361915" cy="323815"/>
          </a:xfrm>
          <a:prstGeom prst="rect">
            <a:avLst/>
          </a:prstGeom>
          <a:solidFill>
            <a:schemeClr val="accent6">
              <a:lumMod val="75000"/>
            </a:schemeClr>
          </a:solidFill>
          <a:ln/>
        </p:spPr>
        <p:txBody>
          <a:bodyPr wrap="square" lIns="25400" tIns="25400" rIns="25400" bIns="25400" rtlCol="0" anchor="ctr">
            <a:normAutofit/>
          </a:bodyPr>
          <a:lstStyle/>
          <a:p>
            <a:pPr marL="0" indent="0" algn="ctr">
              <a:lnSpc>
                <a:spcPct val="132062"/>
              </a:lnSpc>
              <a:buNone/>
            </a:pPr>
            <a:r>
              <a:rPr lang="en-US" sz="1400" b="1" dirty="0">
                <a:solidFill>
                  <a:srgbClr val="F2F2F3"/>
                </a:solidFill>
                <a:latin typeface="Arial" pitchFamily="34" charset="0"/>
                <a:cs typeface="Arial" pitchFamily="34" charset="-120"/>
              </a:rPr>
              <a:t>3</a:t>
            </a:r>
            <a:endParaRPr lang="en-US" sz="1400" dirty="0"/>
          </a:p>
        </p:txBody>
      </p:sp>
      <p:sp>
        <p:nvSpPr>
          <p:cNvPr id="256" name="Shape 134">
            <a:extLst>
              <a:ext uri="{FF2B5EF4-FFF2-40B4-BE49-F238E27FC236}">
                <a16:creationId xmlns:a16="http://schemas.microsoft.com/office/drawing/2014/main" id="{04395B25-9046-CBD0-3C8D-596513AE3844}"/>
              </a:ext>
            </a:extLst>
          </p:cNvPr>
          <p:cNvSpPr/>
          <p:nvPr/>
        </p:nvSpPr>
        <p:spPr>
          <a:xfrm>
            <a:off x="12150087" y="7719137"/>
            <a:ext cx="285715" cy="285715"/>
          </a:xfrm>
          <a:prstGeom prst="rect">
            <a:avLst/>
          </a:prstGeom>
          <a:solidFill>
            <a:srgbClr val="C8651B"/>
          </a:solidFill>
          <a:ln/>
        </p:spPr>
        <p:txBody>
          <a:bodyPr/>
          <a:lstStyle/>
          <a:p>
            <a:endParaRPr lang="en-US" sz="1600"/>
          </a:p>
        </p:txBody>
      </p:sp>
      <p:sp>
        <p:nvSpPr>
          <p:cNvPr id="257" name="Text 135">
            <a:extLst>
              <a:ext uri="{FF2B5EF4-FFF2-40B4-BE49-F238E27FC236}">
                <a16:creationId xmlns:a16="http://schemas.microsoft.com/office/drawing/2014/main" id="{69A6A04A-CF60-EABF-AFF8-EE7DA628C3AE}"/>
              </a:ext>
            </a:extLst>
          </p:cNvPr>
          <p:cNvSpPr/>
          <p:nvPr/>
        </p:nvSpPr>
        <p:spPr>
          <a:xfrm>
            <a:off x="12111987" y="7719137"/>
            <a:ext cx="329347" cy="272805"/>
          </a:xfrm>
          <a:prstGeom prst="rect">
            <a:avLst/>
          </a:prstGeom>
          <a:noFill/>
          <a:ln/>
        </p:spPr>
        <p:txBody>
          <a:bodyPr wrap="square" lIns="25400" tIns="25400" rIns="25400" bIns="25400" rtlCol="0" anchor="ctr">
            <a:normAutofit fontScale="92500" lnSpcReduction="20000"/>
          </a:bodyPr>
          <a:lstStyle/>
          <a:p>
            <a:pPr marL="0" indent="0" algn="ctr">
              <a:lnSpc>
                <a:spcPct val="132062"/>
              </a:lnSpc>
              <a:buNone/>
            </a:pPr>
            <a:r>
              <a:rPr lang="en-US" sz="1400" b="1" dirty="0">
                <a:solidFill>
                  <a:srgbClr val="F2F2F3"/>
                </a:solidFill>
                <a:latin typeface="Arial" pitchFamily="34" charset="0"/>
                <a:cs typeface="Arial" pitchFamily="34" charset="-120"/>
              </a:rPr>
              <a:t>5</a:t>
            </a:r>
            <a:endParaRPr lang="en-US" sz="1400" dirty="0"/>
          </a:p>
        </p:txBody>
      </p:sp>
      <p:sp>
        <p:nvSpPr>
          <p:cNvPr id="10" name="Text 108">
            <a:extLst>
              <a:ext uri="{FF2B5EF4-FFF2-40B4-BE49-F238E27FC236}">
                <a16:creationId xmlns:a16="http://schemas.microsoft.com/office/drawing/2014/main" id="{E81B4F73-0F7C-1570-B445-FCC4DB5D9CF2}"/>
              </a:ext>
            </a:extLst>
          </p:cNvPr>
          <p:cNvSpPr/>
          <p:nvPr/>
        </p:nvSpPr>
        <p:spPr>
          <a:xfrm>
            <a:off x="4013477" y="8177943"/>
            <a:ext cx="2715360" cy="323269"/>
          </a:xfrm>
          <a:prstGeom prst="rect">
            <a:avLst/>
          </a:prstGeom>
          <a:noFill/>
          <a:ln/>
        </p:spPr>
        <p:txBody>
          <a:bodyPr wrap="square" lIns="25400" tIns="25400" rIns="25400" bIns="25400" rtlCol="0" anchor="t">
            <a:normAutofit/>
          </a:bodyPr>
          <a:lstStyle/>
          <a:p>
            <a:pPr marL="0" indent="0" algn="l">
              <a:lnSpc>
                <a:spcPct val="133608"/>
              </a:lnSpc>
              <a:buNone/>
            </a:pPr>
            <a:r>
              <a:rPr lang="en-US" sz="1400" dirty="0">
                <a:solidFill>
                  <a:srgbClr val="2F7A52"/>
                </a:solidFill>
                <a:latin typeface="Arial" pitchFamily="34" charset="0"/>
                <a:ea typeface="Arial" pitchFamily="34" charset="-122"/>
                <a:cs typeface="Arial" pitchFamily="34" charset="-120"/>
              </a:rPr>
              <a:t>Hot → Cool → Cold → Archive</a:t>
            </a:r>
            <a:endParaRPr lang="en-US" sz="1400" dirty="0"/>
          </a:p>
        </p:txBody>
      </p:sp>
      <p:grpSp>
        <p:nvGrpSpPr>
          <p:cNvPr id="12" name="Group 11">
            <a:extLst>
              <a:ext uri="{FF2B5EF4-FFF2-40B4-BE49-F238E27FC236}">
                <a16:creationId xmlns:a16="http://schemas.microsoft.com/office/drawing/2014/main" id="{4BEC77D3-7814-59FA-68E0-929A6098DB6B}"/>
              </a:ext>
            </a:extLst>
          </p:cNvPr>
          <p:cNvGrpSpPr/>
          <p:nvPr/>
        </p:nvGrpSpPr>
        <p:grpSpPr>
          <a:xfrm>
            <a:off x="16126040" y="2255213"/>
            <a:ext cx="1781210" cy="1104888"/>
            <a:chOff x="15335228" y="4886236"/>
            <a:chExt cx="1781210" cy="1104888"/>
          </a:xfrm>
          <a:solidFill>
            <a:schemeClr val="accent6">
              <a:lumMod val="20000"/>
              <a:lumOff val="80000"/>
            </a:schemeClr>
          </a:solidFill>
        </p:grpSpPr>
        <p:sp>
          <p:nvSpPr>
            <p:cNvPr id="13" name="Shape 64">
              <a:extLst>
                <a:ext uri="{FF2B5EF4-FFF2-40B4-BE49-F238E27FC236}">
                  <a16:creationId xmlns:a16="http://schemas.microsoft.com/office/drawing/2014/main" id="{567E3488-0345-B7BC-004A-49EA270A650F}"/>
                </a:ext>
              </a:extLst>
            </p:cNvPr>
            <p:cNvSpPr/>
            <p:nvPr/>
          </p:nvSpPr>
          <p:spPr>
            <a:xfrm>
              <a:off x="15335228" y="4886236"/>
              <a:ext cx="1781210" cy="1104888"/>
            </a:xfrm>
            <a:prstGeom prst="rect">
              <a:avLst/>
            </a:prstGeom>
            <a:grpFill/>
            <a:ln w="13043">
              <a:solidFill>
                <a:srgbClr val="416180"/>
              </a:solidFill>
              <a:prstDash val="solid"/>
            </a:ln>
          </p:spPr>
          <p:txBody>
            <a:bodyPr/>
            <a:lstStyle/>
            <a:p>
              <a:endParaRPr lang="en-US" sz="1400"/>
            </a:p>
          </p:txBody>
        </p:sp>
        <p:pic>
          <p:nvPicPr>
            <p:cNvPr id="14" name="Image 4" descr="preencoded.png">
              <a:extLst>
                <a:ext uri="{FF2B5EF4-FFF2-40B4-BE49-F238E27FC236}">
                  <a16:creationId xmlns:a16="http://schemas.microsoft.com/office/drawing/2014/main" id="{872092A5-088B-64BE-4E2A-CC5EAE79AECC}"/>
                </a:ext>
              </a:extLst>
            </p:cNvPr>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15500638" y="4939561"/>
              <a:ext cx="180967" cy="180967"/>
            </a:xfrm>
            <a:prstGeom prst="rect">
              <a:avLst/>
            </a:prstGeom>
          </p:spPr>
        </p:pic>
        <p:sp>
          <p:nvSpPr>
            <p:cNvPr id="15" name="Text 65">
              <a:extLst>
                <a:ext uri="{FF2B5EF4-FFF2-40B4-BE49-F238E27FC236}">
                  <a16:creationId xmlns:a16="http://schemas.microsoft.com/office/drawing/2014/main" id="{D9AC762F-C50F-D5CA-8CEF-FBAABA587923}"/>
                </a:ext>
              </a:extLst>
            </p:cNvPr>
            <p:cNvSpPr/>
            <p:nvPr/>
          </p:nvSpPr>
          <p:spPr>
            <a:xfrm>
              <a:off x="15757754" y="4911030"/>
              <a:ext cx="1311046" cy="582902"/>
            </a:xfrm>
            <a:prstGeom prst="rect">
              <a:avLst/>
            </a:prstGeom>
            <a:grpFill/>
            <a:ln/>
          </p:spPr>
          <p:txBody>
            <a:bodyPr wrap="square" lIns="25400" tIns="25400" rIns="25400" bIns="25400" rtlCol="0" anchor="t">
              <a:normAutofit/>
            </a:bodyPr>
            <a:lstStyle/>
            <a:p>
              <a:pPr marL="0" indent="0" algn="l">
                <a:lnSpc>
                  <a:spcPct val="94939"/>
                </a:lnSpc>
                <a:buNone/>
              </a:pPr>
              <a:r>
                <a:rPr lang="en-US" sz="1600" b="1" dirty="0">
                  <a:solidFill>
                    <a:schemeClr val="accent6">
                      <a:lumMod val="75000"/>
                    </a:schemeClr>
                  </a:solidFill>
                  <a:latin typeface="Arial" pitchFamily="34" charset="0"/>
                  <a:ea typeface="Arial" pitchFamily="34" charset="-122"/>
                  <a:cs typeface="Arial" pitchFamily="34" charset="-120"/>
                </a:rPr>
                <a:t>Microsoft</a:t>
              </a:r>
              <a:br>
                <a:rPr lang="en-US" sz="1600" b="1" dirty="0">
                  <a:solidFill>
                    <a:schemeClr val="accent6">
                      <a:lumMod val="75000"/>
                    </a:schemeClr>
                  </a:solidFill>
                  <a:latin typeface="Arial" pitchFamily="34" charset="0"/>
                  <a:ea typeface="Arial" pitchFamily="34" charset="-122"/>
                  <a:cs typeface="Arial" pitchFamily="34" charset="-120"/>
                </a:rPr>
              </a:br>
              <a:r>
                <a:rPr lang="en-US" sz="1600" b="1" dirty="0">
                  <a:solidFill>
                    <a:schemeClr val="accent6">
                      <a:lumMod val="75000"/>
                    </a:schemeClr>
                  </a:solidFill>
                  <a:latin typeface="Arial" pitchFamily="34" charset="0"/>
                  <a:ea typeface="Arial" pitchFamily="34" charset="-122"/>
                  <a:cs typeface="Arial" pitchFamily="34" charset="-120"/>
                </a:rPr>
                <a:t>Teams</a:t>
              </a:r>
              <a:endParaRPr lang="en-US" sz="1600" dirty="0">
                <a:solidFill>
                  <a:schemeClr val="accent6">
                    <a:lumMod val="75000"/>
                  </a:schemeClr>
                </a:solidFill>
              </a:endParaRPr>
            </a:p>
          </p:txBody>
        </p:sp>
        <p:sp>
          <p:nvSpPr>
            <p:cNvPr id="16" name="Text 66">
              <a:extLst>
                <a:ext uri="{FF2B5EF4-FFF2-40B4-BE49-F238E27FC236}">
                  <a16:creationId xmlns:a16="http://schemas.microsoft.com/office/drawing/2014/main" id="{D41F9E51-401B-4357-0090-094618D3A404}"/>
                </a:ext>
              </a:extLst>
            </p:cNvPr>
            <p:cNvSpPr/>
            <p:nvPr/>
          </p:nvSpPr>
          <p:spPr>
            <a:xfrm>
              <a:off x="15500638" y="5432604"/>
              <a:ext cx="1510632" cy="519998"/>
            </a:xfrm>
            <a:prstGeom prst="rect">
              <a:avLst/>
            </a:prstGeom>
            <a:grpFill/>
            <a:ln/>
          </p:spPr>
          <p:txBody>
            <a:bodyPr wrap="square" lIns="25400" tIns="25400" rIns="25400" bIns="25400" rtlCol="0" anchor="t">
              <a:noAutofit/>
            </a:bodyPr>
            <a:lstStyle/>
            <a:p>
              <a:pPr marL="0" indent="0" algn="l">
                <a:lnSpc>
                  <a:spcPct val="98981"/>
                </a:lnSpc>
                <a:buNone/>
              </a:pPr>
              <a:r>
                <a:rPr lang="en-US" sz="1400" dirty="0">
                  <a:solidFill>
                    <a:srgbClr val="5D5D60"/>
                  </a:solidFill>
                  <a:latin typeface="Arial" pitchFamily="34" charset="0"/>
                  <a:ea typeface="Arial" pitchFamily="34" charset="-122"/>
                  <a:cs typeface="Arial" pitchFamily="34" charset="-120"/>
                </a:rPr>
                <a:t>Teams, channels, shared files</a:t>
              </a:r>
              <a:endParaRPr lang="en-US" sz="1400" dirty="0"/>
            </a:p>
          </p:txBody>
        </p:sp>
      </p:grpSp>
      <p:cxnSp>
        <p:nvCxnSpPr>
          <p:cNvPr id="17" name="Straight Arrow Connector 165">
            <a:extLst>
              <a:ext uri="{FF2B5EF4-FFF2-40B4-BE49-F238E27FC236}">
                <a16:creationId xmlns:a16="http://schemas.microsoft.com/office/drawing/2014/main" id="{7BBA38B1-49C5-F1CB-41C1-21EE4CF43101}"/>
              </a:ext>
            </a:extLst>
          </p:cNvPr>
          <p:cNvCxnSpPr>
            <a:cxnSpLocks/>
            <a:stCxn id="88" idx="3"/>
            <a:endCxn id="13" idx="1"/>
          </p:cNvCxnSpPr>
          <p:nvPr/>
        </p:nvCxnSpPr>
        <p:spPr>
          <a:xfrm>
            <a:off x="14801837" y="2530540"/>
            <a:ext cx="1324203" cy="277117"/>
          </a:xfrm>
          <a:prstGeom prst="bentConnector3">
            <a:avLst>
              <a:gd name="adj1" fmla="val 50000"/>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65">
            <a:extLst>
              <a:ext uri="{FF2B5EF4-FFF2-40B4-BE49-F238E27FC236}">
                <a16:creationId xmlns:a16="http://schemas.microsoft.com/office/drawing/2014/main" id="{D9695D02-138B-03A1-CEB4-4846701B811A}"/>
              </a:ext>
            </a:extLst>
          </p:cNvPr>
          <p:cNvCxnSpPr>
            <a:cxnSpLocks/>
            <a:stCxn id="91" idx="3"/>
            <a:endCxn id="13" idx="1"/>
          </p:cNvCxnSpPr>
          <p:nvPr/>
        </p:nvCxnSpPr>
        <p:spPr>
          <a:xfrm flipV="1">
            <a:off x="14801837" y="2807657"/>
            <a:ext cx="1324203" cy="284871"/>
          </a:xfrm>
          <a:prstGeom prst="bentConnector3">
            <a:avLst>
              <a:gd name="adj1" fmla="val 50000"/>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 126">
            <a:extLst>
              <a:ext uri="{FF2B5EF4-FFF2-40B4-BE49-F238E27FC236}">
                <a16:creationId xmlns:a16="http://schemas.microsoft.com/office/drawing/2014/main" id="{8A3D49C2-FD68-2741-F660-03DAE62C65EF}"/>
              </a:ext>
            </a:extLst>
          </p:cNvPr>
          <p:cNvSpPr/>
          <p:nvPr/>
        </p:nvSpPr>
        <p:spPr>
          <a:xfrm>
            <a:off x="15179189" y="1909781"/>
            <a:ext cx="900449" cy="590425"/>
          </a:xfrm>
          <a:prstGeom prst="rect">
            <a:avLst/>
          </a:prstGeom>
          <a:noFill/>
          <a:ln/>
        </p:spPr>
        <p:txBody>
          <a:bodyPr wrap="none" lIns="25400" tIns="25400" rIns="25400" bIns="25400" rtlCol="0" anchor="t">
            <a:normAutofit lnSpcReduction="10000"/>
          </a:bodyPr>
          <a:lstStyle/>
          <a:p>
            <a:pPr marL="0" indent="0" algn="ctr">
              <a:lnSpc>
                <a:spcPct val="135835"/>
              </a:lnSpc>
              <a:buNone/>
            </a:pPr>
            <a:r>
              <a:rPr lang="en-US" sz="1400" i="1" dirty="0">
                <a:solidFill>
                  <a:srgbClr val="5D5D60"/>
                </a:solidFill>
                <a:latin typeface="Arial" pitchFamily="34" charset="0"/>
                <a:ea typeface="Arial" pitchFamily="34" charset="-122"/>
                <a:cs typeface="Arial" pitchFamily="34" charset="-120"/>
              </a:rPr>
              <a:t>MS Graph</a:t>
            </a:r>
          </a:p>
          <a:p>
            <a:pPr marL="0" indent="0" algn="ctr">
              <a:lnSpc>
                <a:spcPct val="135835"/>
              </a:lnSpc>
              <a:buNone/>
            </a:pPr>
            <a:r>
              <a:rPr lang="en-US" sz="1400" i="1" dirty="0">
                <a:solidFill>
                  <a:srgbClr val="5D5D60"/>
                </a:solidFill>
                <a:latin typeface="Arial" pitchFamily="34" charset="0"/>
                <a:ea typeface="Arial" pitchFamily="34" charset="-122"/>
                <a:cs typeface="Arial" pitchFamily="34" charset="-120"/>
              </a:rPr>
              <a:t>API</a:t>
            </a:r>
            <a:endParaRPr lang="en-US" sz="1400" dirty="0"/>
          </a:p>
        </p:txBody>
      </p:sp>
      <p:sp>
        <p:nvSpPr>
          <p:cNvPr id="32" name="Shape 144">
            <a:extLst>
              <a:ext uri="{FF2B5EF4-FFF2-40B4-BE49-F238E27FC236}">
                <a16:creationId xmlns:a16="http://schemas.microsoft.com/office/drawing/2014/main" id="{63979616-6699-7880-F65E-9A8E60780B3C}"/>
              </a:ext>
            </a:extLst>
          </p:cNvPr>
          <p:cNvSpPr/>
          <p:nvPr/>
        </p:nvSpPr>
        <p:spPr>
          <a:xfrm>
            <a:off x="7481854" y="9111194"/>
            <a:ext cx="209497" cy="209497"/>
          </a:xfrm>
          <a:prstGeom prst="rect">
            <a:avLst/>
          </a:prstGeom>
          <a:solidFill>
            <a:schemeClr val="accent6">
              <a:lumMod val="75000"/>
            </a:schemeClr>
          </a:solidFill>
          <a:ln/>
        </p:spPr>
        <p:txBody>
          <a:bodyPr/>
          <a:lstStyle/>
          <a:p>
            <a:endParaRPr lang="en-US" sz="1600"/>
          </a:p>
        </p:txBody>
      </p:sp>
      <p:sp>
        <p:nvSpPr>
          <p:cNvPr id="33" name="Text 145">
            <a:extLst>
              <a:ext uri="{FF2B5EF4-FFF2-40B4-BE49-F238E27FC236}">
                <a16:creationId xmlns:a16="http://schemas.microsoft.com/office/drawing/2014/main" id="{3C72B4B5-32A6-9BB4-B794-6E1D46D339B8}"/>
              </a:ext>
            </a:extLst>
          </p:cNvPr>
          <p:cNvSpPr/>
          <p:nvPr/>
        </p:nvSpPr>
        <p:spPr>
          <a:xfrm>
            <a:off x="7731171" y="9105963"/>
            <a:ext cx="1646158" cy="258127"/>
          </a:xfrm>
          <a:prstGeom prst="rect">
            <a:avLst/>
          </a:prstGeom>
          <a:noFill/>
          <a:ln/>
        </p:spPr>
        <p:txBody>
          <a:bodyPr wrap="none" lIns="25400" tIns="25400" rIns="25400" bIns="25400" rtlCol="0" anchor="t">
            <a:normAutofit lnSpcReduction="10000"/>
          </a:bodyPr>
          <a:lstStyle/>
          <a:p>
            <a:pPr marL="0" indent="0" algn="l">
              <a:lnSpc>
                <a:spcPct val="93721"/>
              </a:lnSpc>
              <a:buNone/>
            </a:pPr>
            <a:r>
              <a:rPr lang="en-US" sz="1575" dirty="0">
                <a:solidFill>
                  <a:srgbClr val="5D5D60"/>
                </a:solidFill>
                <a:latin typeface="Arial" pitchFamily="34" charset="0"/>
                <a:ea typeface="Arial" pitchFamily="34" charset="-122"/>
                <a:cs typeface="Arial" pitchFamily="34" charset="-120"/>
              </a:rPr>
              <a:t>Target state</a:t>
            </a:r>
            <a:endParaRPr lang="en-US" sz="1575" dirty="0"/>
          </a:p>
        </p:txBody>
      </p:sp>
      <p:sp>
        <p:nvSpPr>
          <p:cNvPr id="34" name="Shape 74">
            <a:extLst>
              <a:ext uri="{FF2B5EF4-FFF2-40B4-BE49-F238E27FC236}">
                <a16:creationId xmlns:a16="http://schemas.microsoft.com/office/drawing/2014/main" id="{44402497-1A4F-60AE-9184-A00DDDBF85D1}"/>
              </a:ext>
            </a:extLst>
          </p:cNvPr>
          <p:cNvSpPr/>
          <p:nvPr/>
        </p:nvSpPr>
        <p:spPr>
          <a:xfrm>
            <a:off x="6438854" y="3260585"/>
            <a:ext cx="1809735" cy="1279709"/>
          </a:xfrm>
          <a:prstGeom prst="rect">
            <a:avLst/>
          </a:prstGeom>
          <a:solidFill>
            <a:schemeClr val="bg1">
              <a:lumMod val="95000"/>
            </a:schemeClr>
          </a:solidFill>
          <a:ln w="13043">
            <a:solidFill>
              <a:srgbClr val="416180"/>
            </a:solidFill>
            <a:prstDash val="solid"/>
          </a:ln>
        </p:spPr>
        <p:txBody>
          <a:bodyPr/>
          <a:lstStyle/>
          <a:p>
            <a:endParaRPr lang="en-US" sz="1600"/>
          </a:p>
        </p:txBody>
      </p:sp>
      <p:pic>
        <p:nvPicPr>
          <p:cNvPr id="35" name="Image 7" descr="preencoded.png">
            <a:extLst>
              <a:ext uri="{FF2B5EF4-FFF2-40B4-BE49-F238E27FC236}">
                <a16:creationId xmlns:a16="http://schemas.microsoft.com/office/drawing/2014/main" id="{476ACAEA-6DCC-C194-F275-2771901BE750}"/>
              </a:ext>
            </a:extLst>
          </p:cNvPr>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6585244" y="3574828"/>
            <a:ext cx="180967" cy="180967"/>
          </a:xfrm>
          <a:prstGeom prst="rect">
            <a:avLst/>
          </a:prstGeom>
        </p:spPr>
      </p:pic>
      <p:sp>
        <p:nvSpPr>
          <p:cNvPr id="36" name="Text 75">
            <a:extLst>
              <a:ext uri="{FF2B5EF4-FFF2-40B4-BE49-F238E27FC236}">
                <a16:creationId xmlns:a16="http://schemas.microsoft.com/office/drawing/2014/main" id="{9FA9E49A-F74D-DE56-DB6E-2E15764344A0}"/>
              </a:ext>
            </a:extLst>
          </p:cNvPr>
          <p:cNvSpPr/>
          <p:nvPr/>
        </p:nvSpPr>
        <p:spPr>
          <a:xfrm>
            <a:off x="6842361" y="3529110"/>
            <a:ext cx="869152" cy="310501"/>
          </a:xfrm>
          <a:prstGeom prst="rect">
            <a:avLst/>
          </a:prstGeom>
          <a:noFill/>
          <a:ln/>
        </p:spPr>
        <p:txBody>
          <a:bodyPr wrap="none" lIns="25400" tIns="25400" rIns="25400" bIns="25400" rtlCol="0" anchor="t">
            <a:noAutofit/>
          </a:bodyPr>
          <a:lstStyle/>
          <a:p>
            <a:pPr marL="0" indent="0" algn="l">
              <a:lnSpc>
                <a:spcPct val="94939"/>
              </a:lnSpc>
              <a:buNone/>
            </a:pPr>
            <a:r>
              <a:rPr lang="en-US" b="1" dirty="0">
                <a:solidFill>
                  <a:srgbClr val="1D2D3D"/>
                </a:solidFill>
                <a:latin typeface="Arial" pitchFamily="34" charset="0"/>
                <a:ea typeface="Arial" pitchFamily="34" charset="-122"/>
                <a:cs typeface="Arial" pitchFamily="34" charset="-120"/>
              </a:rPr>
              <a:t>MongoDB</a:t>
            </a:r>
            <a:endParaRPr lang="en-US" dirty="0"/>
          </a:p>
        </p:txBody>
      </p:sp>
      <p:sp>
        <p:nvSpPr>
          <p:cNvPr id="37" name="Text 76">
            <a:extLst>
              <a:ext uri="{FF2B5EF4-FFF2-40B4-BE49-F238E27FC236}">
                <a16:creationId xmlns:a16="http://schemas.microsoft.com/office/drawing/2014/main" id="{A8FD7450-EC0E-178F-BD05-C0CE5030C31D}"/>
              </a:ext>
            </a:extLst>
          </p:cNvPr>
          <p:cNvSpPr/>
          <p:nvPr/>
        </p:nvSpPr>
        <p:spPr>
          <a:xfrm>
            <a:off x="6585244" y="3877661"/>
            <a:ext cx="1593154" cy="519998"/>
          </a:xfrm>
          <a:prstGeom prst="rect">
            <a:avLst/>
          </a:prstGeom>
          <a:noFill/>
          <a:ln/>
        </p:spPr>
        <p:txBody>
          <a:bodyPr wrap="square" lIns="25400" tIns="25400" rIns="25400" bIns="25400" rtlCol="0" anchor="t">
            <a:noAutofit/>
          </a:bodyPr>
          <a:lstStyle/>
          <a:p>
            <a:pPr marL="0" indent="0" algn="l">
              <a:lnSpc>
                <a:spcPct val="98981"/>
              </a:lnSpc>
              <a:buNone/>
            </a:pPr>
            <a:r>
              <a:rPr lang="en-US" sz="1600" dirty="0">
                <a:solidFill>
                  <a:srgbClr val="5D5D60"/>
                </a:solidFill>
                <a:latin typeface="Arial" pitchFamily="34" charset="0"/>
                <a:ea typeface="Arial" pitchFamily="34" charset="-122"/>
                <a:cs typeface="Arial" pitchFamily="34" charset="-120"/>
              </a:rPr>
              <a:t>Sessions — never purged</a:t>
            </a:r>
            <a:endParaRPr lang="en-US" sz="1600" dirty="0"/>
          </a:p>
        </p:txBody>
      </p:sp>
    </p:spTree>
    <p:extLst>
      <p:ext uri="{BB962C8B-B14F-4D97-AF65-F5344CB8AC3E}">
        <p14:creationId xmlns:p14="http://schemas.microsoft.com/office/powerpoint/2010/main" val="22408627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270</TotalTime>
  <Words>2794</Words>
  <Application>Microsoft Macintosh PowerPoint</Application>
  <PresentationFormat>Custom</PresentationFormat>
  <Paragraphs>492</Paragraphs>
  <Slides>13</Slides>
  <Notes>13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13</vt:i4>
      </vt:variant>
    </vt:vector>
  </HeadingPairs>
  <TitlesOfParts>
    <vt:vector size="15"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Ashley Mathew</cp:lastModifiedBy>
  <cp:revision>64</cp:revision>
  <dcterms:created xsi:type="dcterms:W3CDTF">2026-08-23T20:57:44Z</dcterms:created>
  <dcterms:modified xsi:type="dcterms:W3CDTF">2026-08-24T02:44:37Z</dcterms:modified>
</cp:coreProperties>
</file>